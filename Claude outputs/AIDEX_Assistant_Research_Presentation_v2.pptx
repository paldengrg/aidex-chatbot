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8c362b-90be-d4c7-1d8a-3410e9f42074}">
          <p14:sldIdLst>
            <p14:sldId id="256"/>
          </p14:sldIdLst>
        </p14:section>
        <p14:section name="Problem" id="{b951e704-cd3c-8b9e-0419-d36f04e25dd8}">
          <p14:sldIdLst>
            <p14:sldId id="257"/>
            <p14:sldId id="258"/>
            <p14:sldId id="259"/>
            <p14:sldId id="260"/>
          </p14:sldIdLst>
        </p14:section>
        <p14:section name="Contribution" id="{4fd57d52-7233-0502-e099-b9012eed221f}">
          <p14:sldIdLst>
            <p14:sldId id="261"/>
            <p14:sldId id="262"/>
            <p14:sldId id="263"/>
          </p14:sldIdLst>
        </p14:section>
        <p14:section name="Implementation" id="{7ae8deb0-cf8c-6c3b-14a1-f05fdcee9490}">
          <p14:sldIdLst>
            <p14:sldId id="264"/>
            <p14:sldId id="265"/>
            <p14:sldId id="266"/>
            <p14:sldId id="267"/>
          </p14:sldIdLst>
        </p14:section>
        <p14:section name="Evaluation" id="{a18b33b9-bb30-d22c-5e7f-9f03d0aac776}">
          <p14:sldIdLst>
            <p14:sldId id="268"/>
          </p14:sldIdLst>
        </p14:section>
        <p14:section name="Future work" id="{6a342057-50ac-64a5-54dd-457715d3a440}">
          <p14:sldIdLst>
            <p14:sldId id="269"/>
          </p14:sldIdLst>
        </p14:section>
        <p14:section name="Close" id="{00e8a544-bd04-dc36-145b-b80c29e744b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How often each memory type was reused</a:t>
            </a:r>
          </a:p>
        </c:rich>
      </c:tx>
      <c:layout/>
      <c:overlay val="0"/>
    </c:title>
    <c:autoTitleDeleted val="0"/>
    <c:plotArea>
      <c:layout/>
      <c:barChart>
        <c:barDir val="bar"/>
        <c:grouping val="clustered"/>
        <c:varyColors val="0"/>
        <c:ser>
          <c:idx val="0"/>
          <c:order val="0"/>
          <c:tx>
            <c:strRef>
              <c:f>Sheet1!$B$1</c:f>
              <c:strCache>
                <c:ptCount val="1"/>
                <c:pt idx="0">
                  <c:v>Relative reuse</c:v>
                </c:pt>
              </c:strCache>
            </c:strRef>
          </c:tx>
          <c:spPr>
            <a:solidFill>
              <a:srgbClr val="0040B8"/>
            </a:solidFill>
            <a:effectLst/>
          </c:spPr>
          <c:invertIfNegative val="0"/>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dPt>
            <c:idx val="0"/>
            <c:invertIfNegative val="0"/>
            <c:bubble3D val="0"/>
            <c:spPr>
              <a:solidFill>
                <a:srgbClr val="0040B8"/>
              </a:solidFill>
              <a:effectLst/>
            </c:spPr>
          </c:dPt>
          <c:dPt>
            <c:idx val="1"/>
            <c:invertIfNegative val="0"/>
            <c:bubble3D val="0"/>
            <c:spPr>
              <a:solidFill>
                <a:srgbClr val="8FA3C0"/>
              </a:solidFill>
              <a:effectLst/>
            </c:spPr>
          </c:dPt>
          <c:cat>
            <c:multiLvlStrRef>
              <c:f>Sheet1!$A$2:$A$3</c:f>
              <c:multiLvlStrCache>
                <c:ptCount val="2"/>
                <c:lvl>
                  <c:pt idx="0">
                    <c:v>Intent calibration
(how a person likes help)</c:v>
                  </c:pt>
                  <c:pt idx="1">
                    <c:v>Domain knowledge
(facts)</c:v>
                  </c:pt>
                </c:lvl>
              </c:multiLvlStrCache>
            </c:multiLvlStrRef>
          </c:cat>
          <c:val>
            <c:numRef>
              <c:f>Sheet1!$B$2:$B$3</c:f>
              <c:numCache>
                <c:formatCode>General</c:formatCode>
                <c:ptCount val="2"/>
                <c:pt idx="0">
                  <c:v>3.4</c:v>
                </c:pt>
                <c:pt idx="1">
                  <c:v>1</c:v>
                </c:pt>
              </c:numCache>
            </c:numRef>
          </c:val>
        </c:ser>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39 evaluation questions, scored automatically</a:t>
            </a:r>
          </a:p>
        </c:rich>
      </c:tx>
      <c:layout/>
      <c:overlay val="0"/>
    </c:title>
    <c:autoTitleDeleted val="0"/>
    <c:plotArea>
      <c:layout/>
      <c:barChart>
        <c:barDir val="bar"/>
        <c:grouping val="clustered"/>
        <c:varyColors val="0"/>
        <c:ser>
          <c:idx val="0"/>
          <c:order val="0"/>
          <c:tx>
            <c:strRef>
              <c:f>Sheet1!$B$1</c:f>
              <c:strCache>
                <c:ptCount val="1"/>
                <c:pt idx="0">
                  <c:v>Questions</c:v>
                </c:pt>
              </c:strCache>
            </c:strRef>
          </c:tx>
          <c:spPr>
            <a:solidFill>
              <a:srgbClr val="0040B8"/>
            </a:solidFill>
            <a:effectLst/>
          </c:spPr>
          <c:invertIfNegative val="0"/>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cat>
            <c:multiLvlStrRef>
              <c:f>Sheet1!$A$2:$A$5</c:f>
              <c:multiLvlStrCache>
                <c:ptCount val="4"/>
                <c:lvl>
                  <c:pt idx="0">
                    <c:v>Lab knowledge</c:v>
                  </c:pt>
                  <c:pt idx="1">
                    <c:v>Memory and learning</c:v>
                  </c:pt>
                  <c:pt idx="2">
                    <c:v>Safety and identity</c:v>
                  </c:pt>
                  <c:pt idx="3">
                    <c:v>Privacy and consent</c:v>
                  </c:pt>
                </c:lvl>
              </c:multiLvlStrCache>
            </c:multiLvlStrRef>
          </c:cat>
          <c:val>
            <c:numRef>
              <c:f>Sheet1!$B$2:$B$5</c:f>
              <c:numCache>
                <c:formatCode>General</c:formatCode>
                <c:ptCount val="4"/>
                <c:pt idx="0">
                  <c:v>26</c:v>
                </c:pt>
                <c:pt idx="1">
                  <c:v>6</c:v>
                </c:pt>
                <c:pt idx="2">
                  <c:v>5</c:v>
                </c:pt>
                <c:pt idx="3">
                  <c:v>2</c:v>
                </c:pt>
              </c:numCache>
            </c:numRef>
          </c:val>
        </c:ser>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Professor. In this presentation I'll walk you through my project for the AIDEX Lab, the AIDEX Assistant. It's a chatbot that learns how each person likes to be helped, and it measures whether that actually matters. I'll start with a real-life example, then the research problem, what's new about my approach, what I've built so far,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your favourite café. The barista sees you walk in and says, 'The usual? Oat flat white, extra hot.' You didn't have to say a word. That's why you keep going back. Every café knows the menu, the recipes for forty different drinks, but that's not what makes it feel personal. What makes it personal is remembering how you like it. So here's the question behind my project: why do most chatbots remember the menu, but forget how you like your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that to the lab. Meet Priya, a first-year IT student looking at the AIDEX Lab website. On her first visit she tells the chatbot she's an IT student and wants short answers with bullet points, and she gets a good answer. The next day she comes back to ask about internships, and gets a long generic essay. So she repeats herself. On her third visit the same thing happens, and she gives up. This is the everyday problem: most chatbots treat every visit as the first, and they don't remember how a person likes to be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research problem is this: how can an AI assistant learn and use each person's preferences in a way that is transparent, safe and measurable? It matters for three reasons. Users waste effort repeating themselves. When assistants do remember things, the memory is usually hidden, so people can't see or correct it. And there's very little evidence about which memories actually help, because most systems don't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lab's own chapter, The Human Layer of Agentic AI Memory, gives us a clue. It looked at what self-improving AI systems actually learn in production, and found that rules about how a person wants to be helped were reused about 3.4 times more often than domain facts. In practice, a preference like 'use bullet points' helps with almost every question, while a fact like 'I study IT' only matters for some. So the most valuable memory is about the person, not the subject. My project takes that finding and builds it into a working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my approach compares with what's out there. A typical FAQ chatbot answers questions but doesn't learn anything about you. Assistants with memory do learn preferences, but they usually mix preferences and facts together, don't measure which memories were actually used, and run on an outside company's servers. The AIDEX Assistant is designed to do all of these together: it separates preferences from facts, measures their use, switches off memories that aren't helping, lets the user stay in control, and runs on a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makes four contributions. First, a two-layer memory: every memory is labelled as either intent calibration, meaning how you like to be helped, or domain knowledge, meaning facts about you. That's the exact split from the paper. Second, measured reuse: the model reports which memories shaped each answer, so the system counts real usage rather than assuming it. Third, a self-correcting loop: if a memory keeps getting corrected or is never used, it switches itself off and records why. And fourth, it's transparent and private by design: memory is opt-in and editable, research needs consent, and the AI model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practical examples of how the assistant sorts what people say. 'Keep answers under 50 words' and 'always use bullet points' are intent calibration, they're about how the person likes to be helped. Even a correction like 'No, I meant the publications' teaches it what the person means. 'I'm a Bachelor of IT student' and 'I'm interested in agentic AI' are domain knowledge, facts about the person. And some things are never saved: an ordinary question like 'Who leads the lab?', or anything sensitive, like health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The user chats on a simple website. Every message goes to a Python backend built with FastAPI, which runs six steps. First, a safety check. Second, it learns anything new from the message, like a preference. Third, it recalls the person's relevant memories from the SQLite database. Fourth, it searches the lab's knowledge, the themes, publications and people, using ChromaDB. Fifth, it asks a local AI model, Gemma 2 running in Ollama, to write the answer. And sixth, it records which memories were actually used. All of that feeds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self-improvement loop. When a user says something like 'keep answers to three bullet points', the system learns it as a preference. On the next question, relevant memories are added to the prompt. The system tracks how often each memory is retrieved, actually used, marked helpful or corrected. Then it reviews them: a memory is switched off if it's been corrected three or more times and more often than it helped, if it was retrieved ten times but never used, or if it hasn't been used for ninety days. The user can always turn a memory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back to Priya and see the same visits with the AIDEX Assistant. On her first visit she says she's an IT student and wants short answers with bullet points. The assistant shows 'Noted for next time', and behind the scenes it saves 'short, bullet points' as intent calibration and 'IT student' as domain knowledge. The next day she asks how to get involved with the lab. Before answering, it recalls both memories, so she gets a short bulleted answer straight away. It records which memory shaped that reply, and when she clicks thumbs up, that counts as helpful. So Priya says it once, and the assistant remembers, uses it, and measures whether it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I've built. On the left is the chat assistant. It opens with starter questions, supports light and dark mode with accessible colours, and works on phones. In the middle is the memory panel: memory is off until the user switches it on, and everything it learns is listed, so they can edit, pause or delete it. On the right is the research consent screen. Because ethics approval isn't confirmed yet, it clearly says this is a prototype, and only people who agree have their conversations logged, under a random ID. Users can also download their data or delete their account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I wrote 39 evaluation questions that are scored automatically. Most check lab knowledge, and the rest check memory and learning, safety, and privacy and consent. They run as three types of user: anonymous visitors, students with memory switched on, and consenting research participants. There's also an automated test suite, and a simulation of synthetic users that runs the whole learning loop over several days. That's what fills the admin dashboard, which shows the reuse ratio next to the paper's 3.4 to 1. I want to be clear these are synthetic users, so they show the system works, but they're not research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work: right now it's a working prototype. The next step is better answers: a larger local model, adding the paper abstracts and an FAQ to the knowledge base, and a welcome screen. After that, with ethics approval, the real test is a study with real participants, comparing the assistant with and without memory to see whether preferences really get reused more than facts, as the paper predicts. Longer term, it could go live on the lab website with guided flows for prospective PhD students and industry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Priya shouldn't have to repeat herself. The AIDEX Assistant answers from verified lab data, learns how each person likes to be helped, lets them stay in control, and measures whether those preferences really matter more than facts. Thank you for watching. I'd really appreciate your feedback and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87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697480"/>
            <a:ext cx="7680960" cy="822960"/>
          </a:xfrm>
          <a:prstGeom prst="rect">
            <a:avLst/>
          </a:prstGeom>
          <a:noFill/>
          <a:ln/>
        </p:spPr>
        <p:txBody>
          <a:bodyPr wrap="square" rtlCol="0"/>
          <a:lstStyle>
            <a:lvl1pPr algn="l" indent="0" marL="0">
              <a:buNone/>
              <a:defRPr lang="en-US" sz="1800" dirty="0">
                <a:solidFill>
                  <a:srgbClr val="BFD4F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pic>
        <p:nvPicPr>
          <p:cNvPr id="4" name="Image 0" descr="/home/claude/aidx/assets/logo-transparent.png">    </p:cNvPr>
          <p:cNvPicPr>
            <a:picLocks noChangeAspect="1"/>
          </p:cNvPicPr>
          <p:nvPr/>
        </p:nvPicPr>
        <p:blipFill>
          <a:blip r:embed="rId1"/>
          <a:stretch>
            <a:fillRect/>
          </a:stretch>
        </p:blipFill>
        <p:spPr>
          <a:xfrm>
            <a:off x="7818120" y="411480"/>
            <a:ext cx="868680" cy="215221"/>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AIDEX Assistant</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AI assistant that learns how each person likes to be helped, and measures it</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Palden Gurung · S00391340  AIDEX Lab Chatbot Presentation ·  Australian Catholic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A REAL-LIFE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Why we love a café that remembers us</a:t>
            </a:r>
            <a:endParaRPr lang="en-US" sz="2800" dirty="0"/>
          </a:p>
        </p:txBody>
      </p:sp>
      <p:sp>
        <p:nvSpPr>
          <p:cNvPr id="4" name="Barista card"/>
          <p:cNvSpPr/>
          <p:nvPr/>
        </p:nvSpPr>
        <p:spPr>
          <a:xfrm>
            <a:off x="457200" y="1325880"/>
            <a:ext cx="4023360" cy="2514600"/>
          </a:xfrm>
          <a:prstGeom prst="roundRect">
            <a:avLst>
              <a:gd name="adj" fmla="val 3636"/>
            </a:avLst>
          </a:prstGeom>
          <a:solidFill>
            <a:srgbClr val="001878"/>
          </a:solidFill>
          <a:ln w="12700">
            <a:solidFill>
              <a:srgbClr val="001878"/>
            </a:solidFill>
            <a:prstDash val="solid"/>
          </a:ln>
        </p:spPr>
      </p:sp>
      <p:sp>
        <p:nvSpPr>
          <p:cNvPr id="5" name="Coffee circle"/>
          <p:cNvSpPr/>
          <p:nvPr/>
        </p:nvSpPr>
        <p:spPr>
          <a:xfrm>
            <a:off x="731520" y="1554480"/>
            <a:ext cx="685800" cy="685800"/>
          </a:xfrm>
          <a:prstGeom prst="ellipse">
            <a:avLst/>
          </a:prstGeom>
          <a:solidFill>
            <a:srgbClr val="0040B8"/>
          </a:solidFill>
          <a:ln w="12700">
            <a:solidFill>
              <a:srgbClr val="0040B8"/>
            </a:solidFill>
            <a:prstDash val="solid"/>
          </a:ln>
        </p:spPr>
      </p:sp>
      <p:pic>
        <p:nvPicPr>
          <p:cNvPr id="6" name="Coffee icon" descr="preencoded.png">    </p:cNvPr>
          <p:cNvPicPr>
            <a:picLocks noChangeAspect="1"/>
          </p:cNvPicPr>
          <p:nvPr/>
        </p:nvPicPr>
        <p:blipFill>
          <a:blip r:embed="rId1"/>
          <a:stretch>
            <a:fillRect/>
          </a:stretch>
        </p:blipFill>
        <p:spPr>
          <a:xfrm>
            <a:off x="902970" y="1725930"/>
            <a:ext cx="342900" cy="342900"/>
          </a:xfrm>
          <a:prstGeom prst="rect">
            <a:avLst/>
          </a:prstGeom>
        </p:spPr>
      </p:pic>
      <p:sp>
        <p:nvSpPr>
          <p:cNvPr id="7" name="Speech bubble"/>
          <p:cNvSpPr/>
          <p:nvPr/>
        </p:nvSpPr>
        <p:spPr>
          <a:xfrm>
            <a:off x="1600200" y="1600200"/>
            <a:ext cx="2651760" cy="685800"/>
          </a:xfrm>
          <a:prstGeom prst="roundRect">
            <a:avLst>
              <a:gd name="adj" fmla="val 13333"/>
            </a:avLst>
          </a:prstGeom>
          <a:solidFill>
            <a:srgbClr val="FFFFFF"/>
          </a:solidFill>
          <a:ln w="12700">
            <a:solidFill>
              <a:srgbClr val="FFFFFF"/>
            </a:solidFill>
            <a:prstDash val="solid"/>
          </a:ln>
        </p:spPr>
      </p:sp>
      <p:sp>
        <p:nvSpPr>
          <p:cNvPr id="8" name="Text 5"/>
          <p:cNvSpPr txBox="1"/>
          <p:nvPr/>
        </p:nvSpPr>
        <p:spPr>
          <a:xfrm>
            <a:off x="1737360" y="1600200"/>
            <a:ext cx="2423160" cy="685800"/>
          </a:xfrm>
          <a:prstGeom prst="rect">
            <a:avLst/>
          </a:prstGeom>
          <a:noFill/>
          <a:ln/>
        </p:spPr>
        <p:txBody>
          <a:bodyPr wrap="square" lIns="0" tIns="0" rIns="0" bIns="0" rtlCol="0" anchor="ctr"/>
          <a:lstStyle/>
          <a:p>
            <a:pPr indent="0" marL="0">
              <a:buNone/>
            </a:pPr>
            <a:r>
              <a:rPr lang="en-US" sz="1500" b="1" i="1" dirty="0">
                <a:solidFill>
                  <a:srgbClr val="001878"/>
                </a:solidFill>
                <a:latin typeface="Calibri" pitchFamily="34" charset="0"/>
                <a:ea typeface="Calibri" pitchFamily="34" charset="-122"/>
                <a:cs typeface="Calibri" pitchFamily="34" charset="-120"/>
              </a:rPr>
              <a:t>"The usual? Oat flat white, extra hot."</a:t>
            </a:r>
            <a:endParaRPr lang="en-US" sz="1500" dirty="0"/>
          </a:p>
        </p:txBody>
      </p:sp>
      <p:sp>
        <p:nvSpPr>
          <p:cNvPr id="9" name="Text 6"/>
          <p:cNvSpPr txBox="1"/>
          <p:nvPr/>
        </p:nvSpPr>
        <p:spPr>
          <a:xfrm>
            <a:off x="731520" y="2514600"/>
            <a:ext cx="356616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Remembers how you like it</a:t>
            </a:r>
            <a:endParaRPr lang="en-US" sz="1600" dirty="0"/>
          </a:p>
        </p:txBody>
      </p:sp>
      <p:sp>
        <p:nvSpPr>
          <p:cNvPr id="10" name="Text 7"/>
          <p:cNvSpPr txBox="1"/>
          <p:nvPr/>
        </p:nvSpPr>
        <p:spPr>
          <a:xfrm>
            <a:off x="731520" y="2880360"/>
            <a:ext cx="3566160" cy="365760"/>
          </a:xfrm>
          <a:prstGeom prst="rect">
            <a:avLst/>
          </a:prstGeom>
          <a:noFill/>
          <a:ln/>
        </p:spPr>
        <p:txBody>
          <a:bodyPr wrap="square" lIns="0" tIns="0" rIns="0" bIns="0" rtlCol="0" anchor="ctr"/>
          <a:lstStyle/>
          <a:p>
            <a:pPr indent="0" marL="0">
              <a:buNone/>
            </a:pPr>
            <a:r>
              <a:rPr lang="en-US" sz="1400" dirty="0">
                <a:solidFill>
                  <a:srgbClr val="BFD4F2"/>
                </a:solidFill>
                <a:latin typeface="Calibri" pitchFamily="34" charset="0"/>
                <a:ea typeface="Calibri" pitchFamily="34" charset="-122"/>
                <a:cs typeface="Calibri" pitchFamily="34" charset="-120"/>
              </a:rPr>
              <a:t>You never repeat yourself, so you keep coming back</a:t>
            </a:r>
            <a:endParaRPr lang="en-US" sz="1400" dirty="0"/>
          </a:p>
        </p:txBody>
      </p:sp>
      <p:sp>
        <p:nvSpPr>
          <p:cNvPr id="11" name="Text 8"/>
          <p:cNvSpPr txBox="1"/>
          <p:nvPr/>
        </p:nvSpPr>
        <p:spPr>
          <a:xfrm>
            <a:off x="731520" y="3383280"/>
            <a:ext cx="3566160" cy="274320"/>
          </a:xfrm>
          <a:prstGeom prst="rect">
            <a:avLst/>
          </a:prstGeom>
          <a:noFill/>
          <a:ln/>
        </p:spPr>
        <p:txBody>
          <a:bodyPr wrap="square" lIns="0" tIns="0" rIns="0" bIns="0" rtlCol="0" anchor="ctr"/>
          <a:lstStyle/>
          <a:p>
            <a:pPr indent="0" marL="0">
              <a:buNone/>
            </a:pPr>
            <a:r>
              <a:rPr lang="en-US" sz="1200" b="1" spc="200" kern="0" dirty="0">
                <a:solidFill>
                  <a:srgbClr val="00D4F0"/>
                </a:solidFill>
                <a:latin typeface="Calibri" pitchFamily="34" charset="0"/>
                <a:ea typeface="Calibri" pitchFamily="34" charset="-122"/>
                <a:cs typeface="Calibri" pitchFamily="34" charset="-120"/>
              </a:rPr>
              <a:t>INTENT CALIBRATION</a:t>
            </a:r>
            <a:endParaRPr lang="en-US" sz="1200" dirty="0"/>
          </a:p>
        </p:txBody>
      </p:sp>
      <p:sp>
        <p:nvSpPr>
          <p:cNvPr id="12" name="Menu card"/>
          <p:cNvSpPr/>
          <p:nvPr/>
        </p:nvSpPr>
        <p:spPr>
          <a:xfrm>
            <a:off x="4663440" y="1325880"/>
            <a:ext cx="4023360" cy="2514600"/>
          </a:xfrm>
          <a:prstGeom prst="roundRect">
            <a:avLst>
              <a:gd name="adj" fmla="val 3636"/>
            </a:avLst>
          </a:prstGeom>
          <a:solidFill>
            <a:srgbClr val="EEF4FC"/>
          </a:solidFill>
          <a:ln w="12700">
            <a:solidFill>
              <a:srgbClr val="EEF4FC"/>
            </a:solidFill>
            <a:prstDash val="solid"/>
          </a:ln>
        </p:spPr>
      </p:sp>
      <p:sp>
        <p:nvSpPr>
          <p:cNvPr id="13" name="Menu circle"/>
          <p:cNvSpPr/>
          <p:nvPr/>
        </p:nvSpPr>
        <p:spPr>
          <a:xfrm>
            <a:off x="4937760" y="1554480"/>
            <a:ext cx="685800" cy="685800"/>
          </a:xfrm>
          <a:prstGeom prst="ellipse">
            <a:avLst/>
          </a:prstGeom>
          <a:solidFill>
            <a:srgbClr val="FFFFFF"/>
          </a:solidFill>
          <a:ln w="12700">
            <a:solidFill>
              <a:srgbClr val="FFFFFF"/>
            </a:solidFill>
            <a:prstDash val="solid"/>
          </a:ln>
        </p:spPr>
      </p:sp>
      <p:pic>
        <p:nvPicPr>
          <p:cNvPr id="14" name="Menu icon" descr="preencoded.png">    </p:cNvPr>
          <p:cNvPicPr>
            <a:picLocks noChangeAspect="1"/>
          </p:cNvPicPr>
          <p:nvPr/>
        </p:nvPicPr>
        <p:blipFill>
          <a:blip r:embed="rId2"/>
          <a:stretch>
            <a:fillRect/>
          </a:stretch>
        </p:blipFill>
        <p:spPr>
          <a:xfrm>
            <a:off x="5109210" y="1725930"/>
            <a:ext cx="342900" cy="342900"/>
          </a:xfrm>
          <a:prstGeom prst="rect">
            <a:avLst/>
          </a:prstGeom>
        </p:spPr>
      </p:pic>
      <p:sp>
        <p:nvSpPr>
          <p:cNvPr id="15" name="Menu bubble"/>
          <p:cNvSpPr/>
          <p:nvPr/>
        </p:nvSpPr>
        <p:spPr>
          <a:xfrm>
            <a:off x="5806440" y="1600200"/>
            <a:ext cx="2651760" cy="685800"/>
          </a:xfrm>
          <a:prstGeom prst="roundRect">
            <a:avLst>
              <a:gd name="adj" fmla="val 13333"/>
            </a:avLst>
          </a:prstGeom>
          <a:solidFill>
            <a:srgbClr val="FFFFFF"/>
          </a:solidFill>
          <a:ln w="12700">
            <a:solidFill>
              <a:srgbClr val="FFFFFF"/>
            </a:solidFill>
            <a:prstDash val="solid"/>
          </a:ln>
        </p:spPr>
      </p:sp>
      <p:sp>
        <p:nvSpPr>
          <p:cNvPr id="16" name="Text 12"/>
          <p:cNvSpPr txBox="1"/>
          <p:nvPr/>
        </p:nvSpPr>
        <p:spPr>
          <a:xfrm>
            <a:off x="5943600" y="1600200"/>
            <a:ext cx="2423160" cy="68580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Knows the recipe for 40 different drinks</a:t>
            </a:r>
            <a:endParaRPr lang="en-US" sz="1500" dirty="0"/>
          </a:p>
        </p:txBody>
      </p:sp>
      <p:sp>
        <p:nvSpPr>
          <p:cNvPr id="17" name="Text 13"/>
          <p:cNvSpPr txBox="1"/>
          <p:nvPr/>
        </p:nvSpPr>
        <p:spPr>
          <a:xfrm>
            <a:off x="4937760" y="2514600"/>
            <a:ext cx="3566160" cy="365760"/>
          </a:xfrm>
          <a:prstGeom prst="rect">
            <a:avLst/>
          </a:prstGeom>
          <a:noFill/>
          <a:ln/>
        </p:spPr>
        <p:txBody>
          <a:bodyPr wrap="square" lIns="0" tIns="0" rIns="0" bIns="0" rtlCol="0" anchor="ctr"/>
          <a:lstStyle/>
          <a:p>
            <a:pPr indent="0" marL="0">
              <a:buNone/>
            </a:pPr>
            <a:r>
              <a:rPr lang="en-US" sz="1600" b="1" dirty="0">
                <a:solidFill>
                  <a:srgbClr val="001878"/>
                </a:solidFill>
                <a:latin typeface="Arial" pitchFamily="34" charset="0"/>
                <a:ea typeface="Arial" pitchFamily="34" charset="-122"/>
                <a:cs typeface="Arial" pitchFamily="34" charset="-120"/>
              </a:rPr>
              <a:t>Every café knows the menu</a:t>
            </a:r>
            <a:endParaRPr lang="en-US" sz="1600" dirty="0"/>
          </a:p>
        </p:txBody>
      </p:sp>
      <p:sp>
        <p:nvSpPr>
          <p:cNvPr id="18" name="Text 14"/>
          <p:cNvSpPr txBox="1"/>
          <p:nvPr/>
        </p:nvSpPr>
        <p:spPr>
          <a:xfrm>
            <a:off x="4937760" y="2880360"/>
            <a:ext cx="3566160" cy="365760"/>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Useful, but it doesn't make the visit feel personal</a:t>
            </a:r>
            <a:endParaRPr lang="en-US" sz="1400" dirty="0"/>
          </a:p>
        </p:txBody>
      </p:sp>
      <p:sp>
        <p:nvSpPr>
          <p:cNvPr id="19" name="Text 15"/>
          <p:cNvSpPr txBox="1"/>
          <p:nvPr/>
        </p:nvSpPr>
        <p:spPr>
          <a:xfrm>
            <a:off x="4937760" y="3383280"/>
            <a:ext cx="3566160" cy="274320"/>
          </a:xfrm>
          <a:prstGeom prst="rect">
            <a:avLst/>
          </a:prstGeom>
          <a:noFill/>
          <a:ln/>
        </p:spPr>
        <p:txBody>
          <a:bodyPr wrap="square" lIns="0" tIns="0" rIns="0" bIns="0" rtlCol="0" anchor="ctr"/>
          <a:lstStyle/>
          <a:p>
            <a:pPr indent="0" marL="0">
              <a:buNone/>
            </a:pPr>
            <a:r>
              <a:rPr lang="en-US" sz="1200" b="1" spc="200" kern="0" dirty="0">
                <a:solidFill>
                  <a:srgbClr val="0040B8"/>
                </a:solidFill>
                <a:latin typeface="Calibri" pitchFamily="34" charset="0"/>
                <a:ea typeface="Calibri" pitchFamily="34" charset="-122"/>
                <a:cs typeface="Calibri" pitchFamily="34" charset="-120"/>
              </a:rPr>
              <a:t>DOMAIN KNOWLEDGE</a:t>
            </a:r>
            <a:endParaRPr lang="en-US" sz="1200" dirty="0"/>
          </a:p>
        </p:txBody>
      </p:sp>
      <p:sp>
        <p:nvSpPr>
          <p:cNvPr id="20" name="Hook band"/>
          <p:cNvSpPr/>
          <p:nvPr/>
        </p:nvSpPr>
        <p:spPr>
          <a:xfrm>
            <a:off x="457200" y="4023360"/>
            <a:ext cx="8229600" cy="594360"/>
          </a:xfrm>
          <a:prstGeom prst="roundRect">
            <a:avLst>
              <a:gd name="adj" fmla="val 15385"/>
            </a:avLst>
          </a:prstGeom>
          <a:solidFill>
            <a:srgbClr val="0040B8"/>
          </a:solidFill>
          <a:ln w="12700">
            <a:solidFill>
              <a:srgbClr val="0040B8"/>
            </a:solidFill>
            <a:prstDash val="solid"/>
          </a:ln>
        </p:spPr>
      </p:sp>
      <p:sp>
        <p:nvSpPr>
          <p:cNvPr id="21" name="Text 17"/>
          <p:cNvSpPr txBox="1"/>
          <p:nvPr/>
        </p:nvSpPr>
        <p:spPr>
          <a:xfrm>
            <a:off x="685800" y="4023360"/>
            <a:ext cx="77724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 why do most chatbots remember the menu, but forget how you like your coffee?</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A REAL-LIFE SCENARIO</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Meet Priya, a first-year IT student</a:t>
            </a:r>
            <a:endParaRPr lang="en-US" sz="2800" dirty="0"/>
          </a:p>
        </p:txBody>
      </p:sp>
      <p:sp>
        <p:nvSpPr>
          <p:cNvPr id="4" name="Visit card 1"/>
          <p:cNvSpPr/>
          <p:nvPr/>
        </p:nvSpPr>
        <p:spPr>
          <a:xfrm>
            <a:off x="457200" y="1325880"/>
            <a:ext cx="2606040" cy="2514600"/>
          </a:xfrm>
          <a:prstGeom prst="roundRect">
            <a:avLst>
              <a:gd name="adj" fmla="val 3636"/>
            </a:avLst>
          </a:prstGeom>
          <a:solidFill>
            <a:srgbClr val="EEF4FC"/>
          </a:solidFill>
          <a:ln w="12700">
            <a:solidFill>
              <a:srgbClr val="EEF4FC"/>
            </a:solidFill>
            <a:prstDash val="solid"/>
          </a:ln>
        </p:spPr>
      </p:sp>
      <p:sp>
        <p:nvSpPr>
          <p:cNvPr id="5" name="Text 3"/>
          <p:cNvSpPr txBox="1"/>
          <p:nvPr/>
        </p:nvSpPr>
        <p:spPr>
          <a:xfrm>
            <a:off x="685800" y="1481328"/>
            <a:ext cx="1463040" cy="320040"/>
          </a:xfrm>
          <a:prstGeom prst="rect">
            <a:avLst/>
          </a:prstGeom>
          <a:noFill/>
          <a:ln/>
        </p:spPr>
        <p:txBody>
          <a:bodyPr wrap="square" lIns="0" tIns="0" rIns="0" bIns="0" rtlCol="0" anchor="ctr"/>
          <a:lstStyle/>
          <a:p>
            <a:pPr indent="0" marL="0">
              <a:buNone/>
            </a:pPr>
            <a:r>
              <a:rPr lang="en-US" sz="1500" b="1" dirty="0">
                <a:solidFill>
                  <a:srgbClr val="0040B8"/>
                </a:solidFill>
                <a:latin typeface="Arial" pitchFamily="34" charset="0"/>
                <a:ea typeface="Arial" pitchFamily="34" charset="-122"/>
                <a:cs typeface="Arial" pitchFamily="34" charset="-120"/>
              </a:rPr>
              <a:t>Visit 1</a:t>
            </a:r>
            <a:endParaRPr lang="en-US" sz="1500" dirty="0"/>
          </a:p>
        </p:txBody>
      </p:sp>
      <p:sp>
        <p:nvSpPr>
          <p:cNvPr id="6" name="Mood 1 circle"/>
          <p:cNvSpPr/>
          <p:nvPr/>
        </p:nvSpPr>
        <p:spPr>
          <a:xfrm>
            <a:off x="2331720" y="1417320"/>
            <a:ext cx="548640" cy="548640"/>
          </a:xfrm>
          <a:prstGeom prst="ellipse">
            <a:avLst/>
          </a:prstGeom>
          <a:solidFill>
            <a:srgbClr val="FFFFFF"/>
          </a:solidFill>
          <a:ln w="12700">
            <a:solidFill>
              <a:srgbClr val="FFFFFF"/>
            </a:solidFill>
            <a:prstDash val="solid"/>
          </a:ln>
        </p:spPr>
      </p:sp>
      <p:pic>
        <p:nvPicPr>
          <p:cNvPr id="7" name="Mood 1 icon" descr="preencoded.png">    </p:cNvPr>
          <p:cNvPicPr>
            <a:picLocks noChangeAspect="1"/>
          </p:cNvPicPr>
          <p:nvPr/>
        </p:nvPicPr>
        <p:blipFill>
          <a:blip r:embed="rId1"/>
          <a:stretch>
            <a:fillRect/>
          </a:stretch>
        </p:blipFill>
        <p:spPr>
          <a:xfrm>
            <a:off x="2468880" y="1554480"/>
            <a:ext cx="274320" cy="274320"/>
          </a:xfrm>
          <a:prstGeom prst="rect">
            <a:avLst/>
          </a:prstGeom>
        </p:spPr>
      </p:pic>
      <p:sp>
        <p:nvSpPr>
          <p:cNvPr id="8" name="Text 5"/>
          <p:cNvSpPr txBox="1"/>
          <p:nvPr/>
        </p:nvSpPr>
        <p:spPr>
          <a:xfrm>
            <a:off x="685800" y="2103120"/>
            <a:ext cx="2194560" cy="1051560"/>
          </a:xfrm>
          <a:prstGeom prst="rect">
            <a:avLst/>
          </a:prstGeom>
          <a:noFill/>
          <a:ln/>
        </p:spPr>
        <p:txBody>
          <a:bodyPr wrap="square" lIns="0" tIns="0" rIns="0" bIns="0" rtlCol="0" anchor="t"/>
          <a:lstStyle/>
          <a:p>
            <a:pPr indent="0" marL="0">
              <a:buNone/>
            </a:pPr>
            <a:r>
              <a:rPr lang="en-US" sz="1400" i="1" dirty="0">
                <a:solidFill>
                  <a:srgbClr val="1B2333"/>
                </a:solidFill>
                <a:latin typeface="Calibri" pitchFamily="34" charset="0"/>
                <a:ea typeface="Calibri" pitchFamily="34" charset="-122"/>
                <a:cs typeface="Calibri" pitchFamily="34" charset="-120"/>
              </a:rPr>
              <a:t>"I'm an IT student. Please keep answers short, with bullet points."</a:t>
            </a:r>
            <a:endParaRPr lang="en-US" sz="1400" dirty="0"/>
          </a:p>
        </p:txBody>
      </p:sp>
      <p:sp>
        <p:nvSpPr>
          <p:cNvPr id="9" name="Text 6"/>
          <p:cNvSpPr txBox="1"/>
          <p:nvPr/>
        </p:nvSpPr>
        <p:spPr>
          <a:xfrm>
            <a:off x="685800" y="3291840"/>
            <a:ext cx="2194560" cy="365760"/>
          </a:xfrm>
          <a:prstGeom prst="rect">
            <a:avLst/>
          </a:prstGeom>
          <a:noFill/>
          <a:ln/>
        </p:spPr>
        <p:txBody>
          <a:bodyPr wrap="square" lIns="0" tIns="0" rIns="0" bIns="0" rtlCol="0" anchor="ctr"/>
          <a:lstStyle/>
          <a:p>
            <a:pPr indent="0" marL="0">
              <a:buNone/>
            </a:pPr>
            <a:r>
              <a:rPr lang="en-US" sz="1400" b="1" dirty="0">
                <a:solidFill>
                  <a:srgbClr val="1E8E5A"/>
                </a:solidFill>
                <a:latin typeface="Calibri" pitchFamily="34" charset="0"/>
                <a:ea typeface="Calibri" pitchFamily="34" charset="-122"/>
                <a:cs typeface="Calibri" pitchFamily="34" charset="-120"/>
              </a:rPr>
              <a:t>Gets a good answer</a:t>
            </a:r>
            <a:endParaRPr lang="en-US" sz="1400" dirty="0"/>
          </a:p>
        </p:txBody>
      </p:sp>
      <p:sp>
        <p:nvSpPr>
          <p:cNvPr id="10" name="Shape 7"/>
          <p:cNvSpPr/>
          <p:nvPr/>
        </p:nvSpPr>
        <p:spPr>
          <a:xfrm>
            <a:off x="3090672" y="2578608"/>
            <a:ext cx="128016" cy="914"/>
          </a:xfrm>
          <a:prstGeom prst="line">
            <a:avLst/>
          </a:prstGeom>
          <a:noFill/>
          <a:ln w="25400">
            <a:solidFill>
              <a:srgbClr val="C9D6EA"/>
            </a:solidFill>
            <a:prstDash val="solid"/>
            <a:tailEnd type="triangle"/>
          </a:ln>
        </p:spPr>
      </p:sp>
      <p:sp>
        <p:nvSpPr>
          <p:cNvPr id="11" name="Visit card 2"/>
          <p:cNvSpPr/>
          <p:nvPr/>
        </p:nvSpPr>
        <p:spPr>
          <a:xfrm>
            <a:off x="3246120" y="1325880"/>
            <a:ext cx="2606040" cy="2514600"/>
          </a:xfrm>
          <a:prstGeom prst="roundRect">
            <a:avLst>
              <a:gd name="adj" fmla="val 3636"/>
            </a:avLst>
          </a:prstGeom>
          <a:solidFill>
            <a:srgbClr val="EEF4FC"/>
          </a:solidFill>
          <a:ln w="12700">
            <a:solidFill>
              <a:srgbClr val="EEF4FC"/>
            </a:solidFill>
            <a:prstDash val="solid"/>
          </a:ln>
        </p:spPr>
      </p:sp>
      <p:sp>
        <p:nvSpPr>
          <p:cNvPr id="12" name="Text 9"/>
          <p:cNvSpPr txBox="1"/>
          <p:nvPr/>
        </p:nvSpPr>
        <p:spPr>
          <a:xfrm>
            <a:off x="3474720" y="1481328"/>
            <a:ext cx="1463040" cy="320040"/>
          </a:xfrm>
          <a:prstGeom prst="rect">
            <a:avLst/>
          </a:prstGeom>
          <a:noFill/>
          <a:ln/>
        </p:spPr>
        <p:txBody>
          <a:bodyPr wrap="square" lIns="0" tIns="0" rIns="0" bIns="0" rtlCol="0" anchor="ctr"/>
          <a:lstStyle/>
          <a:p>
            <a:pPr indent="0" marL="0">
              <a:buNone/>
            </a:pPr>
            <a:r>
              <a:rPr lang="en-US" sz="1500" b="1" dirty="0">
                <a:solidFill>
                  <a:srgbClr val="0040B8"/>
                </a:solidFill>
                <a:latin typeface="Arial" pitchFamily="34" charset="0"/>
                <a:ea typeface="Arial" pitchFamily="34" charset="-122"/>
                <a:cs typeface="Arial" pitchFamily="34" charset="-120"/>
              </a:rPr>
              <a:t>Visit 2</a:t>
            </a:r>
            <a:endParaRPr lang="en-US" sz="1500" dirty="0"/>
          </a:p>
        </p:txBody>
      </p:sp>
      <p:sp>
        <p:nvSpPr>
          <p:cNvPr id="13" name="Mood 2 circle"/>
          <p:cNvSpPr/>
          <p:nvPr/>
        </p:nvSpPr>
        <p:spPr>
          <a:xfrm>
            <a:off x="5120640" y="1417320"/>
            <a:ext cx="548640" cy="548640"/>
          </a:xfrm>
          <a:prstGeom prst="ellipse">
            <a:avLst/>
          </a:prstGeom>
          <a:solidFill>
            <a:srgbClr val="FFFFFF"/>
          </a:solidFill>
          <a:ln w="12700">
            <a:solidFill>
              <a:srgbClr val="FFFFFF"/>
            </a:solidFill>
            <a:prstDash val="solid"/>
          </a:ln>
        </p:spPr>
      </p:sp>
      <p:pic>
        <p:nvPicPr>
          <p:cNvPr id="14" name="Mood 2 icon" descr="preencoded.png">    </p:cNvPr>
          <p:cNvPicPr>
            <a:picLocks noChangeAspect="1"/>
          </p:cNvPicPr>
          <p:nvPr/>
        </p:nvPicPr>
        <p:blipFill>
          <a:blip r:embed="rId2"/>
          <a:stretch>
            <a:fillRect/>
          </a:stretch>
        </p:blipFill>
        <p:spPr>
          <a:xfrm>
            <a:off x="5257800" y="1554480"/>
            <a:ext cx="274320" cy="274320"/>
          </a:xfrm>
          <a:prstGeom prst="rect">
            <a:avLst/>
          </a:prstGeom>
        </p:spPr>
      </p:pic>
      <p:sp>
        <p:nvSpPr>
          <p:cNvPr id="15" name="Text 11"/>
          <p:cNvSpPr txBox="1"/>
          <p:nvPr/>
        </p:nvSpPr>
        <p:spPr>
          <a:xfrm>
            <a:off x="3474720" y="2103120"/>
            <a:ext cx="2194560" cy="105156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Asks about internships. Gets a long essay written for nobody in particular</a:t>
            </a:r>
            <a:endParaRPr lang="en-US" sz="1400" dirty="0"/>
          </a:p>
        </p:txBody>
      </p:sp>
      <p:sp>
        <p:nvSpPr>
          <p:cNvPr id="16" name="Text 12"/>
          <p:cNvSpPr txBox="1"/>
          <p:nvPr/>
        </p:nvSpPr>
        <p:spPr>
          <a:xfrm>
            <a:off x="3474720" y="3291840"/>
            <a:ext cx="2194560" cy="3657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Has to repeat herself</a:t>
            </a:r>
            <a:endParaRPr lang="en-US" sz="1400" dirty="0"/>
          </a:p>
        </p:txBody>
      </p:sp>
      <p:sp>
        <p:nvSpPr>
          <p:cNvPr id="17" name="Shape 13"/>
          <p:cNvSpPr/>
          <p:nvPr/>
        </p:nvSpPr>
        <p:spPr>
          <a:xfrm>
            <a:off x="5879592" y="2578608"/>
            <a:ext cx="128016" cy="914"/>
          </a:xfrm>
          <a:prstGeom prst="line">
            <a:avLst/>
          </a:prstGeom>
          <a:noFill/>
          <a:ln w="25400">
            <a:solidFill>
              <a:srgbClr val="C9D6EA"/>
            </a:solidFill>
            <a:prstDash val="solid"/>
            <a:tailEnd type="triangle"/>
          </a:ln>
        </p:spPr>
      </p:sp>
      <p:sp>
        <p:nvSpPr>
          <p:cNvPr id="18" name="Visit card 3"/>
          <p:cNvSpPr/>
          <p:nvPr/>
        </p:nvSpPr>
        <p:spPr>
          <a:xfrm>
            <a:off x="6035040" y="1325880"/>
            <a:ext cx="2606040" cy="2514600"/>
          </a:xfrm>
          <a:prstGeom prst="roundRect">
            <a:avLst>
              <a:gd name="adj" fmla="val 3636"/>
            </a:avLst>
          </a:prstGeom>
          <a:solidFill>
            <a:srgbClr val="EEF4FC"/>
          </a:solidFill>
          <a:ln w="12700">
            <a:solidFill>
              <a:srgbClr val="EEF4FC"/>
            </a:solidFill>
            <a:prstDash val="solid"/>
          </a:ln>
        </p:spPr>
      </p:sp>
      <p:sp>
        <p:nvSpPr>
          <p:cNvPr id="19" name="Text 15"/>
          <p:cNvSpPr txBox="1"/>
          <p:nvPr/>
        </p:nvSpPr>
        <p:spPr>
          <a:xfrm>
            <a:off x="6263640" y="1481328"/>
            <a:ext cx="1463040" cy="320040"/>
          </a:xfrm>
          <a:prstGeom prst="rect">
            <a:avLst/>
          </a:prstGeom>
          <a:noFill/>
          <a:ln/>
        </p:spPr>
        <p:txBody>
          <a:bodyPr wrap="square" lIns="0" tIns="0" rIns="0" bIns="0" rtlCol="0" anchor="ctr"/>
          <a:lstStyle/>
          <a:p>
            <a:pPr indent="0" marL="0">
              <a:buNone/>
            </a:pPr>
            <a:r>
              <a:rPr lang="en-US" sz="1500" b="1" dirty="0">
                <a:solidFill>
                  <a:srgbClr val="0040B8"/>
                </a:solidFill>
                <a:latin typeface="Arial" pitchFamily="34" charset="0"/>
                <a:ea typeface="Arial" pitchFamily="34" charset="-122"/>
                <a:cs typeface="Arial" pitchFamily="34" charset="-120"/>
              </a:rPr>
              <a:t>Visit 3</a:t>
            </a:r>
            <a:endParaRPr lang="en-US" sz="1500" dirty="0"/>
          </a:p>
        </p:txBody>
      </p:sp>
      <p:sp>
        <p:nvSpPr>
          <p:cNvPr id="20" name="Mood 3 circle"/>
          <p:cNvSpPr/>
          <p:nvPr/>
        </p:nvSpPr>
        <p:spPr>
          <a:xfrm>
            <a:off x="7909560" y="1417320"/>
            <a:ext cx="548640" cy="548640"/>
          </a:xfrm>
          <a:prstGeom prst="ellipse">
            <a:avLst/>
          </a:prstGeom>
          <a:solidFill>
            <a:srgbClr val="FFFFFF"/>
          </a:solidFill>
          <a:ln w="12700">
            <a:solidFill>
              <a:srgbClr val="FFFFFF"/>
            </a:solidFill>
            <a:prstDash val="solid"/>
          </a:ln>
        </p:spPr>
      </p:sp>
      <p:pic>
        <p:nvPicPr>
          <p:cNvPr id="21" name="Mood 3 icon" descr="preencoded.png">    </p:cNvPr>
          <p:cNvPicPr>
            <a:picLocks noChangeAspect="1"/>
          </p:cNvPicPr>
          <p:nvPr/>
        </p:nvPicPr>
        <p:blipFill>
          <a:blip r:embed="rId3"/>
          <a:stretch>
            <a:fillRect/>
          </a:stretch>
        </p:blipFill>
        <p:spPr>
          <a:xfrm>
            <a:off x="8046720" y="1554480"/>
            <a:ext cx="274320" cy="274320"/>
          </a:xfrm>
          <a:prstGeom prst="rect">
            <a:avLst/>
          </a:prstGeom>
        </p:spPr>
      </p:pic>
      <p:sp>
        <p:nvSpPr>
          <p:cNvPr id="22" name="Text 17"/>
          <p:cNvSpPr txBox="1"/>
          <p:nvPr/>
        </p:nvSpPr>
        <p:spPr>
          <a:xfrm>
            <a:off x="6263640" y="2103120"/>
            <a:ext cx="2194560" cy="105156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Repeats her preferences again, and the bot still doesn't stick to them</a:t>
            </a:r>
            <a:endParaRPr lang="en-US" sz="1400" dirty="0"/>
          </a:p>
        </p:txBody>
      </p:sp>
      <p:sp>
        <p:nvSpPr>
          <p:cNvPr id="23" name="Text 18"/>
          <p:cNvSpPr txBox="1"/>
          <p:nvPr/>
        </p:nvSpPr>
        <p:spPr>
          <a:xfrm>
            <a:off x="6263640" y="3291840"/>
            <a:ext cx="2194560" cy="36576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Gives up and closes the tab</a:t>
            </a:r>
            <a:endParaRPr lang="en-US" sz="1400" dirty="0"/>
          </a:p>
        </p:txBody>
      </p:sp>
      <p:sp>
        <p:nvSpPr>
          <p:cNvPr id="24" name="Takeaway band"/>
          <p:cNvSpPr/>
          <p:nvPr/>
        </p:nvSpPr>
        <p:spPr>
          <a:xfrm>
            <a:off x="457200" y="4023360"/>
            <a:ext cx="8229600" cy="594360"/>
          </a:xfrm>
          <a:prstGeom prst="roundRect">
            <a:avLst>
              <a:gd name="adj" fmla="val 15385"/>
            </a:avLst>
          </a:prstGeom>
          <a:solidFill>
            <a:srgbClr val="001878"/>
          </a:solidFill>
          <a:ln w="12700">
            <a:solidFill>
              <a:srgbClr val="001878"/>
            </a:solidFill>
            <a:prstDash val="solid"/>
          </a:ln>
        </p:spPr>
      </p:sp>
      <p:sp>
        <p:nvSpPr>
          <p:cNvPr id="25" name="Text 20"/>
          <p:cNvSpPr txBox="1"/>
          <p:nvPr/>
        </p:nvSpPr>
        <p:spPr>
          <a:xfrm>
            <a:off x="685800" y="4023360"/>
            <a:ext cx="77724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Most chatbots treat every visit as the first, and forget how Priya likes to be helped.</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PROBLEM</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problem are we solving?</a:t>
            </a:r>
            <a:endParaRPr lang="en-US" sz="2800" dirty="0"/>
          </a:p>
        </p:txBody>
      </p:sp>
      <p:sp>
        <p:nvSpPr>
          <p:cNvPr id="4" name="Question card"/>
          <p:cNvSpPr/>
          <p:nvPr/>
        </p:nvSpPr>
        <p:spPr>
          <a:xfrm>
            <a:off x="457200" y="1325880"/>
            <a:ext cx="3931920" cy="3291840"/>
          </a:xfrm>
          <a:prstGeom prst="roundRect">
            <a:avLst>
              <a:gd name="adj" fmla="val 2778"/>
            </a:avLst>
          </a:prstGeom>
          <a:solidFill>
            <a:srgbClr val="001878"/>
          </a:solidFill>
          <a:ln w="12700">
            <a:solidFill>
              <a:srgbClr val="001878"/>
            </a:solidFill>
            <a:prstDash val="solid"/>
          </a:ln>
        </p:spPr>
      </p:sp>
      <p:sp>
        <p:nvSpPr>
          <p:cNvPr id="5" name="Question circle"/>
          <p:cNvSpPr/>
          <p:nvPr/>
        </p:nvSpPr>
        <p:spPr>
          <a:xfrm>
            <a:off x="731520" y="1554480"/>
            <a:ext cx="594360" cy="594360"/>
          </a:xfrm>
          <a:prstGeom prst="ellipse">
            <a:avLst/>
          </a:prstGeom>
          <a:solidFill>
            <a:srgbClr val="0040B8"/>
          </a:solidFill>
          <a:ln w="12700">
            <a:solidFill>
              <a:srgbClr val="0040B8"/>
            </a:solidFill>
            <a:prstDash val="solid"/>
          </a:ln>
        </p:spPr>
      </p:sp>
      <p:pic>
        <p:nvPicPr>
          <p:cNvPr id="6" name="Question icon" descr="preencoded.png">    </p:cNvPr>
          <p:cNvPicPr>
            <a:picLocks noChangeAspect="1"/>
          </p:cNvPicPr>
          <p:nvPr/>
        </p:nvPicPr>
        <p:blipFill>
          <a:blip r:embed="rId1"/>
          <a:stretch>
            <a:fillRect/>
          </a:stretch>
        </p:blipFill>
        <p:spPr>
          <a:xfrm>
            <a:off x="880110" y="1703070"/>
            <a:ext cx="297180" cy="297180"/>
          </a:xfrm>
          <a:prstGeom prst="rect">
            <a:avLst/>
          </a:prstGeom>
        </p:spPr>
      </p:pic>
      <p:sp>
        <p:nvSpPr>
          <p:cNvPr id="7" name="Text 4"/>
          <p:cNvSpPr txBox="1"/>
          <p:nvPr/>
        </p:nvSpPr>
        <p:spPr>
          <a:xfrm>
            <a:off x="731520" y="2286000"/>
            <a:ext cx="3383280" cy="320040"/>
          </a:xfrm>
          <a:prstGeom prst="rect">
            <a:avLst/>
          </a:prstGeom>
          <a:noFill/>
          <a:ln/>
        </p:spPr>
        <p:txBody>
          <a:bodyPr wrap="square" lIns="0" tIns="0" rIns="0" bIns="0" rtlCol="0" anchor="ctr"/>
          <a:lstStyle/>
          <a:p>
            <a:pPr indent="0" marL="0">
              <a:buNone/>
            </a:pPr>
            <a:r>
              <a:rPr lang="en-US" sz="1400" b="1" dirty="0">
                <a:solidFill>
                  <a:srgbClr val="00D4F0"/>
                </a:solidFill>
                <a:latin typeface="Calibri" pitchFamily="34" charset="0"/>
                <a:ea typeface="Calibri" pitchFamily="34" charset="-122"/>
                <a:cs typeface="Calibri" pitchFamily="34" charset="-120"/>
              </a:rPr>
              <a:t>Research question</a:t>
            </a:r>
            <a:endParaRPr lang="en-US" sz="1400" dirty="0"/>
          </a:p>
        </p:txBody>
      </p:sp>
      <p:sp>
        <p:nvSpPr>
          <p:cNvPr id="8" name="Text 5"/>
          <p:cNvSpPr txBox="1"/>
          <p:nvPr/>
        </p:nvSpPr>
        <p:spPr>
          <a:xfrm>
            <a:off x="731520" y="2651760"/>
            <a:ext cx="3429000" cy="17373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How can an AI assistant learn and use each person's preferences in a way that is transparent, safe and measurable?</a:t>
            </a:r>
            <a:endParaRPr lang="en-US" sz="2000" dirty="0"/>
          </a:p>
        </p:txBody>
      </p:sp>
      <p:sp>
        <p:nvSpPr>
          <p:cNvPr id="9" name="Text 6"/>
          <p:cNvSpPr txBox="1"/>
          <p:nvPr/>
        </p:nvSpPr>
        <p:spPr>
          <a:xfrm>
            <a:off x="4754880" y="1325880"/>
            <a:ext cx="3931920" cy="32004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Why it matters</a:t>
            </a:r>
            <a:endParaRPr lang="en-US" sz="1700" dirty="0"/>
          </a:p>
        </p:txBody>
      </p:sp>
      <p:sp>
        <p:nvSpPr>
          <p:cNvPr id="10" name="Why 1 circle"/>
          <p:cNvSpPr/>
          <p:nvPr/>
        </p:nvSpPr>
        <p:spPr>
          <a:xfrm>
            <a:off x="4754880" y="1783080"/>
            <a:ext cx="502920" cy="502920"/>
          </a:xfrm>
          <a:prstGeom prst="ellipse">
            <a:avLst/>
          </a:prstGeom>
          <a:solidFill>
            <a:srgbClr val="EEF4FC"/>
          </a:solidFill>
          <a:ln w="12700">
            <a:solidFill>
              <a:srgbClr val="EEF4FC"/>
            </a:solidFill>
            <a:prstDash val="solid"/>
          </a:ln>
        </p:spPr>
      </p:sp>
      <p:pic>
        <p:nvPicPr>
          <p:cNvPr id="11" name="Why 1 icon" descr="preencoded.png">    </p:cNvPr>
          <p:cNvPicPr>
            <a:picLocks noChangeAspect="1"/>
          </p:cNvPicPr>
          <p:nvPr/>
        </p:nvPicPr>
        <p:blipFill>
          <a:blip r:embed="rId2"/>
          <a:stretch>
            <a:fillRect/>
          </a:stretch>
        </p:blipFill>
        <p:spPr>
          <a:xfrm>
            <a:off x="4880610" y="1908810"/>
            <a:ext cx="251460" cy="251460"/>
          </a:xfrm>
          <a:prstGeom prst="rect">
            <a:avLst/>
          </a:prstGeom>
        </p:spPr>
      </p:pic>
      <p:sp>
        <p:nvSpPr>
          <p:cNvPr id="12" name="Text 8"/>
          <p:cNvSpPr txBox="1"/>
          <p:nvPr/>
        </p:nvSpPr>
        <p:spPr>
          <a:xfrm>
            <a:off x="5440680" y="1764792"/>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Repeated effort</a:t>
            </a:r>
            <a:endParaRPr lang="en-US" sz="1500" dirty="0"/>
          </a:p>
        </p:txBody>
      </p:sp>
      <p:sp>
        <p:nvSpPr>
          <p:cNvPr id="13" name="Text 9"/>
          <p:cNvSpPr txBox="1"/>
          <p:nvPr/>
        </p:nvSpPr>
        <p:spPr>
          <a:xfrm>
            <a:off x="5440680" y="2057400"/>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Users keep restating who they are and what they want</a:t>
            </a:r>
            <a:endParaRPr lang="en-US" sz="1300" dirty="0"/>
          </a:p>
        </p:txBody>
      </p:sp>
      <p:sp>
        <p:nvSpPr>
          <p:cNvPr id="14" name="Why 2 circle"/>
          <p:cNvSpPr/>
          <p:nvPr/>
        </p:nvSpPr>
        <p:spPr>
          <a:xfrm>
            <a:off x="4754880" y="2715768"/>
            <a:ext cx="502920" cy="502920"/>
          </a:xfrm>
          <a:prstGeom prst="ellipse">
            <a:avLst/>
          </a:prstGeom>
          <a:solidFill>
            <a:srgbClr val="EEF4FC"/>
          </a:solidFill>
          <a:ln w="12700">
            <a:solidFill>
              <a:srgbClr val="EEF4FC"/>
            </a:solidFill>
            <a:prstDash val="solid"/>
          </a:ln>
        </p:spPr>
      </p:sp>
      <p:pic>
        <p:nvPicPr>
          <p:cNvPr id="15" name="Why 2 icon" descr="preencoded.png">    </p:cNvPr>
          <p:cNvPicPr>
            <a:picLocks noChangeAspect="1"/>
          </p:cNvPicPr>
          <p:nvPr/>
        </p:nvPicPr>
        <p:blipFill>
          <a:blip r:embed="rId3"/>
          <a:stretch>
            <a:fillRect/>
          </a:stretch>
        </p:blipFill>
        <p:spPr>
          <a:xfrm>
            <a:off x="4880610" y="2841498"/>
            <a:ext cx="251460" cy="251460"/>
          </a:xfrm>
          <a:prstGeom prst="rect">
            <a:avLst/>
          </a:prstGeom>
        </p:spPr>
      </p:pic>
      <p:sp>
        <p:nvSpPr>
          <p:cNvPr id="16" name="Text 11"/>
          <p:cNvSpPr txBox="1"/>
          <p:nvPr/>
        </p:nvSpPr>
        <p:spPr>
          <a:xfrm>
            <a:off x="5440680" y="2697480"/>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Hidden memory</a:t>
            </a:r>
            <a:endParaRPr lang="en-US" sz="1500" dirty="0"/>
          </a:p>
        </p:txBody>
      </p:sp>
      <p:sp>
        <p:nvSpPr>
          <p:cNvPr id="17" name="Text 12"/>
          <p:cNvSpPr txBox="1"/>
          <p:nvPr/>
        </p:nvSpPr>
        <p:spPr>
          <a:xfrm>
            <a:off x="5440680" y="2990088"/>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When assistants do remember, users rarely see or control what was kept</a:t>
            </a:r>
            <a:endParaRPr lang="en-US" sz="1300" dirty="0"/>
          </a:p>
        </p:txBody>
      </p:sp>
      <p:sp>
        <p:nvSpPr>
          <p:cNvPr id="18" name="Why 3 circle"/>
          <p:cNvSpPr/>
          <p:nvPr/>
        </p:nvSpPr>
        <p:spPr>
          <a:xfrm>
            <a:off x="4754880" y="3648456"/>
            <a:ext cx="502920" cy="502920"/>
          </a:xfrm>
          <a:prstGeom prst="ellipse">
            <a:avLst/>
          </a:prstGeom>
          <a:solidFill>
            <a:srgbClr val="EEF4FC"/>
          </a:solidFill>
          <a:ln w="12700">
            <a:solidFill>
              <a:srgbClr val="EEF4FC"/>
            </a:solidFill>
            <a:prstDash val="solid"/>
          </a:ln>
        </p:spPr>
      </p:sp>
      <p:pic>
        <p:nvPicPr>
          <p:cNvPr id="19" name="Why 3 icon" descr="preencoded.png">    </p:cNvPr>
          <p:cNvPicPr>
            <a:picLocks noChangeAspect="1"/>
          </p:cNvPicPr>
          <p:nvPr/>
        </p:nvPicPr>
        <p:blipFill>
          <a:blip r:embed="rId4"/>
          <a:stretch>
            <a:fillRect/>
          </a:stretch>
        </p:blipFill>
        <p:spPr>
          <a:xfrm>
            <a:off x="4880610" y="3774186"/>
            <a:ext cx="251460" cy="251460"/>
          </a:xfrm>
          <a:prstGeom prst="rect">
            <a:avLst/>
          </a:prstGeom>
        </p:spPr>
      </p:pic>
      <p:sp>
        <p:nvSpPr>
          <p:cNvPr id="20" name="Text 14"/>
          <p:cNvSpPr txBox="1"/>
          <p:nvPr/>
        </p:nvSpPr>
        <p:spPr>
          <a:xfrm>
            <a:off x="5440680" y="3630168"/>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No evidence</a:t>
            </a:r>
            <a:endParaRPr lang="en-US" sz="1500" dirty="0"/>
          </a:p>
        </p:txBody>
      </p:sp>
      <p:sp>
        <p:nvSpPr>
          <p:cNvPr id="21" name="Text 15"/>
          <p:cNvSpPr txBox="1"/>
          <p:nvPr/>
        </p:nvSpPr>
        <p:spPr>
          <a:xfrm>
            <a:off x="5440680" y="3922776"/>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Few systems measure whether a memory actually helped</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THE LAB'S RESEARCH FOUND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Preferences matter more than facts</a:t>
            </a:r>
            <a:endParaRPr lang="en-US" sz="2800" dirty="0"/>
          </a:p>
        </p:txBody>
      </p:sp>
      <p:graphicFrame>
        <p:nvGraphicFramePr>
          <p:cNvPr id="4" name="Chart 0" descr=""/>
          <p:cNvGraphicFramePr/>
          <p:nvPr/>
        </p:nvGraphicFramePr>
        <p:xfrm>
          <a:off x="457200" y="1280160"/>
          <a:ext cx="4572000" cy="3337560"/>
        </p:xfrm>
        <a:graphic xmlns:a="http://schemas.openxmlformats.org/drawingml/2006/main">
          <a:graphicData uri="http://schemas.openxmlformats.org/drawingml/2006/chart">
            <c:chart xmlns:c="http://schemas.openxmlformats.org/drawingml/2006/chart" r:id="rId1"/>
          </a:graphicData>
        </a:graphic>
      </p:graphicFrame>
      <p:sp>
        <p:nvSpPr>
          <p:cNvPr id="5" name="Finding card"/>
          <p:cNvSpPr/>
          <p:nvPr/>
        </p:nvSpPr>
        <p:spPr>
          <a:xfrm>
            <a:off x="5303520" y="1325880"/>
            <a:ext cx="3383280" cy="3291840"/>
          </a:xfrm>
          <a:prstGeom prst="roundRect">
            <a:avLst>
              <a:gd name="adj" fmla="val 2778"/>
            </a:avLst>
          </a:prstGeom>
          <a:solidFill>
            <a:srgbClr val="EEF4FC"/>
          </a:solidFill>
          <a:ln w="12700">
            <a:solidFill>
              <a:srgbClr val="EEF4FC"/>
            </a:solidFill>
            <a:prstDash val="solid"/>
          </a:ln>
        </p:spPr>
      </p:sp>
      <p:sp>
        <p:nvSpPr>
          <p:cNvPr id="6" name="Text 3"/>
          <p:cNvSpPr txBox="1"/>
          <p:nvPr/>
        </p:nvSpPr>
        <p:spPr>
          <a:xfrm>
            <a:off x="5532120" y="1508760"/>
            <a:ext cx="2926080" cy="822960"/>
          </a:xfrm>
          <a:prstGeom prst="rect">
            <a:avLst/>
          </a:prstGeom>
          <a:noFill/>
          <a:ln/>
        </p:spPr>
        <p:txBody>
          <a:bodyPr wrap="square" lIns="0" tIns="0" rIns="0" bIns="0" rtlCol="0" anchor="ctr"/>
          <a:lstStyle/>
          <a:p>
            <a:pPr indent="0" marL="0">
              <a:buNone/>
            </a:pPr>
            <a:r>
              <a:rPr lang="en-US" sz="4800" b="1" dirty="0">
                <a:solidFill>
                  <a:srgbClr val="0040B8"/>
                </a:solidFill>
                <a:latin typeface="Arial" pitchFamily="34" charset="0"/>
                <a:ea typeface="Arial" pitchFamily="34" charset="-122"/>
                <a:cs typeface="Arial" pitchFamily="34" charset="-120"/>
              </a:rPr>
              <a:t>3.4 : 1</a:t>
            </a:r>
            <a:endParaRPr lang="en-US" sz="4800" dirty="0"/>
          </a:p>
        </p:txBody>
      </p:sp>
      <p:sp>
        <p:nvSpPr>
          <p:cNvPr id="7" name="Text 4"/>
          <p:cNvSpPr txBox="1"/>
          <p:nvPr/>
        </p:nvSpPr>
        <p:spPr>
          <a:xfrm>
            <a:off x="5532120" y="2286000"/>
            <a:ext cx="2971800" cy="86868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In self-improving AI systems, rules about how a person wants help were reused 3.4 times more often than domain facts.</a:t>
            </a:r>
            <a:endParaRPr lang="en-US" sz="1300" dirty="0"/>
          </a:p>
        </p:txBody>
      </p:sp>
      <p:sp>
        <p:nvSpPr>
          <p:cNvPr id="8" name="Text 5"/>
          <p:cNvSpPr txBox="1"/>
          <p:nvPr/>
        </p:nvSpPr>
        <p:spPr>
          <a:xfrm>
            <a:off x="5532120" y="3063240"/>
            <a:ext cx="2971800" cy="640080"/>
          </a:xfrm>
          <a:prstGeom prst="rect">
            <a:avLst/>
          </a:prstGeom>
          <a:noFill/>
          <a:ln/>
        </p:spPr>
        <p:txBody>
          <a:bodyPr wrap="square" lIns="0" tIns="0" rIns="0" bIns="0" rtlCol="0" anchor="t"/>
          <a:lstStyle/>
          <a:p>
            <a:pPr indent="0" marL="0">
              <a:buNone/>
            </a:pPr>
            <a:r>
              <a:rPr lang="en-US" sz="1200" b="1" i="1" dirty="0">
                <a:solidFill>
                  <a:srgbClr val="0040B8"/>
                </a:solidFill>
                <a:latin typeface="Calibri" pitchFamily="34" charset="0"/>
                <a:ea typeface="Calibri" pitchFamily="34" charset="-122"/>
                <a:cs typeface="Calibri" pitchFamily="34" charset="-120"/>
              </a:rPr>
              <a:t>In practice: </a:t>
            </a:r>
            <a:pPr indent="0" marL="0">
              <a:buNone/>
            </a:pPr>
            <a:r>
              <a:rPr lang="en-US" sz="1200" i="1" dirty="0">
                <a:solidFill>
                  <a:srgbClr val="1B2333"/>
                </a:solidFill>
                <a:latin typeface="Calibri" pitchFamily="34" charset="0"/>
                <a:ea typeface="Calibri" pitchFamily="34" charset="-122"/>
                <a:cs typeface="Calibri" pitchFamily="34" charset="-120"/>
              </a:rPr>
              <a:t>"use bullet points" helps with almost every question. "I study IT" only matters for some.</a:t>
            </a:r>
            <a:endParaRPr lang="en-US" sz="1200" dirty="0"/>
          </a:p>
        </p:txBody>
      </p:sp>
      <p:sp>
        <p:nvSpPr>
          <p:cNvPr id="9" name="Text 6"/>
          <p:cNvSpPr txBox="1"/>
          <p:nvPr/>
        </p:nvSpPr>
        <p:spPr>
          <a:xfrm>
            <a:off x="5532120" y="3886200"/>
            <a:ext cx="2971800" cy="64008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Parameswaran, Hussain &amp; Hossain (2026). The Human Layer of Agentic AI Memory. In AI-Driven Mathematics Education, Springer, pp. 35–52.</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THIS DIFFERS FROM EXISTING APPROACHES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current chatbots fall short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840480"/>
                <a:gridCol w="1463040"/>
                <a:gridCol w="1463040"/>
                <a:gridCol w="1463040"/>
              </a:tblGrid>
              <a:tr h="384048">
                <a:tc>
                  <a:txBody>
                    <a:bodyPr/>
                    <a:lstStyle/>
                    <a:p>
                      <a:pPr algn="ctr" indent="0" marL="0">
                        <a:buNone/>
                      </a:pP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FAQ chatbot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assistant memory</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AIDEX Assistant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01878"/>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Answers grounded in verified data</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Learns how each person likes answers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Separates preferences from facts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Measures which memories were actually used</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Switches off unhelpful memories by itself</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User can see, edit and delete memories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Runs on a local model, no outside company</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bl>
          </a:graphicData>
        </a:graphic>
      </p:graphicFrame>
      <p:sp>
        <p:nvSpPr>
          <p:cNvPr id="5" name="Text 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 yes   ~ partly or varies   ✗ usually not.  A general comparison of common approaches, not a benchmark of specific products.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CONTRIBUTIONS AND NOVELTY</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this work contributes</a:t>
            </a:r>
            <a:endParaRPr lang="en-US" sz="2800" dirty="0"/>
          </a:p>
        </p:txBody>
      </p:sp>
      <p:sp>
        <p:nvSpPr>
          <p:cNvPr id="4" name="Contribution 1"/>
          <p:cNvSpPr/>
          <p:nvPr/>
        </p:nvSpPr>
        <p:spPr>
          <a:xfrm>
            <a:off x="457200" y="1325880"/>
            <a:ext cx="4023360" cy="1508760"/>
          </a:xfrm>
          <a:prstGeom prst="roundRect">
            <a:avLst>
              <a:gd name="adj" fmla="val 6061"/>
            </a:avLst>
          </a:prstGeom>
          <a:solidFill>
            <a:srgbClr val="EEF4FC"/>
          </a:solidFill>
          <a:ln w="12700">
            <a:solidFill>
              <a:srgbClr val="EEF4FC"/>
            </a:solidFill>
            <a:prstDash val="solid"/>
          </a:ln>
        </p:spPr>
      </p:sp>
      <p:sp>
        <p:nvSpPr>
          <p:cNvPr id="5" name="Text 3"/>
          <p:cNvSpPr txBox="1"/>
          <p:nvPr/>
        </p:nvSpPr>
        <p:spPr>
          <a:xfrm>
            <a:off x="68580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1</a:t>
            </a:r>
            <a:endParaRPr lang="en-US" sz="3000" dirty="0"/>
          </a:p>
        </p:txBody>
      </p:sp>
      <p:sp>
        <p:nvSpPr>
          <p:cNvPr id="6" name="Contribution 1 circle"/>
          <p:cNvSpPr/>
          <p:nvPr/>
        </p:nvSpPr>
        <p:spPr>
          <a:xfrm>
            <a:off x="3794760" y="1527048"/>
            <a:ext cx="502920" cy="502920"/>
          </a:xfrm>
          <a:prstGeom prst="ellipse">
            <a:avLst/>
          </a:prstGeom>
          <a:solidFill>
            <a:srgbClr val="0040B8"/>
          </a:solidFill>
          <a:ln w="12700">
            <a:solidFill>
              <a:srgbClr val="0040B8"/>
            </a:solidFill>
            <a:prstDash val="solid"/>
          </a:ln>
        </p:spPr>
      </p:sp>
      <p:pic>
        <p:nvPicPr>
          <p:cNvPr id="7" name="Contribution 1 icon" descr="preencoded.png">    </p:cNvPr>
          <p:cNvPicPr>
            <a:picLocks noChangeAspect="1"/>
          </p:cNvPicPr>
          <p:nvPr/>
        </p:nvPicPr>
        <p:blipFill>
          <a:blip r:embed="rId1"/>
          <a:stretch>
            <a:fillRect/>
          </a:stretch>
        </p:blipFill>
        <p:spPr>
          <a:xfrm>
            <a:off x="3920490" y="1652778"/>
            <a:ext cx="251460" cy="251460"/>
          </a:xfrm>
          <a:prstGeom prst="rect">
            <a:avLst/>
          </a:prstGeom>
        </p:spPr>
      </p:pic>
      <p:sp>
        <p:nvSpPr>
          <p:cNvPr id="8" name="Text 5"/>
          <p:cNvSpPr txBox="1"/>
          <p:nvPr/>
        </p:nvSpPr>
        <p:spPr>
          <a:xfrm>
            <a:off x="114300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Two-layer memory</a:t>
            </a:r>
            <a:endParaRPr lang="en-US" sz="1700" dirty="0"/>
          </a:p>
        </p:txBody>
      </p:sp>
      <p:sp>
        <p:nvSpPr>
          <p:cNvPr id="9" name="Text 6"/>
          <p:cNvSpPr txBox="1"/>
          <p:nvPr/>
        </p:nvSpPr>
        <p:spPr>
          <a:xfrm>
            <a:off x="114300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Every memory is labelled as intent calibration or domain knowledge, the split from the paper</a:t>
            </a:r>
            <a:endParaRPr lang="en-US" sz="1300" dirty="0"/>
          </a:p>
        </p:txBody>
      </p:sp>
      <p:sp>
        <p:nvSpPr>
          <p:cNvPr id="10" name="Contribution 2"/>
          <p:cNvSpPr/>
          <p:nvPr/>
        </p:nvSpPr>
        <p:spPr>
          <a:xfrm>
            <a:off x="4663440" y="1325880"/>
            <a:ext cx="4023360" cy="1508760"/>
          </a:xfrm>
          <a:prstGeom prst="roundRect">
            <a:avLst>
              <a:gd name="adj" fmla="val 6061"/>
            </a:avLst>
          </a:prstGeom>
          <a:solidFill>
            <a:srgbClr val="EEF4FC"/>
          </a:solidFill>
          <a:ln w="12700">
            <a:solidFill>
              <a:srgbClr val="EEF4FC"/>
            </a:solidFill>
            <a:prstDash val="solid"/>
          </a:ln>
        </p:spPr>
      </p:sp>
      <p:sp>
        <p:nvSpPr>
          <p:cNvPr id="11" name="Text 8"/>
          <p:cNvSpPr txBox="1"/>
          <p:nvPr/>
        </p:nvSpPr>
        <p:spPr>
          <a:xfrm>
            <a:off x="489204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2</a:t>
            </a:r>
            <a:endParaRPr lang="en-US" sz="3000" dirty="0"/>
          </a:p>
        </p:txBody>
      </p:sp>
      <p:sp>
        <p:nvSpPr>
          <p:cNvPr id="12" name="Contribution 2 circle"/>
          <p:cNvSpPr/>
          <p:nvPr/>
        </p:nvSpPr>
        <p:spPr>
          <a:xfrm>
            <a:off x="8001000" y="1527048"/>
            <a:ext cx="502920" cy="502920"/>
          </a:xfrm>
          <a:prstGeom prst="ellipse">
            <a:avLst/>
          </a:prstGeom>
          <a:solidFill>
            <a:srgbClr val="0040B8"/>
          </a:solidFill>
          <a:ln w="12700">
            <a:solidFill>
              <a:srgbClr val="0040B8"/>
            </a:solidFill>
            <a:prstDash val="solid"/>
          </a:ln>
        </p:spPr>
      </p:sp>
      <p:pic>
        <p:nvPicPr>
          <p:cNvPr id="13" name="Contribution 2 icon" descr="preencoded.png">    </p:cNvPr>
          <p:cNvPicPr>
            <a:picLocks noChangeAspect="1"/>
          </p:cNvPicPr>
          <p:nvPr/>
        </p:nvPicPr>
        <p:blipFill>
          <a:blip r:embed="rId2"/>
          <a:stretch>
            <a:fillRect/>
          </a:stretch>
        </p:blipFill>
        <p:spPr>
          <a:xfrm>
            <a:off x="8126730" y="1652778"/>
            <a:ext cx="251460" cy="251460"/>
          </a:xfrm>
          <a:prstGeom prst="rect">
            <a:avLst/>
          </a:prstGeom>
        </p:spPr>
      </p:pic>
      <p:sp>
        <p:nvSpPr>
          <p:cNvPr id="14" name="Text 10"/>
          <p:cNvSpPr txBox="1"/>
          <p:nvPr/>
        </p:nvSpPr>
        <p:spPr>
          <a:xfrm>
            <a:off x="534924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Measured reuse</a:t>
            </a:r>
            <a:endParaRPr lang="en-US" sz="1700" dirty="0"/>
          </a:p>
        </p:txBody>
      </p:sp>
      <p:sp>
        <p:nvSpPr>
          <p:cNvPr id="15" name="Text 11"/>
          <p:cNvSpPr txBox="1"/>
          <p:nvPr/>
        </p:nvSpPr>
        <p:spPr>
          <a:xfrm>
            <a:off x="534924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The model reports which memories shaped each answer, so reuse is counted, not assumed</a:t>
            </a:r>
            <a:endParaRPr lang="en-US" sz="1300" dirty="0"/>
          </a:p>
        </p:txBody>
      </p:sp>
      <p:sp>
        <p:nvSpPr>
          <p:cNvPr id="16" name="Contribution 3"/>
          <p:cNvSpPr/>
          <p:nvPr/>
        </p:nvSpPr>
        <p:spPr>
          <a:xfrm>
            <a:off x="457200" y="3017520"/>
            <a:ext cx="4023360" cy="1508760"/>
          </a:xfrm>
          <a:prstGeom prst="roundRect">
            <a:avLst>
              <a:gd name="adj" fmla="val 6061"/>
            </a:avLst>
          </a:prstGeom>
          <a:solidFill>
            <a:srgbClr val="EEF4FC"/>
          </a:solidFill>
          <a:ln w="12700">
            <a:solidFill>
              <a:srgbClr val="EEF4FC"/>
            </a:solidFill>
            <a:prstDash val="solid"/>
          </a:ln>
        </p:spPr>
      </p:sp>
      <p:sp>
        <p:nvSpPr>
          <p:cNvPr id="17" name="Text 13"/>
          <p:cNvSpPr txBox="1"/>
          <p:nvPr/>
        </p:nvSpPr>
        <p:spPr>
          <a:xfrm>
            <a:off x="68580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3</a:t>
            </a:r>
            <a:endParaRPr lang="en-US" sz="3000" dirty="0"/>
          </a:p>
        </p:txBody>
      </p:sp>
      <p:sp>
        <p:nvSpPr>
          <p:cNvPr id="18" name="Contribution 3 circle"/>
          <p:cNvSpPr/>
          <p:nvPr/>
        </p:nvSpPr>
        <p:spPr>
          <a:xfrm>
            <a:off x="3794760" y="3218688"/>
            <a:ext cx="502920" cy="502920"/>
          </a:xfrm>
          <a:prstGeom prst="ellipse">
            <a:avLst/>
          </a:prstGeom>
          <a:solidFill>
            <a:srgbClr val="0040B8"/>
          </a:solidFill>
          <a:ln w="12700">
            <a:solidFill>
              <a:srgbClr val="0040B8"/>
            </a:solidFill>
            <a:prstDash val="solid"/>
          </a:ln>
        </p:spPr>
      </p:sp>
      <p:pic>
        <p:nvPicPr>
          <p:cNvPr id="19" name="Contribution 3 icon" descr="preencoded.png">    </p:cNvPr>
          <p:cNvPicPr>
            <a:picLocks noChangeAspect="1"/>
          </p:cNvPicPr>
          <p:nvPr/>
        </p:nvPicPr>
        <p:blipFill>
          <a:blip r:embed="rId3"/>
          <a:stretch>
            <a:fillRect/>
          </a:stretch>
        </p:blipFill>
        <p:spPr>
          <a:xfrm>
            <a:off x="3920490" y="3344418"/>
            <a:ext cx="251460" cy="251460"/>
          </a:xfrm>
          <a:prstGeom prst="rect">
            <a:avLst/>
          </a:prstGeom>
        </p:spPr>
      </p:pic>
      <p:sp>
        <p:nvSpPr>
          <p:cNvPr id="20" name="Text 15"/>
          <p:cNvSpPr txBox="1"/>
          <p:nvPr/>
        </p:nvSpPr>
        <p:spPr>
          <a:xfrm>
            <a:off x="114300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Self-correcting loop</a:t>
            </a:r>
            <a:endParaRPr lang="en-US" sz="1700" dirty="0"/>
          </a:p>
        </p:txBody>
      </p:sp>
      <p:sp>
        <p:nvSpPr>
          <p:cNvPr id="21" name="Text 16"/>
          <p:cNvSpPr txBox="1"/>
          <p:nvPr/>
        </p:nvSpPr>
        <p:spPr>
          <a:xfrm>
            <a:off x="114300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Corrections, feedback and disuse switch memories off automatically, with a reason</a:t>
            </a:r>
            <a:endParaRPr lang="en-US" sz="1300" dirty="0"/>
          </a:p>
        </p:txBody>
      </p:sp>
      <p:sp>
        <p:nvSpPr>
          <p:cNvPr id="22" name="Contribution 4"/>
          <p:cNvSpPr/>
          <p:nvPr/>
        </p:nvSpPr>
        <p:spPr>
          <a:xfrm>
            <a:off x="4663440" y="3017520"/>
            <a:ext cx="4023360" cy="1508760"/>
          </a:xfrm>
          <a:prstGeom prst="roundRect">
            <a:avLst>
              <a:gd name="adj" fmla="val 6061"/>
            </a:avLst>
          </a:prstGeom>
          <a:solidFill>
            <a:srgbClr val="EEF4FC"/>
          </a:solidFill>
          <a:ln w="12700">
            <a:solidFill>
              <a:srgbClr val="EEF4FC"/>
            </a:solidFill>
            <a:prstDash val="solid"/>
          </a:ln>
        </p:spPr>
      </p:sp>
      <p:sp>
        <p:nvSpPr>
          <p:cNvPr id="23" name="Text 18"/>
          <p:cNvSpPr txBox="1"/>
          <p:nvPr/>
        </p:nvSpPr>
        <p:spPr>
          <a:xfrm>
            <a:off x="489204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4</a:t>
            </a:r>
            <a:endParaRPr lang="en-US" sz="3000" dirty="0"/>
          </a:p>
        </p:txBody>
      </p:sp>
      <p:sp>
        <p:nvSpPr>
          <p:cNvPr id="24" name="Contribution 4 circle"/>
          <p:cNvSpPr/>
          <p:nvPr/>
        </p:nvSpPr>
        <p:spPr>
          <a:xfrm>
            <a:off x="8001000" y="3218688"/>
            <a:ext cx="502920" cy="502920"/>
          </a:xfrm>
          <a:prstGeom prst="ellipse">
            <a:avLst/>
          </a:prstGeom>
          <a:solidFill>
            <a:srgbClr val="0040B8"/>
          </a:solidFill>
          <a:ln w="12700">
            <a:solidFill>
              <a:srgbClr val="0040B8"/>
            </a:solidFill>
            <a:prstDash val="solid"/>
          </a:ln>
        </p:spPr>
      </p:sp>
      <p:pic>
        <p:nvPicPr>
          <p:cNvPr id="25" name="Contribution 4 icon" descr="preencoded.png">    </p:cNvPr>
          <p:cNvPicPr>
            <a:picLocks noChangeAspect="1"/>
          </p:cNvPicPr>
          <p:nvPr/>
        </p:nvPicPr>
        <p:blipFill>
          <a:blip r:embed="rId4"/>
          <a:stretch>
            <a:fillRect/>
          </a:stretch>
        </p:blipFill>
        <p:spPr>
          <a:xfrm>
            <a:off x="8126730" y="3344418"/>
            <a:ext cx="251460" cy="251460"/>
          </a:xfrm>
          <a:prstGeom prst="rect">
            <a:avLst/>
          </a:prstGeom>
        </p:spPr>
      </p:pic>
      <p:sp>
        <p:nvSpPr>
          <p:cNvPr id="26" name="Text 20"/>
          <p:cNvSpPr txBox="1"/>
          <p:nvPr/>
        </p:nvSpPr>
        <p:spPr>
          <a:xfrm>
            <a:off x="534924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Transparent and private</a:t>
            </a:r>
            <a:endParaRPr lang="en-US" sz="1700" dirty="0"/>
          </a:p>
        </p:txBody>
      </p:sp>
      <p:sp>
        <p:nvSpPr>
          <p:cNvPr id="27" name="Text 21"/>
          <p:cNvSpPr txBox="1"/>
          <p:nvPr/>
        </p:nvSpPr>
        <p:spPr>
          <a:xfrm>
            <a:off x="534924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Opt-in, editable memory, consent and withdrawal, and a local AI model</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gets remembered?</a:t>
            </a:r>
            <a:endParaRPr lang="en-US" sz="2800" dirty="0"/>
          </a:p>
        </p:txBody>
      </p:sp>
      <p:sp>
        <p:nvSpPr>
          <p:cNvPr id="4" name="Text 2"/>
          <p:cNvSpPr txBox="1"/>
          <p:nvPr/>
        </p:nvSpPr>
        <p:spPr>
          <a:xfrm>
            <a:off x="457200" y="1234440"/>
            <a:ext cx="2743200" cy="274320"/>
          </a:xfrm>
          <a:prstGeom prst="rect">
            <a:avLst/>
          </a:prstGeom>
          <a:noFill/>
          <a:ln/>
        </p:spPr>
        <p:txBody>
          <a:bodyPr wrap="square" lIns="0" tIns="0" rIns="0" bIns="0" rtlCol="0" anchor="ctr"/>
          <a:lstStyle/>
          <a:p>
            <a:pPr indent="0" marL="0">
              <a:buNone/>
            </a:pPr>
            <a:r>
              <a:rPr lang="en-US" sz="1300" b="1" dirty="0">
                <a:solidFill>
                  <a:srgbClr val="5A6478"/>
                </a:solidFill>
                <a:latin typeface="Arial" pitchFamily="34" charset="0"/>
                <a:ea typeface="Arial" pitchFamily="34" charset="-122"/>
                <a:cs typeface="Arial" pitchFamily="34" charset="-120"/>
              </a:rPr>
              <a:t>User says…</a:t>
            </a:r>
            <a:endParaRPr lang="en-US" sz="1300" dirty="0"/>
          </a:p>
        </p:txBody>
      </p:sp>
      <p:sp>
        <p:nvSpPr>
          <p:cNvPr id="5" name="Text 3"/>
          <p:cNvSpPr txBox="1"/>
          <p:nvPr/>
        </p:nvSpPr>
        <p:spPr>
          <a:xfrm>
            <a:off x="4251960" y="1234440"/>
            <a:ext cx="1188720" cy="274320"/>
          </a:xfrm>
          <a:prstGeom prst="rect">
            <a:avLst/>
          </a:prstGeom>
          <a:noFill/>
          <a:ln/>
        </p:spPr>
        <p:txBody>
          <a:bodyPr wrap="square" lIns="0" tIns="0" rIns="0" bIns="0" rtlCol="0" anchor="ctr"/>
          <a:lstStyle/>
          <a:p>
            <a:pPr algn="ctr" indent="0" marL="0">
              <a:buNone/>
            </a:pPr>
            <a:r>
              <a:rPr lang="en-US" sz="1300" b="1" dirty="0">
                <a:solidFill>
                  <a:srgbClr val="5A6478"/>
                </a:solidFill>
                <a:latin typeface="Arial" pitchFamily="34" charset="0"/>
                <a:ea typeface="Arial" pitchFamily="34" charset="-122"/>
                <a:cs typeface="Arial" pitchFamily="34" charset="-120"/>
              </a:rPr>
              <a:t>Saved as</a:t>
            </a:r>
            <a:endParaRPr lang="en-US" sz="1300" dirty="0"/>
          </a:p>
        </p:txBody>
      </p:sp>
      <p:sp>
        <p:nvSpPr>
          <p:cNvPr id="6" name="Message 1"/>
          <p:cNvSpPr/>
          <p:nvPr/>
        </p:nvSpPr>
        <p:spPr>
          <a:xfrm>
            <a:off x="457200" y="1572768"/>
            <a:ext cx="5120640" cy="356616"/>
          </a:xfrm>
          <a:prstGeom prst="roundRect">
            <a:avLst>
              <a:gd name="adj" fmla="val 25641"/>
            </a:avLst>
          </a:prstGeom>
          <a:solidFill>
            <a:srgbClr val="EEF4FC"/>
          </a:solidFill>
          <a:ln w="12700">
            <a:solidFill>
              <a:srgbClr val="EEF4FC"/>
            </a:solidFill>
            <a:prstDash val="solid"/>
          </a:ln>
        </p:spPr>
      </p:sp>
      <p:sp>
        <p:nvSpPr>
          <p:cNvPr id="7" name="Text 5"/>
          <p:cNvSpPr txBox="1"/>
          <p:nvPr/>
        </p:nvSpPr>
        <p:spPr>
          <a:xfrm>
            <a:off x="594360" y="157276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"From now on, keep answers under 50 words."</a:t>
            </a:r>
            <a:endParaRPr lang="en-US" sz="1300" dirty="0"/>
          </a:p>
        </p:txBody>
      </p:sp>
      <p:sp>
        <p:nvSpPr>
          <p:cNvPr id="8" name="Tag 1"/>
          <p:cNvSpPr/>
          <p:nvPr/>
        </p:nvSpPr>
        <p:spPr>
          <a:xfrm>
            <a:off x="4297680" y="1627632"/>
            <a:ext cx="1143000" cy="246888"/>
          </a:xfrm>
          <a:prstGeom prst="roundRect">
            <a:avLst>
              <a:gd name="adj" fmla="val 48148"/>
            </a:avLst>
          </a:prstGeom>
          <a:solidFill>
            <a:srgbClr val="0040B8"/>
          </a:solidFill>
          <a:ln w="12700">
            <a:solidFill>
              <a:srgbClr val="0040B8"/>
            </a:solidFill>
            <a:prstDash val="solid"/>
          </a:ln>
        </p:spPr>
      </p:sp>
      <p:sp>
        <p:nvSpPr>
          <p:cNvPr id="9" name="Text 7"/>
          <p:cNvSpPr txBox="1"/>
          <p:nvPr/>
        </p:nvSpPr>
        <p:spPr>
          <a:xfrm>
            <a:off x="4297680" y="1627632"/>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0" name="Message 2"/>
          <p:cNvSpPr/>
          <p:nvPr/>
        </p:nvSpPr>
        <p:spPr>
          <a:xfrm>
            <a:off x="457200" y="2002536"/>
            <a:ext cx="5120640" cy="356616"/>
          </a:xfrm>
          <a:prstGeom prst="roundRect">
            <a:avLst>
              <a:gd name="adj" fmla="val 25641"/>
            </a:avLst>
          </a:prstGeom>
          <a:solidFill>
            <a:srgbClr val="EEF4FC"/>
          </a:solidFill>
          <a:ln w="12700">
            <a:solidFill>
              <a:srgbClr val="EEF4FC"/>
            </a:solidFill>
            <a:prstDash val="solid"/>
          </a:ln>
        </p:spPr>
      </p:sp>
      <p:sp>
        <p:nvSpPr>
          <p:cNvPr id="11" name="Text 9"/>
          <p:cNvSpPr txBox="1"/>
          <p:nvPr/>
        </p:nvSpPr>
        <p:spPr>
          <a:xfrm>
            <a:off x="594360" y="200253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"Please always use bullet points."</a:t>
            </a:r>
            <a:endParaRPr lang="en-US" sz="1300" dirty="0"/>
          </a:p>
        </p:txBody>
      </p:sp>
      <p:sp>
        <p:nvSpPr>
          <p:cNvPr id="12" name="Tag 2"/>
          <p:cNvSpPr/>
          <p:nvPr/>
        </p:nvSpPr>
        <p:spPr>
          <a:xfrm>
            <a:off x="4297680" y="2057400"/>
            <a:ext cx="1143000" cy="246888"/>
          </a:xfrm>
          <a:prstGeom prst="roundRect">
            <a:avLst>
              <a:gd name="adj" fmla="val 48148"/>
            </a:avLst>
          </a:prstGeom>
          <a:solidFill>
            <a:srgbClr val="0040B8"/>
          </a:solidFill>
          <a:ln w="12700">
            <a:solidFill>
              <a:srgbClr val="0040B8"/>
            </a:solidFill>
            <a:prstDash val="solid"/>
          </a:ln>
        </p:spPr>
      </p:sp>
      <p:sp>
        <p:nvSpPr>
          <p:cNvPr id="13" name="Text 11"/>
          <p:cNvSpPr txBox="1"/>
          <p:nvPr/>
        </p:nvSpPr>
        <p:spPr>
          <a:xfrm>
            <a:off x="4297680" y="2057400"/>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4" name="Message 3"/>
          <p:cNvSpPr/>
          <p:nvPr/>
        </p:nvSpPr>
        <p:spPr>
          <a:xfrm>
            <a:off x="457200" y="2432304"/>
            <a:ext cx="5120640" cy="356616"/>
          </a:xfrm>
          <a:prstGeom prst="roundRect">
            <a:avLst>
              <a:gd name="adj" fmla="val 25641"/>
            </a:avLst>
          </a:prstGeom>
          <a:solidFill>
            <a:srgbClr val="EEF4FC"/>
          </a:solidFill>
          <a:ln w="12700">
            <a:solidFill>
              <a:srgbClr val="EEF4FC"/>
            </a:solidFill>
            <a:prstDash val="solid"/>
          </a:ln>
        </p:spPr>
      </p:sp>
      <p:sp>
        <p:nvSpPr>
          <p:cNvPr id="15" name="Text 13"/>
          <p:cNvSpPr txBox="1"/>
          <p:nvPr/>
        </p:nvSpPr>
        <p:spPr>
          <a:xfrm>
            <a:off x="594360" y="2432304"/>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"No, I meant the publications, not the people."</a:t>
            </a:r>
            <a:endParaRPr lang="en-US" sz="1300" dirty="0"/>
          </a:p>
        </p:txBody>
      </p:sp>
      <p:sp>
        <p:nvSpPr>
          <p:cNvPr id="16" name="Tag 3"/>
          <p:cNvSpPr/>
          <p:nvPr/>
        </p:nvSpPr>
        <p:spPr>
          <a:xfrm>
            <a:off x="4297680" y="2487168"/>
            <a:ext cx="1143000" cy="246888"/>
          </a:xfrm>
          <a:prstGeom prst="roundRect">
            <a:avLst>
              <a:gd name="adj" fmla="val 48148"/>
            </a:avLst>
          </a:prstGeom>
          <a:solidFill>
            <a:srgbClr val="0040B8"/>
          </a:solidFill>
          <a:ln w="12700">
            <a:solidFill>
              <a:srgbClr val="0040B8"/>
            </a:solidFill>
            <a:prstDash val="solid"/>
          </a:ln>
        </p:spPr>
      </p:sp>
      <p:sp>
        <p:nvSpPr>
          <p:cNvPr id="17" name="Text 15"/>
          <p:cNvSpPr txBox="1"/>
          <p:nvPr/>
        </p:nvSpPr>
        <p:spPr>
          <a:xfrm>
            <a:off x="4297680" y="2487168"/>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8" name="Message 4"/>
          <p:cNvSpPr/>
          <p:nvPr/>
        </p:nvSpPr>
        <p:spPr>
          <a:xfrm>
            <a:off x="457200" y="2862072"/>
            <a:ext cx="5120640" cy="356616"/>
          </a:xfrm>
          <a:prstGeom prst="roundRect">
            <a:avLst>
              <a:gd name="adj" fmla="val 25641"/>
            </a:avLst>
          </a:prstGeom>
          <a:solidFill>
            <a:srgbClr val="EEF4FC"/>
          </a:solidFill>
          <a:ln w="12700">
            <a:solidFill>
              <a:srgbClr val="EEF4FC"/>
            </a:solidFill>
            <a:prstDash val="solid"/>
          </a:ln>
        </p:spPr>
      </p:sp>
      <p:sp>
        <p:nvSpPr>
          <p:cNvPr id="19" name="Text 17"/>
          <p:cNvSpPr txBox="1"/>
          <p:nvPr/>
        </p:nvSpPr>
        <p:spPr>
          <a:xfrm>
            <a:off x="594360" y="2862072"/>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Bachelor of IT student."</a:t>
            </a:r>
            <a:endParaRPr lang="en-US" sz="1300" dirty="0"/>
          </a:p>
        </p:txBody>
      </p:sp>
      <p:sp>
        <p:nvSpPr>
          <p:cNvPr id="20" name="Tag 4"/>
          <p:cNvSpPr/>
          <p:nvPr/>
        </p:nvSpPr>
        <p:spPr>
          <a:xfrm>
            <a:off x="4297680" y="2916936"/>
            <a:ext cx="1143000" cy="246888"/>
          </a:xfrm>
          <a:prstGeom prst="roundRect">
            <a:avLst>
              <a:gd name="adj" fmla="val 48148"/>
            </a:avLst>
          </a:prstGeom>
          <a:solidFill>
            <a:srgbClr val="00D4F0"/>
          </a:solidFill>
          <a:ln w="12700">
            <a:solidFill>
              <a:srgbClr val="00D4F0"/>
            </a:solidFill>
            <a:prstDash val="solid"/>
          </a:ln>
        </p:spPr>
      </p:sp>
      <p:sp>
        <p:nvSpPr>
          <p:cNvPr id="21" name="Text 19"/>
          <p:cNvSpPr txBox="1"/>
          <p:nvPr/>
        </p:nvSpPr>
        <p:spPr>
          <a:xfrm>
            <a:off x="4297680" y="2916936"/>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2" name="Message 5"/>
          <p:cNvSpPr/>
          <p:nvPr/>
        </p:nvSpPr>
        <p:spPr>
          <a:xfrm>
            <a:off x="457200" y="3291840"/>
            <a:ext cx="5120640" cy="356616"/>
          </a:xfrm>
          <a:prstGeom prst="roundRect">
            <a:avLst>
              <a:gd name="adj" fmla="val 25641"/>
            </a:avLst>
          </a:prstGeom>
          <a:solidFill>
            <a:srgbClr val="EEF4FC"/>
          </a:solidFill>
          <a:ln w="12700">
            <a:solidFill>
              <a:srgbClr val="EEF4FC"/>
            </a:solidFill>
            <a:prstDash val="solid"/>
          </a:ln>
        </p:spPr>
      </p:sp>
      <p:sp>
        <p:nvSpPr>
          <p:cNvPr id="23" name="Text 21"/>
          <p:cNvSpPr txBox="1"/>
          <p:nvPr/>
        </p:nvSpPr>
        <p:spPr>
          <a:xfrm>
            <a:off x="594360" y="3291840"/>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interested in agentic AI."</a:t>
            </a:r>
            <a:endParaRPr lang="en-US" sz="1300" dirty="0"/>
          </a:p>
        </p:txBody>
      </p:sp>
      <p:sp>
        <p:nvSpPr>
          <p:cNvPr id="24" name="Tag 5"/>
          <p:cNvSpPr/>
          <p:nvPr/>
        </p:nvSpPr>
        <p:spPr>
          <a:xfrm>
            <a:off x="4297680" y="3346704"/>
            <a:ext cx="1143000" cy="246888"/>
          </a:xfrm>
          <a:prstGeom prst="roundRect">
            <a:avLst>
              <a:gd name="adj" fmla="val 48148"/>
            </a:avLst>
          </a:prstGeom>
          <a:solidFill>
            <a:srgbClr val="00D4F0"/>
          </a:solidFill>
          <a:ln w="12700">
            <a:solidFill>
              <a:srgbClr val="00D4F0"/>
            </a:solidFill>
            <a:prstDash val="solid"/>
          </a:ln>
        </p:spPr>
      </p:sp>
      <p:sp>
        <p:nvSpPr>
          <p:cNvPr id="25" name="Text 23"/>
          <p:cNvSpPr txBox="1"/>
          <p:nvPr/>
        </p:nvSpPr>
        <p:spPr>
          <a:xfrm>
            <a:off x="4297680" y="3346704"/>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6" name="Message 6"/>
          <p:cNvSpPr/>
          <p:nvPr/>
        </p:nvSpPr>
        <p:spPr>
          <a:xfrm>
            <a:off x="457200" y="3721608"/>
            <a:ext cx="5120640" cy="356616"/>
          </a:xfrm>
          <a:prstGeom prst="roundRect">
            <a:avLst>
              <a:gd name="adj" fmla="val 25641"/>
            </a:avLst>
          </a:prstGeom>
          <a:solidFill>
            <a:srgbClr val="EEF4FC"/>
          </a:solidFill>
          <a:ln w="12700">
            <a:solidFill>
              <a:srgbClr val="EEF4FC"/>
            </a:solidFill>
            <a:prstDash val="solid"/>
          </a:ln>
        </p:spPr>
      </p:sp>
      <p:sp>
        <p:nvSpPr>
          <p:cNvPr id="27" name="Text 25"/>
          <p:cNvSpPr txBox="1"/>
          <p:nvPr/>
        </p:nvSpPr>
        <p:spPr>
          <a:xfrm>
            <a:off x="594360" y="372160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"Who leads the lab?"</a:t>
            </a:r>
            <a:endParaRPr lang="en-US" sz="1300" dirty="0"/>
          </a:p>
        </p:txBody>
      </p:sp>
      <p:sp>
        <p:nvSpPr>
          <p:cNvPr id="28" name="Tag 6"/>
          <p:cNvSpPr/>
          <p:nvPr/>
        </p:nvSpPr>
        <p:spPr>
          <a:xfrm>
            <a:off x="4297680" y="3776472"/>
            <a:ext cx="1143000" cy="246888"/>
          </a:xfrm>
          <a:prstGeom prst="roundRect">
            <a:avLst>
              <a:gd name="adj" fmla="val 48148"/>
            </a:avLst>
          </a:prstGeom>
          <a:solidFill>
            <a:srgbClr val="D5DCE8"/>
          </a:solidFill>
          <a:ln w="12700">
            <a:solidFill>
              <a:srgbClr val="D5DCE8"/>
            </a:solidFill>
            <a:prstDash val="solid"/>
          </a:ln>
        </p:spPr>
      </p:sp>
      <p:sp>
        <p:nvSpPr>
          <p:cNvPr id="29" name="Text 27"/>
          <p:cNvSpPr txBox="1"/>
          <p:nvPr/>
        </p:nvSpPr>
        <p:spPr>
          <a:xfrm>
            <a:off x="4297680" y="3776472"/>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0" name="Message 7"/>
          <p:cNvSpPr/>
          <p:nvPr/>
        </p:nvSpPr>
        <p:spPr>
          <a:xfrm>
            <a:off x="457200" y="4151376"/>
            <a:ext cx="5120640" cy="356616"/>
          </a:xfrm>
          <a:prstGeom prst="roundRect">
            <a:avLst>
              <a:gd name="adj" fmla="val 25641"/>
            </a:avLst>
          </a:prstGeom>
          <a:solidFill>
            <a:srgbClr val="EEF4FC"/>
          </a:solidFill>
          <a:ln w="12700">
            <a:solidFill>
              <a:srgbClr val="EEF4FC"/>
            </a:solidFill>
            <a:prstDash val="solid"/>
          </a:ln>
        </p:spPr>
      </p:sp>
      <p:sp>
        <p:nvSpPr>
          <p:cNvPr id="31" name="Text 29"/>
          <p:cNvSpPr txBox="1"/>
          <p:nvPr/>
        </p:nvSpPr>
        <p:spPr>
          <a:xfrm>
            <a:off x="594360" y="415137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patient with a medical condition."</a:t>
            </a:r>
            <a:endParaRPr lang="en-US" sz="1300" dirty="0"/>
          </a:p>
        </p:txBody>
      </p:sp>
      <p:sp>
        <p:nvSpPr>
          <p:cNvPr id="32" name="Tag 7"/>
          <p:cNvSpPr/>
          <p:nvPr/>
        </p:nvSpPr>
        <p:spPr>
          <a:xfrm>
            <a:off x="4297680" y="4206240"/>
            <a:ext cx="1143000" cy="246888"/>
          </a:xfrm>
          <a:prstGeom prst="roundRect">
            <a:avLst>
              <a:gd name="adj" fmla="val 48148"/>
            </a:avLst>
          </a:prstGeom>
          <a:solidFill>
            <a:srgbClr val="D5DCE8"/>
          </a:solidFill>
          <a:ln w="12700">
            <a:solidFill>
              <a:srgbClr val="D5DCE8"/>
            </a:solidFill>
            <a:prstDash val="solid"/>
          </a:ln>
        </p:spPr>
      </p:sp>
      <p:sp>
        <p:nvSpPr>
          <p:cNvPr id="33" name="Text 31"/>
          <p:cNvSpPr txBox="1"/>
          <p:nvPr/>
        </p:nvSpPr>
        <p:spPr>
          <a:xfrm>
            <a:off x="4297680" y="4206240"/>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4" name="Legend 1"/>
          <p:cNvSpPr/>
          <p:nvPr/>
        </p:nvSpPr>
        <p:spPr>
          <a:xfrm>
            <a:off x="5897880" y="1325880"/>
            <a:ext cx="2788920" cy="987552"/>
          </a:xfrm>
          <a:prstGeom prst="roundRect">
            <a:avLst>
              <a:gd name="adj" fmla="val 9259"/>
            </a:avLst>
          </a:prstGeom>
          <a:solidFill>
            <a:srgbClr val="001878"/>
          </a:solidFill>
          <a:ln w="12700">
            <a:solidFill>
              <a:srgbClr val="001878"/>
            </a:solidFill>
            <a:prstDash val="solid"/>
          </a:ln>
        </p:spPr>
      </p:sp>
      <p:sp>
        <p:nvSpPr>
          <p:cNvPr id="35" name="Legend 1 circle"/>
          <p:cNvSpPr/>
          <p:nvPr/>
        </p:nvSpPr>
        <p:spPr>
          <a:xfrm>
            <a:off x="6053328" y="1481328"/>
            <a:ext cx="411480" cy="411480"/>
          </a:xfrm>
          <a:prstGeom prst="ellipse">
            <a:avLst/>
          </a:prstGeom>
          <a:solidFill>
            <a:srgbClr val="0040B8"/>
          </a:solidFill>
          <a:ln w="12700">
            <a:solidFill>
              <a:srgbClr val="0040B8"/>
            </a:solidFill>
            <a:prstDash val="solid"/>
          </a:ln>
        </p:spPr>
      </p:sp>
      <p:pic>
        <p:nvPicPr>
          <p:cNvPr id="36" name="Legend 1 icon" descr="preencoded.png">    </p:cNvPr>
          <p:cNvPicPr>
            <a:picLocks noChangeAspect="1"/>
          </p:cNvPicPr>
          <p:nvPr/>
        </p:nvPicPr>
        <p:blipFill>
          <a:blip r:embed="rId1"/>
          <a:stretch>
            <a:fillRect/>
          </a:stretch>
        </p:blipFill>
        <p:spPr>
          <a:xfrm>
            <a:off x="6156198" y="1584198"/>
            <a:ext cx="205740" cy="205740"/>
          </a:xfrm>
          <a:prstGeom prst="rect">
            <a:avLst/>
          </a:prstGeom>
        </p:spPr>
      </p:pic>
      <p:sp>
        <p:nvSpPr>
          <p:cNvPr id="37" name="Text 34"/>
          <p:cNvSpPr txBox="1"/>
          <p:nvPr/>
        </p:nvSpPr>
        <p:spPr>
          <a:xfrm>
            <a:off x="6583680" y="146304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Intent calibration</a:t>
            </a:r>
            <a:endParaRPr lang="en-US" sz="1300" dirty="0"/>
          </a:p>
        </p:txBody>
      </p:sp>
      <p:sp>
        <p:nvSpPr>
          <p:cNvPr id="38" name="Text 35"/>
          <p:cNvSpPr txBox="1"/>
          <p:nvPr/>
        </p:nvSpPr>
        <p:spPr>
          <a:xfrm>
            <a:off x="6583680" y="1764792"/>
            <a:ext cx="2011680" cy="502920"/>
          </a:xfrm>
          <a:prstGeom prst="rect">
            <a:avLst/>
          </a:prstGeom>
          <a:noFill/>
          <a:ln/>
        </p:spPr>
        <p:txBody>
          <a:bodyPr wrap="square" lIns="0" tIns="0" rIns="0" bIns="0" rtlCol="0" anchor="t"/>
          <a:lstStyle/>
          <a:p>
            <a:pPr indent="0" marL="0">
              <a:buNone/>
            </a:pPr>
            <a:r>
              <a:rPr lang="en-US" sz="1050" dirty="0">
                <a:solidFill>
                  <a:srgbClr val="BFD4F2"/>
                </a:solidFill>
                <a:latin typeface="Calibri" pitchFamily="34" charset="0"/>
                <a:ea typeface="Calibri" pitchFamily="34" charset="-122"/>
                <a:cs typeface="Calibri" pitchFamily="34" charset="-120"/>
              </a:rPr>
              <a:t>How the person likes to be helped, including what they mean when they correct it</a:t>
            </a:r>
            <a:endParaRPr lang="en-US" sz="1050" dirty="0"/>
          </a:p>
        </p:txBody>
      </p:sp>
      <p:sp>
        <p:nvSpPr>
          <p:cNvPr id="39" name="Legend 2"/>
          <p:cNvSpPr/>
          <p:nvPr/>
        </p:nvSpPr>
        <p:spPr>
          <a:xfrm>
            <a:off x="5897880" y="2441448"/>
            <a:ext cx="2788920" cy="987552"/>
          </a:xfrm>
          <a:prstGeom prst="roundRect">
            <a:avLst>
              <a:gd name="adj" fmla="val 9259"/>
            </a:avLst>
          </a:prstGeom>
          <a:solidFill>
            <a:srgbClr val="EEF4FC"/>
          </a:solidFill>
          <a:ln w="12700">
            <a:solidFill>
              <a:srgbClr val="EEF4FC"/>
            </a:solidFill>
            <a:prstDash val="solid"/>
          </a:ln>
        </p:spPr>
      </p:sp>
      <p:sp>
        <p:nvSpPr>
          <p:cNvPr id="40" name="Legend 2 circle"/>
          <p:cNvSpPr/>
          <p:nvPr/>
        </p:nvSpPr>
        <p:spPr>
          <a:xfrm>
            <a:off x="6053328" y="2596896"/>
            <a:ext cx="411480" cy="411480"/>
          </a:xfrm>
          <a:prstGeom prst="ellipse">
            <a:avLst/>
          </a:prstGeom>
          <a:solidFill>
            <a:srgbClr val="00D4F0"/>
          </a:solidFill>
          <a:ln w="12700">
            <a:solidFill>
              <a:srgbClr val="00D4F0"/>
            </a:solidFill>
            <a:prstDash val="solid"/>
          </a:ln>
        </p:spPr>
      </p:sp>
      <p:pic>
        <p:nvPicPr>
          <p:cNvPr id="41" name="Legend 2 icon" descr="preencoded.png">    </p:cNvPr>
          <p:cNvPicPr>
            <a:picLocks noChangeAspect="1"/>
          </p:cNvPicPr>
          <p:nvPr/>
        </p:nvPicPr>
        <p:blipFill>
          <a:blip r:embed="rId2"/>
          <a:stretch>
            <a:fillRect/>
          </a:stretch>
        </p:blipFill>
        <p:spPr>
          <a:xfrm>
            <a:off x="6156198" y="2699766"/>
            <a:ext cx="205740" cy="205740"/>
          </a:xfrm>
          <a:prstGeom prst="rect">
            <a:avLst/>
          </a:prstGeom>
        </p:spPr>
      </p:pic>
      <p:sp>
        <p:nvSpPr>
          <p:cNvPr id="42" name="Text 38"/>
          <p:cNvSpPr txBox="1"/>
          <p:nvPr/>
        </p:nvSpPr>
        <p:spPr>
          <a:xfrm>
            <a:off x="6583680" y="2578608"/>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Domain knowledge</a:t>
            </a:r>
            <a:endParaRPr lang="en-US" sz="1300" dirty="0"/>
          </a:p>
        </p:txBody>
      </p:sp>
      <p:sp>
        <p:nvSpPr>
          <p:cNvPr id="43" name="Text 39"/>
          <p:cNvSpPr txBox="1"/>
          <p:nvPr/>
        </p:nvSpPr>
        <p:spPr>
          <a:xfrm>
            <a:off x="6583680" y="2880360"/>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Facts about the person, useful for some questions</a:t>
            </a:r>
            <a:endParaRPr lang="en-US" sz="1050" dirty="0"/>
          </a:p>
        </p:txBody>
      </p:sp>
      <p:sp>
        <p:nvSpPr>
          <p:cNvPr id="44" name="Legend 3"/>
          <p:cNvSpPr/>
          <p:nvPr/>
        </p:nvSpPr>
        <p:spPr>
          <a:xfrm>
            <a:off x="5897880" y="3557016"/>
            <a:ext cx="2788920" cy="987552"/>
          </a:xfrm>
          <a:prstGeom prst="roundRect">
            <a:avLst>
              <a:gd name="adj" fmla="val 9259"/>
            </a:avLst>
          </a:prstGeom>
          <a:solidFill>
            <a:srgbClr val="EEF4FC"/>
          </a:solidFill>
          <a:ln w="12700">
            <a:solidFill>
              <a:srgbClr val="EEF4FC"/>
            </a:solidFill>
            <a:prstDash val="solid"/>
          </a:ln>
        </p:spPr>
      </p:sp>
      <p:sp>
        <p:nvSpPr>
          <p:cNvPr id="45" name="Legend 3 circle"/>
          <p:cNvSpPr/>
          <p:nvPr/>
        </p:nvSpPr>
        <p:spPr>
          <a:xfrm>
            <a:off x="6053328" y="3712464"/>
            <a:ext cx="411480" cy="411480"/>
          </a:xfrm>
          <a:prstGeom prst="ellipse">
            <a:avLst/>
          </a:prstGeom>
          <a:solidFill>
            <a:srgbClr val="D5DCE8"/>
          </a:solidFill>
          <a:ln w="12700">
            <a:solidFill>
              <a:srgbClr val="D5DCE8"/>
            </a:solidFill>
            <a:prstDash val="solid"/>
          </a:ln>
        </p:spPr>
      </p:sp>
      <p:pic>
        <p:nvPicPr>
          <p:cNvPr id="46" name="Legend 3 icon" descr="preencoded.png">    </p:cNvPr>
          <p:cNvPicPr>
            <a:picLocks noChangeAspect="1"/>
          </p:cNvPicPr>
          <p:nvPr/>
        </p:nvPicPr>
        <p:blipFill>
          <a:blip r:embed="rId3"/>
          <a:stretch>
            <a:fillRect/>
          </a:stretch>
        </p:blipFill>
        <p:spPr>
          <a:xfrm>
            <a:off x="6156198" y="3815334"/>
            <a:ext cx="205740" cy="205740"/>
          </a:xfrm>
          <a:prstGeom prst="rect">
            <a:avLst/>
          </a:prstGeom>
        </p:spPr>
      </p:pic>
      <p:sp>
        <p:nvSpPr>
          <p:cNvPr id="47" name="Text 42"/>
          <p:cNvSpPr txBox="1"/>
          <p:nvPr/>
        </p:nvSpPr>
        <p:spPr>
          <a:xfrm>
            <a:off x="6583680" y="3694176"/>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Not saved</a:t>
            </a:r>
            <a:endParaRPr lang="en-US" sz="1300" dirty="0"/>
          </a:p>
        </p:txBody>
      </p:sp>
      <p:sp>
        <p:nvSpPr>
          <p:cNvPr id="48" name="Text 43"/>
          <p:cNvSpPr txBox="1"/>
          <p:nvPr/>
        </p:nvSpPr>
        <p:spPr>
          <a:xfrm>
            <a:off x="6583680" y="3995928"/>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Ordinary questions, and sensitive details like health, are never stored</a:t>
            </a:r>
            <a:endParaRPr lang="en-US" sz="105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WORKS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System architecture</a:t>
            </a:r>
            <a:endParaRPr lang="en-US" sz="2800" dirty="0"/>
          </a:p>
        </p:txBody>
      </p:sp>
      <p:sp>
        <p:nvSpPr>
          <p:cNvPr id="4" name="Browser"/>
          <p:cNvSpPr/>
          <p:nvPr/>
        </p:nvSpPr>
        <p:spPr>
          <a:xfrm>
            <a:off x="365760" y="1371600"/>
            <a:ext cx="2240280" cy="777240"/>
          </a:xfrm>
          <a:prstGeom prst="roundRect">
            <a:avLst>
              <a:gd name="adj" fmla="val 11765"/>
            </a:avLst>
          </a:prstGeom>
          <a:solidFill>
            <a:srgbClr val="EEF4FC"/>
          </a:solidFill>
          <a:ln w="12700">
            <a:solidFill>
              <a:srgbClr val="EEF4FC"/>
            </a:solidFill>
            <a:prstDash val="solid"/>
          </a:ln>
        </p:spPr>
      </p:sp>
      <p:pic>
        <p:nvPicPr>
          <p:cNvPr id="5" name="Browser icon" descr="preencoded.png">    </p:cNvPr>
          <p:cNvPicPr>
            <a:picLocks noChangeAspect="1"/>
          </p:cNvPicPr>
          <p:nvPr/>
        </p:nvPicPr>
        <p:blipFill>
          <a:blip r:embed="rId1"/>
          <a:stretch>
            <a:fillRect/>
          </a:stretch>
        </p:blipFill>
        <p:spPr>
          <a:xfrm>
            <a:off x="530352" y="1577340"/>
            <a:ext cx="365760" cy="365760"/>
          </a:xfrm>
          <a:prstGeom prst="rect">
            <a:avLst/>
          </a:prstGeom>
        </p:spPr>
      </p:pic>
      <p:sp>
        <p:nvSpPr>
          <p:cNvPr id="6" name="Text 3"/>
          <p:cNvSpPr txBox="1"/>
          <p:nvPr/>
        </p:nvSpPr>
        <p:spPr>
          <a:xfrm>
            <a:off x="1005840" y="144475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Chat website</a:t>
            </a:r>
            <a:endParaRPr lang="en-US" sz="1300" dirty="0"/>
          </a:p>
        </p:txBody>
      </p:sp>
      <p:sp>
        <p:nvSpPr>
          <p:cNvPr id="7" name="Text 4"/>
          <p:cNvSpPr txBox="1"/>
          <p:nvPr/>
        </p:nvSpPr>
        <p:spPr>
          <a:xfrm>
            <a:off x="1005840" y="177850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HTML, CSS, JavaScript</a:t>
            </a:r>
            <a:endParaRPr lang="en-US" sz="1100" dirty="0"/>
          </a:p>
        </p:txBody>
      </p:sp>
      <p:sp>
        <p:nvSpPr>
          <p:cNvPr id="8" name="Dashboard"/>
          <p:cNvSpPr/>
          <p:nvPr/>
        </p:nvSpPr>
        <p:spPr>
          <a:xfrm>
            <a:off x="365760" y="3566160"/>
            <a:ext cx="2240280" cy="777240"/>
          </a:xfrm>
          <a:prstGeom prst="roundRect">
            <a:avLst>
              <a:gd name="adj" fmla="val 11765"/>
            </a:avLst>
          </a:prstGeom>
          <a:solidFill>
            <a:srgbClr val="EEF4FC"/>
          </a:solidFill>
          <a:ln w="12700">
            <a:solidFill>
              <a:srgbClr val="EEF4FC"/>
            </a:solidFill>
            <a:prstDash val="solid"/>
          </a:ln>
        </p:spPr>
      </p:sp>
      <p:pic>
        <p:nvPicPr>
          <p:cNvPr id="9" name="Dashboard icon" descr="preencoded.png">    </p:cNvPr>
          <p:cNvPicPr>
            <a:picLocks noChangeAspect="1"/>
          </p:cNvPicPr>
          <p:nvPr/>
        </p:nvPicPr>
        <p:blipFill>
          <a:blip r:embed="rId2"/>
          <a:stretch>
            <a:fillRect/>
          </a:stretch>
        </p:blipFill>
        <p:spPr>
          <a:xfrm>
            <a:off x="530352" y="3771900"/>
            <a:ext cx="365760" cy="365760"/>
          </a:xfrm>
          <a:prstGeom prst="rect">
            <a:avLst/>
          </a:prstGeom>
        </p:spPr>
      </p:pic>
      <p:sp>
        <p:nvSpPr>
          <p:cNvPr id="10" name="Text 6"/>
          <p:cNvSpPr txBox="1"/>
          <p:nvPr/>
        </p:nvSpPr>
        <p:spPr>
          <a:xfrm>
            <a:off x="1005840" y="363931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Admin dashboard</a:t>
            </a:r>
            <a:endParaRPr lang="en-US" sz="1300" dirty="0"/>
          </a:p>
        </p:txBody>
      </p:sp>
      <p:sp>
        <p:nvSpPr>
          <p:cNvPr id="11" name="Text 7"/>
          <p:cNvSpPr txBox="1"/>
          <p:nvPr/>
        </p:nvSpPr>
        <p:spPr>
          <a:xfrm>
            <a:off x="1005840" y="397306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Reuse ratio, CSV export</a:t>
            </a:r>
            <a:endParaRPr lang="en-US" sz="1100" dirty="0"/>
          </a:p>
        </p:txBody>
      </p:sp>
      <p:sp>
        <p:nvSpPr>
          <p:cNvPr id="12" name="Backend"/>
          <p:cNvSpPr/>
          <p:nvPr/>
        </p:nvSpPr>
        <p:spPr>
          <a:xfrm>
            <a:off x="2926080" y="1280160"/>
            <a:ext cx="3017520" cy="3200400"/>
          </a:xfrm>
          <a:prstGeom prst="roundRect">
            <a:avLst>
              <a:gd name="adj" fmla="val 3030"/>
            </a:avLst>
          </a:prstGeom>
          <a:solidFill>
            <a:srgbClr val="001878"/>
          </a:solidFill>
          <a:ln w="12700">
            <a:solidFill>
              <a:srgbClr val="001878"/>
            </a:solidFill>
            <a:prstDash val="solid"/>
          </a:ln>
        </p:spPr>
      </p:sp>
      <p:sp>
        <p:nvSpPr>
          <p:cNvPr id="13" name="Text 9"/>
          <p:cNvSpPr txBox="1"/>
          <p:nvPr/>
        </p:nvSpPr>
        <p:spPr>
          <a:xfrm>
            <a:off x="3108960" y="1371600"/>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Python backend (FastAPI)</a:t>
            </a:r>
            <a:endParaRPr lang="en-US" sz="1300" dirty="0"/>
          </a:p>
        </p:txBody>
      </p:sp>
      <p:sp>
        <p:nvSpPr>
          <p:cNvPr id="14" name="Step 1"/>
          <p:cNvSpPr/>
          <p:nvPr/>
        </p:nvSpPr>
        <p:spPr>
          <a:xfrm>
            <a:off x="3108960" y="1783080"/>
            <a:ext cx="2651760" cy="347472"/>
          </a:xfrm>
          <a:prstGeom prst="roundRect">
            <a:avLst>
              <a:gd name="adj" fmla="val 15789"/>
            </a:avLst>
          </a:prstGeom>
          <a:solidFill>
            <a:srgbClr val="0040B8"/>
          </a:solidFill>
          <a:ln w="12700">
            <a:solidFill>
              <a:srgbClr val="0040B8"/>
            </a:solidFill>
            <a:prstDash val="solid"/>
          </a:ln>
        </p:spPr>
      </p:sp>
      <p:sp>
        <p:nvSpPr>
          <p:cNvPr id="15" name="Text 11"/>
          <p:cNvSpPr txBox="1"/>
          <p:nvPr/>
        </p:nvSpPr>
        <p:spPr>
          <a:xfrm>
            <a:off x="3218688" y="178308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Safety check (guardrails)</a:t>
            </a:r>
            <a:endParaRPr lang="en-US" sz="1200" dirty="0"/>
          </a:p>
        </p:txBody>
      </p:sp>
      <p:sp>
        <p:nvSpPr>
          <p:cNvPr id="16" name="Step 2"/>
          <p:cNvSpPr/>
          <p:nvPr/>
        </p:nvSpPr>
        <p:spPr>
          <a:xfrm>
            <a:off x="3108960" y="2212848"/>
            <a:ext cx="2651760" cy="347472"/>
          </a:xfrm>
          <a:prstGeom prst="roundRect">
            <a:avLst>
              <a:gd name="adj" fmla="val 15789"/>
            </a:avLst>
          </a:prstGeom>
          <a:solidFill>
            <a:srgbClr val="0040B8"/>
          </a:solidFill>
          <a:ln w="12700">
            <a:solidFill>
              <a:srgbClr val="0040B8"/>
            </a:solidFill>
            <a:prstDash val="solid"/>
          </a:ln>
        </p:spPr>
      </p:sp>
      <p:sp>
        <p:nvSpPr>
          <p:cNvPr id="17" name="Text 13"/>
          <p:cNvSpPr txBox="1"/>
          <p:nvPr/>
        </p:nvSpPr>
        <p:spPr>
          <a:xfrm>
            <a:off x="3218688" y="2212848"/>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Learn from the message</a:t>
            </a:r>
            <a:endParaRPr lang="en-US" sz="1200" dirty="0"/>
          </a:p>
        </p:txBody>
      </p:sp>
      <p:sp>
        <p:nvSpPr>
          <p:cNvPr id="18" name="Step 3"/>
          <p:cNvSpPr/>
          <p:nvPr/>
        </p:nvSpPr>
        <p:spPr>
          <a:xfrm>
            <a:off x="3108960" y="2642616"/>
            <a:ext cx="2651760" cy="347472"/>
          </a:xfrm>
          <a:prstGeom prst="roundRect">
            <a:avLst>
              <a:gd name="adj" fmla="val 15789"/>
            </a:avLst>
          </a:prstGeom>
          <a:solidFill>
            <a:srgbClr val="0040B8"/>
          </a:solidFill>
          <a:ln w="12700">
            <a:solidFill>
              <a:srgbClr val="0040B8"/>
            </a:solidFill>
            <a:prstDash val="solid"/>
          </a:ln>
        </p:spPr>
      </p:sp>
      <p:sp>
        <p:nvSpPr>
          <p:cNvPr id="19" name="Text 15"/>
          <p:cNvSpPr txBox="1"/>
          <p:nvPr/>
        </p:nvSpPr>
        <p:spPr>
          <a:xfrm>
            <a:off x="3218688" y="2642616"/>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Recall personal memories</a:t>
            </a:r>
            <a:endParaRPr lang="en-US" sz="1200" dirty="0"/>
          </a:p>
        </p:txBody>
      </p:sp>
      <p:sp>
        <p:nvSpPr>
          <p:cNvPr id="20" name="Step 4"/>
          <p:cNvSpPr/>
          <p:nvPr/>
        </p:nvSpPr>
        <p:spPr>
          <a:xfrm>
            <a:off x="3108960" y="3072384"/>
            <a:ext cx="2651760" cy="347472"/>
          </a:xfrm>
          <a:prstGeom prst="roundRect">
            <a:avLst>
              <a:gd name="adj" fmla="val 15789"/>
            </a:avLst>
          </a:prstGeom>
          <a:solidFill>
            <a:srgbClr val="0040B8"/>
          </a:solidFill>
          <a:ln w="12700">
            <a:solidFill>
              <a:srgbClr val="0040B8"/>
            </a:solidFill>
            <a:prstDash val="solid"/>
          </a:ln>
        </p:spPr>
      </p:sp>
      <p:sp>
        <p:nvSpPr>
          <p:cNvPr id="21" name="Text 17"/>
          <p:cNvSpPr txBox="1"/>
          <p:nvPr/>
        </p:nvSpPr>
        <p:spPr>
          <a:xfrm>
            <a:off x="3218688" y="3072384"/>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Search lab knowledge</a:t>
            </a:r>
            <a:endParaRPr lang="en-US" sz="1200" dirty="0"/>
          </a:p>
        </p:txBody>
      </p:sp>
      <p:sp>
        <p:nvSpPr>
          <p:cNvPr id="22" name="Step 5"/>
          <p:cNvSpPr/>
          <p:nvPr/>
        </p:nvSpPr>
        <p:spPr>
          <a:xfrm>
            <a:off x="3108960" y="3502152"/>
            <a:ext cx="2651760" cy="347472"/>
          </a:xfrm>
          <a:prstGeom prst="roundRect">
            <a:avLst>
              <a:gd name="adj" fmla="val 15789"/>
            </a:avLst>
          </a:prstGeom>
          <a:solidFill>
            <a:srgbClr val="0040B8"/>
          </a:solidFill>
          <a:ln w="12700">
            <a:solidFill>
              <a:srgbClr val="0040B8"/>
            </a:solidFill>
            <a:prstDash val="solid"/>
          </a:ln>
        </p:spPr>
      </p:sp>
      <p:sp>
        <p:nvSpPr>
          <p:cNvPr id="23" name="Text 19"/>
          <p:cNvSpPr txBox="1"/>
          <p:nvPr/>
        </p:nvSpPr>
        <p:spPr>
          <a:xfrm>
            <a:off x="3218688" y="3502152"/>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Ask the local AI model</a:t>
            </a:r>
            <a:endParaRPr lang="en-US" sz="1200" dirty="0"/>
          </a:p>
        </p:txBody>
      </p:sp>
      <p:sp>
        <p:nvSpPr>
          <p:cNvPr id="24" name="Step 6"/>
          <p:cNvSpPr/>
          <p:nvPr/>
        </p:nvSpPr>
        <p:spPr>
          <a:xfrm>
            <a:off x="3108960" y="3931920"/>
            <a:ext cx="2651760" cy="347472"/>
          </a:xfrm>
          <a:prstGeom prst="roundRect">
            <a:avLst>
              <a:gd name="adj" fmla="val 15789"/>
            </a:avLst>
          </a:prstGeom>
          <a:solidFill>
            <a:srgbClr val="0040B8"/>
          </a:solidFill>
          <a:ln w="12700">
            <a:solidFill>
              <a:srgbClr val="0040B8"/>
            </a:solidFill>
            <a:prstDash val="solid"/>
          </a:ln>
        </p:spPr>
      </p:sp>
      <p:sp>
        <p:nvSpPr>
          <p:cNvPr id="25" name="Text 21"/>
          <p:cNvSpPr txBox="1"/>
          <p:nvPr/>
        </p:nvSpPr>
        <p:spPr>
          <a:xfrm>
            <a:off x="3218688" y="393192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  Record which memories helped</a:t>
            </a:r>
            <a:endParaRPr lang="en-US" sz="1200" dirty="0"/>
          </a:p>
        </p:txBody>
      </p:sp>
      <p:sp>
        <p:nvSpPr>
          <p:cNvPr id="26" name="SQLite"/>
          <p:cNvSpPr/>
          <p:nvPr/>
        </p:nvSpPr>
        <p:spPr>
          <a:xfrm>
            <a:off x="6400800" y="1280160"/>
            <a:ext cx="2286000" cy="731520"/>
          </a:xfrm>
          <a:prstGeom prst="roundRect">
            <a:avLst>
              <a:gd name="adj" fmla="val 12500"/>
            </a:avLst>
          </a:prstGeom>
          <a:solidFill>
            <a:srgbClr val="EEF4FC"/>
          </a:solidFill>
          <a:ln w="12700">
            <a:solidFill>
              <a:srgbClr val="EEF4FC"/>
            </a:solidFill>
            <a:prstDash val="solid"/>
          </a:ln>
        </p:spPr>
      </p:sp>
      <p:pic>
        <p:nvPicPr>
          <p:cNvPr id="27" name="SQLite icon" descr="preencoded.png">    </p:cNvPr>
          <p:cNvPicPr>
            <a:picLocks noChangeAspect="1"/>
          </p:cNvPicPr>
          <p:nvPr/>
        </p:nvPicPr>
        <p:blipFill>
          <a:blip r:embed="rId3"/>
          <a:stretch>
            <a:fillRect/>
          </a:stretch>
        </p:blipFill>
        <p:spPr>
          <a:xfrm>
            <a:off x="6565392" y="1463040"/>
            <a:ext cx="365760" cy="365760"/>
          </a:xfrm>
          <a:prstGeom prst="rect">
            <a:avLst/>
          </a:prstGeom>
        </p:spPr>
      </p:pic>
      <p:sp>
        <p:nvSpPr>
          <p:cNvPr id="28" name="Text 23"/>
          <p:cNvSpPr txBox="1"/>
          <p:nvPr/>
        </p:nvSpPr>
        <p:spPr>
          <a:xfrm>
            <a:off x="7040880" y="135331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SQLite database</a:t>
            </a:r>
            <a:endParaRPr lang="en-US" sz="1300" dirty="0"/>
          </a:p>
        </p:txBody>
      </p:sp>
      <p:sp>
        <p:nvSpPr>
          <p:cNvPr id="29" name="Text 24"/>
          <p:cNvSpPr txBox="1"/>
          <p:nvPr/>
        </p:nvSpPr>
        <p:spPr>
          <a:xfrm>
            <a:off x="7040880" y="166420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Users, memories, logs</a:t>
            </a:r>
            <a:endParaRPr lang="en-US" sz="1100" dirty="0"/>
          </a:p>
        </p:txBody>
      </p:sp>
      <p:sp>
        <p:nvSpPr>
          <p:cNvPr id="30" name="Chroma"/>
          <p:cNvSpPr/>
          <p:nvPr/>
        </p:nvSpPr>
        <p:spPr>
          <a:xfrm>
            <a:off x="6400800" y="2103120"/>
            <a:ext cx="2286000" cy="731520"/>
          </a:xfrm>
          <a:prstGeom prst="roundRect">
            <a:avLst>
              <a:gd name="adj" fmla="val 12500"/>
            </a:avLst>
          </a:prstGeom>
          <a:solidFill>
            <a:srgbClr val="EEF4FC"/>
          </a:solidFill>
          <a:ln w="12700">
            <a:solidFill>
              <a:srgbClr val="EEF4FC"/>
            </a:solidFill>
            <a:prstDash val="solid"/>
          </a:ln>
        </p:spPr>
      </p:sp>
      <p:pic>
        <p:nvPicPr>
          <p:cNvPr id="31" name="Chroma icon" descr="preencoded.png">    </p:cNvPr>
          <p:cNvPicPr>
            <a:picLocks noChangeAspect="1"/>
          </p:cNvPicPr>
          <p:nvPr/>
        </p:nvPicPr>
        <p:blipFill>
          <a:blip r:embed="rId4"/>
          <a:stretch>
            <a:fillRect/>
          </a:stretch>
        </p:blipFill>
        <p:spPr>
          <a:xfrm>
            <a:off x="6565392" y="2286000"/>
            <a:ext cx="365760" cy="365760"/>
          </a:xfrm>
          <a:prstGeom prst="rect">
            <a:avLst/>
          </a:prstGeom>
        </p:spPr>
      </p:pic>
      <p:sp>
        <p:nvSpPr>
          <p:cNvPr id="32" name="Text 26"/>
          <p:cNvSpPr txBox="1"/>
          <p:nvPr/>
        </p:nvSpPr>
        <p:spPr>
          <a:xfrm>
            <a:off x="7040880" y="217627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ChromaDB search</a:t>
            </a:r>
            <a:endParaRPr lang="en-US" sz="1300" dirty="0"/>
          </a:p>
        </p:txBody>
      </p:sp>
      <p:sp>
        <p:nvSpPr>
          <p:cNvPr id="33" name="Text 27"/>
          <p:cNvSpPr txBox="1"/>
          <p:nvPr/>
        </p:nvSpPr>
        <p:spPr>
          <a:xfrm>
            <a:off x="7040880" y="248716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Themes, papers, people</a:t>
            </a:r>
            <a:endParaRPr lang="en-US" sz="1100" dirty="0"/>
          </a:p>
        </p:txBody>
      </p:sp>
      <p:sp>
        <p:nvSpPr>
          <p:cNvPr id="34" name="Ollama"/>
          <p:cNvSpPr/>
          <p:nvPr/>
        </p:nvSpPr>
        <p:spPr>
          <a:xfrm>
            <a:off x="6400800" y="2926080"/>
            <a:ext cx="2286000" cy="731520"/>
          </a:xfrm>
          <a:prstGeom prst="roundRect">
            <a:avLst>
              <a:gd name="adj" fmla="val 12500"/>
            </a:avLst>
          </a:prstGeom>
          <a:solidFill>
            <a:srgbClr val="0078D8"/>
          </a:solidFill>
          <a:ln w="12700">
            <a:solidFill>
              <a:srgbClr val="0078D8"/>
            </a:solidFill>
            <a:prstDash val="solid"/>
          </a:ln>
        </p:spPr>
      </p:sp>
      <p:pic>
        <p:nvPicPr>
          <p:cNvPr id="35" name="Ollama icon" descr="preencoded.png">    </p:cNvPr>
          <p:cNvPicPr>
            <a:picLocks noChangeAspect="1"/>
          </p:cNvPicPr>
          <p:nvPr/>
        </p:nvPicPr>
        <p:blipFill>
          <a:blip r:embed="rId5"/>
          <a:stretch>
            <a:fillRect/>
          </a:stretch>
        </p:blipFill>
        <p:spPr>
          <a:xfrm>
            <a:off x="6565392" y="3108960"/>
            <a:ext cx="365760" cy="365760"/>
          </a:xfrm>
          <a:prstGeom prst="rect">
            <a:avLst/>
          </a:prstGeom>
        </p:spPr>
      </p:pic>
      <p:sp>
        <p:nvSpPr>
          <p:cNvPr id="36" name="Text 29"/>
          <p:cNvSpPr txBox="1"/>
          <p:nvPr/>
        </p:nvSpPr>
        <p:spPr>
          <a:xfrm>
            <a:off x="7040880" y="2999232"/>
            <a:ext cx="1554480" cy="329184"/>
          </a:xfrm>
          <a:prstGeom prst="rect">
            <a:avLst/>
          </a:prstGeom>
          <a:noFill/>
          <a:ln/>
        </p:spPr>
        <p:txBody>
          <a:bodyPr wrap="square" lIns="0" tIns="0" rIns="0" bIns="0" rtlCol="0" anchor="b"/>
          <a:lstStyle/>
          <a:p>
            <a:pPr indent="0" marL="0">
              <a:buNone/>
            </a:pPr>
            <a:r>
              <a:rPr lang="en-US" sz="1300" b="1" dirty="0">
                <a:solidFill>
                  <a:srgbClr val="FFFFFF"/>
                </a:solidFill>
                <a:latin typeface="Arial" pitchFamily="34" charset="0"/>
                <a:ea typeface="Arial" pitchFamily="34" charset="-122"/>
                <a:cs typeface="Arial" pitchFamily="34" charset="-120"/>
              </a:rPr>
              <a:t>Ollama · Gemma 2</a:t>
            </a:r>
            <a:endParaRPr lang="en-US" sz="1300" dirty="0"/>
          </a:p>
        </p:txBody>
      </p:sp>
      <p:sp>
        <p:nvSpPr>
          <p:cNvPr id="37" name="Text 30"/>
          <p:cNvSpPr txBox="1"/>
          <p:nvPr/>
        </p:nvSpPr>
        <p:spPr>
          <a:xfrm>
            <a:off x="7040880" y="3310128"/>
            <a:ext cx="1554480" cy="292608"/>
          </a:xfrm>
          <a:prstGeom prst="rect">
            <a:avLst/>
          </a:prstGeom>
          <a:noFill/>
          <a:ln/>
        </p:spPr>
        <p:txBody>
          <a:bodyPr wrap="square" lIns="0" tIns="0" rIns="0" bIns="0" rtlCol="0" anchor="t"/>
          <a:lstStyle/>
          <a:p>
            <a:pPr indent="0" marL="0">
              <a:buNone/>
            </a:pPr>
            <a:r>
              <a:rPr lang="en-US" sz="1100" dirty="0">
                <a:solidFill>
                  <a:srgbClr val="BFD4F2"/>
                </a:solidFill>
                <a:latin typeface="Calibri" pitchFamily="34" charset="0"/>
                <a:ea typeface="Calibri" pitchFamily="34" charset="-122"/>
                <a:cs typeface="Calibri" pitchFamily="34" charset="-120"/>
              </a:rPr>
              <a:t>AI model on this computer</a:t>
            </a:r>
            <a:endParaRPr lang="en-US" sz="1100" dirty="0"/>
          </a:p>
        </p:txBody>
      </p:sp>
      <p:sp>
        <p:nvSpPr>
          <p:cNvPr id="38" name="Data"/>
          <p:cNvSpPr/>
          <p:nvPr/>
        </p:nvSpPr>
        <p:spPr>
          <a:xfrm>
            <a:off x="6400800" y="3749040"/>
            <a:ext cx="2286000" cy="731520"/>
          </a:xfrm>
          <a:prstGeom prst="roundRect">
            <a:avLst>
              <a:gd name="adj" fmla="val 12500"/>
            </a:avLst>
          </a:prstGeom>
          <a:solidFill>
            <a:srgbClr val="EEF4FC"/>
          </a:solidFill>
          <a:ln w="12700">
            <a:solidFill>
              <a:srgbClr val="EEF4FC"/>
            </a:solidFill>
            <a:prstDash val="solid"/>
          </a:ln>
        </p:spPr>
      </p:sp>
      <p:pic>
        <p:nvPicPr>
          <p:cNvPr id="39" name="Data icon" descr="preencoded.png">    </p:cNvPr>
          <p:cNvPicPr>
            <a:picLocks noChangeAspect="1"/>
          </p:cNvPicPr>
          <p:nvPr/>
        </p:nvPicPr>
        <p:blipFill>
          <a:blip r:embed="rId6"/>
          <a:stretch>
            <a:fillRect/>
          </a:stretch>
        </p:blipFill>
        <p:spPr>
          <a:xfrm>
            <a:off x="6565392" y="3931920"/>
            <a:ext cx="365760" cy="365760"/>
          </a:xfrm>
          <a:prstGeom prst="rect">
            <a:avLst/>
          </a:prstGeom>
        </p:spPr>
      </p:pic>
      <p:sp>
        <p:nvSpPr>
          <p:cNvPr id="40" name="Text 32"/>
          <p:cNvSpPr txBox="1"/>
          <p:nvPr/>
        </p:nvSpPr>
        <p:spPr>
          <a:xfrm>
            <a:off x="7040880" y="382219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Lab data files</a:t>
            </a:r>
            <a:endParaRPr lang="en-US" sz="1300" dirty="0"/>
          </a:p>
        </p:txBody>
      </p:sp>
      <p:sp>
        <p:nvSpPr>
          <p:cNvPr id="41" name="Text 33"/>
          <p:cNvSpPr txBox="1"/>
          <p:nvPr/>
        </p:nvSpPr>
        <p:spPr>
          <a:xfrm>
            <a:off x="7040880" y="413308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From the lab website</a:t>
            </a:r>
            <a:endParaRPr lang="en-US" sz="1100" dirty="0"/>
          </a:p>
        </p:txBody>
      </p:sp>
      <p:sp>
        <p:nvSpPr>
          <p:cNvPr id="42" name="Shape 34"/>
          <p:cNvSpPr/>
          <p:nvPr/>
        </p:nvSpPr>
        <p:spPr>
          <a:xfrm>
            <a:off x="2606040" y="1691640"/>
            <a:ext cx="301752" cy="914"/>
          </a:xfrm>
          <a:prstGeom prst="line">
            <a:avLst/>
          </a:prstGeom>
          <a:noFill/>
          <a:ln w="25400">
            <a:solidFill>
              <a:srgbClr val="0078D8"/>
            </a:solidFill>
            <a:prstDash val="solid"/>
            <a:tailEnd type="triangle"/>
          </a:ln>
        </p:spPr>
      </p:sp>
      <p:sp>
        <p:nvSpPr>
          <p:cNvPr id="43" name="Shape 35"/>
          <p:cNvSpPr/>
          <p:nvPr/>
        </p:nvSpPr>
        <p:spPr>
          <a:xfrm flipH="1">
            <a:off x="2606040" y="1874520"/>
            <a:ext cx="301752" cy="914"/>
          </a:xfrm>
          <a:prstGeom prst="line">
            <a:avLst/>
          </a:prstGeom>
          <a:noFill/>
          <a:ln w="25400">
            <a:solidFill>
              <a:srgbClr val="0078D8"/>
            </a:solidFill>
            <a:prstDash val="solid"/>
            <a:tailEnd type="triangle"/>
          </a:ln>
        </p:spPr>
      </p:sp>
      <p:sp>
        <p:nvSpPr>
          <p:cNvPr id="44" name="Shape 36"/>
          <p:cNvSpPr/>
          <p:nvPr/>
        </p:nvSpPr>
        <p:spPr>
          <a:xfrm flipH="1">
            <a:off x="2606040" y="3950208"/>
            <a:ext cx="301752" cy="914"/>
          </a:xfrm>
          <a:prstGeom prst="line">
            <a:avLst/>
          </a:prstGeom>
          <a:noFill/>
          <a:ln w="25400">
            <a:solidFill>
              <a:srgbClr val="0078D8"/>
            </a:solidFill>
            <a:prstDash val="solid"/>
            <a:tailEnd type="triangle"/>
          </a:ln>
        </p:spPr>
      </p:sp>
      <p:sp>
        <p:nvSpPr>
          <p:cNvPr id="45" name="Shape 37"/>
          <p:cNvSpPr/>
          <p:nvPr/>
        </p:nvSpPr>
        <p:spPr>
          <a:xfrm>
            <a:off x="5943600" y="1645920"/>
            <a:ext cx="438912" cy="914"/>
          </a:xfrm>
          <a:prstGeom prst="line">
            <a:avLst/>
          </a:prstGeom>
          <a:noFill/>
          <a:ln w="25400">
            <a:solidFill>
              <a:srgbClr val="0078D8"/>
            </a:solidFill>
            <a:prstDash val="solid"/>
            <a:tailEnd type="triangle"/>
          </a:ln>
        </p:spPr>
      </p:sp>
      <p:sp>
        <p:nvSpPr>
          <p:cNvPr id="46" name="Shape 38"/>
          <p:cNvSpPr/>
          <p:nvPr/>
        </p:nvSpPr>
        <p:spPr>
          <a:xfrm>
            <a:off x="5943600" y="2468880"/>
            <a:ext cx="438912" cy="914"/>
          </a:xfrm>
          <a:prstGeom prst="line">
            <a:avLst/>
          </a:prstGeom>
          <a:noFill/>
          <a:ln w="25400">
            <a:solidFill>
              <a:srgbClr val="0078D8"/>
            </a:solidFill>
            <a:prstDash val="solid"/>
            <a:tailEnd type="triangle"/>
          </a:ln>
        </p:spPr>
      </p:sp>
      <p:sp>
        <p:nvSpPr>
          <p:cNvPr id="47" name="Shape 39"/>
          <p:cNvSpPr/>
          <p:nvPr/>
        </p:nvSpPr>
        <p:spPr>
          <a:xfrm>
            <a:off x="5943600" y="3291840"/>
            <a:ext cx="438912" cy="914"/>
          </a:xfrm>
          <a:prstGeom prst="line">
            <a:avLst/>
          </a:prstGeom>
          <a:noFill/>
          <a:ln w="25400">
            <a:solidFill>
              <a:srgbClr val="0078D8"/>
            </a:solidFill>
            <a:prstDash val="solid"/>
            <a:tailEnd type="triangle"/>
          </a:ln>
        </p:spPr>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THE SELF-IMPROVEMENT LOOP</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How memories are learned and retired</a:t>
            </a:r>
            <a:endParaRPr lang="en-US" sz="2800" dirty="0"/>
          </a:p>
        </p:txBody>
      </p:sp>
      <p:sp>
        <p:nvSpPr>
          <p:cNvPr id="4" name="Loop ring"/>
          <p:cNvSpPr/>
          <p:nvPr/>
        </p:nvSpPr>
        <p:spPr>
          <a:xfrm>
            <a:off x="1371600" y="1783080"/>
            <a:ext cx="2834640" cy="2103120"/>
          </a:xfrm>
          <a:prstGeom prst="ellipse">
            <a:avLst/>
          </a:prstGeom>
          <a:solidFill>
            <a:srgbClr val="FFFFFF"/>
          </a:solidFill>
          <a:ln w="25400">
            <a:solidFill>
              <a:srgbClr val="C9D6EA"/>
            </a:solidFill>
            <a:prstDash val="dash"/>
          </a:ln>
        </p:spPr>
      </p:sp>
      <p:sp>
        <p:nvSpPr>
          <p:cNvPr id="5" name="Loop Learn"/>
          <p:cNvSpPr/>
          <p:nvPr/>
        </p:nvSpPr>
        <p:spPr>
          <a:xfrm>
            <a:off x="2286000" y="1234440"/>
            <a:ext cx="1691640" cy="960120"/>
          </a:xfrm>
          <a:prstGeom prst="roundRect">
            <a:avLst>
              <a:gd name="adj" fmla="val 9524"/>
            </a:avLst>
          </a:prstGeom>
          <a:solidFill>
            <a:srgbClr val="001878"/>
          </a:solidFill>
          <a:ln w="12700">
            <a:solidFill>
              <a:srgbClr val="001878"/>
            </a:solidFill>
            <a:prstDash val="solid"/>
          </a:ln>
        </p:spPr>
      </p:sp>
      <p:pic>
        <p:nvPicPr>
          <p:cNvPr id="6" name="Loop icon 1" descr="preencoded.png">    </p:cNvPr>
          <p:cNvPicPr>
            <a:picLocks noChangeAspect="1"/>
          </p:cNvPicPr>
          <p:nvPr/>
        </p:nvPicPr>
        <p:blipFill>
          <a:blip r:embed="rId1"/>
          <a:stretch>
            <a:fillRect/>
          </a:stretch>
        </p:blipFill>
        <p:spPr>
          <a:xfrm>
            <a:off x="2423160" y="1362456"/>
            <a:ext cx="292608" cy="292608"/>
          </a:xfrm>
          <a:prstGeom prst="rect">
            <a:avLst/>
          </a:prstGeom>
        </p:spPr>
      </p:pic>
      <p:sp>
        <p:nvSpPr>
          <p:cNvPr id="7" name="Text 4"/>
          <p:cNvSpPr txBox="1"/>
          <p:nvPr/>
        </p:nvSpPr>
        <p:spPr>
          <a:xfrm>
            <a:off x="2788920" y="1344168"/>
            <a:ext cx="109728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Learn</a:t>
            </a:r>
            <a:endParaRPr lang="en-US" sz="1500" dirty="0"/>
          </a:p>
        </p:txBody>
      </p:sp>
      <p:sp>
        <p:nvSpPr>
          <p:cNvPr id="8" name="Text 5"/>
          <p:cNvSpPr txBox="1"/>
          <p:nvPr/>
        </p:nvSpPr>
        <p:spPr>
          <a:xfrm>
            <a:off x="2423160" y="1691640"/>
            <a:ext cx="1463040" cy="475488"/>
          </a:xfrm>
          <a:prstGeom prst="rect">
            <a:avLst/>
          </a:prstGeom>
          <a:noFill/>
          <a:ln/>
        </p:spPr>
        <p:txBody>
          <a:bodyPr wrap="square" lIns="0" tIns="0" rIns="0" bIns="0" rtlCol="0" anchor="t"/>
          <a:lstStyle/>
          <a:p>
            <a:pPr indent="0" marL="0">
              <a:buNone/>
            </a:pPr>
            <a:r>
              <a:rPr lang="en-US" sz="1000" dirty="0">
                <a:solidFill>
                  <a:srgbClr val="BFD4F2"/>
                </a:solidFill>
                <a:latin typeface="Calibri" pitchFamily="34" charset="0"/>
                <a:ea typeface="Calibri" pitchFamily="34" charset="-122"/>
                <a:cs typeface="Calibri" pitchFamily="34" charset="-120"/>
              </a:rPr>
              <a:t>"Keep answers to 3 bullet points" is saved as a preference</a:t>
            </a:r>
            <a:endParaRPr lang="en-US" sz="1000" dirty="0"/>
          </a:p>
        </p:txBody>
      </p:sp>
      <p:sp>
        <p:nvSpPr>
          <p:cNvPr id="9" name="Loop Use"/>
          <p:cNvSpPr/>
          <p:nvPr/>
        </p:nvSpPr>
        <p:spPr>
          <a:xfrm>
            <a:off x="3977640" y="2331720"/>
            <a:ext cx="1691640" cy="960120"/>
          </a:xfrm>
          <a:prstGeom prst="roundRect">
            <a:avLst>
              <a:gd name="adj" fmla="val 9524"/>
            </a:avLst>
          </a:prstGeom>
          <a:solidFill>
            <a:srgbClr val="EEF4FC"/>
          </a:solidFill>
          <a:ln w="12700">
            <a:solidFill>
              <a:srgbClr val="EEF4FC"/>
            </a:solidFill>
            <a:prstDash val="solid"/>
          </a:ln>
        </p:spPr>
      </p:sp>
      <p:pic>
        <p:nvPicPr>
          <p:cNvPr id="10" name="Loop icon 2" descr="preencoded.png">    </p:cNvPr>
          <p:cNvPicPr>
            <a:picLocks noChangeAspect="1"/>
          </p:cNvPicPr>
          <p:nvPr/>
        </p:nvPicPr>
        <p:blipFill>
          <a:blip r:embed="rId2"/>
          <a:stretch>
            <a:fillRect/>
          </a:stretch>
        </p:blipFill>
        <p:spPr>
          <a:xfrm>
            <a:off x="4114800" y="2459736"/>
            <a:ext cx="292608" cy="292608"/>
          </a:xfrm>
          <a:prstGeom prst="rect">
            <a:avLst/>
          </a:prstGeom>
        </p:spPr>
      </p:pic>
      <p:sp>
        <p:nvSpPr>
          <p:cNvPr id="11" name="Text 7"/>
          <p:cNvSpPr txBox="1"/>
          <p:nvPr/>
        </p:nvSpPr>
        <p:spPr>
          <a:xfrm>
            <a:off x="448056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Use</a:t>
            </a:r>
            <a:endParaRPr lang="en-US" sz="1500" dirty="0"/>
          </a:p>
        </p:txBody>
      </p:sp>
      <p:sp>
        <p:nvSpPr>
          <p:cNvPr id="12" name="Text 8"/>
          <p:cNvSpPr txBox="1"/>
          <p:nvPr/>
        </p:nvSpPr>
        <p:spPr>
          <a:xfrm>
            <a:off x="411480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Relevant memories are added to the next prompt</a:t>
            </a:r>
            <a:endParaRPr lang="en-US" sz="1000" dirty="0"/>
          </a:p>
        </p:txBody>
      </p:sp>
      <p:sp>
        <p:nvSpPr>
          <p:cNvPr id="13" name="Loop Track"/>
          <p:cNvSpPr/>
          <p:nvPr/>
        </p:nvSpPr>
        <p:spPr>
          <a:xfrm>
            <a:off x="2286000" y="3429000"/>
            <a:ext cx="1691640" cy="960120"/>
          </a:xfrm>
          <a:prstGeom prst="roundRect">
            <a:avLst>
              <a:gd name="adj" fmla="val 9524"/>
            </a:avLst>
          </a:prstGeom>
          <a:solidFill>
            <a:srgbClr val="EEF4FC"/>
          </a:solidFill>
          <a:ln w="12700">
            <a:solidFill>
              <a:srgbClr val="EEF4FC"/>
            </a:solidFill>
            <a:prstDash val="solid"/>
          </a:ln>
        </p:spPr>
      </p:sp>
      <p:pic>
        <p:nvPicPr>
          <p:cNvPr id="14" name="Loop icon 3" descr="preencoded.png">    </p:cNvPr>
          <p:cNvPicPr>
            <a:picLocks noChangeAspect="1"/>
          </p:cNvPicPr>
          <p:nvPr/>
        </p:nvPicPr>
        <p:blipFill>
          <a:blip r:embed="rId3"/>
          <a:stretch>
            <a:fillRect/>
          </a:stretch>
        </p:blipFill>
        <p:spPr>
          <a:xfrm>
            <a:off x="2423160" y="3557016"/>
            <a:ext cx="292608" cy="292608"/>
          </a:xfrm>
          <a:prstGeom prst="rect">
            <a:avLst/>
          </a:prstGeom>
        </p:spPr>
      </p:pic>
      <p:sp>
        <p:nvSpPr>
          <p:cNvPr id="15" name="Text 10"/>
          <p:cNvSpPr txBox="1"/>
          <p:nvPr/>
        </p:nvSpPr>
        <p:spPr>
          <a:xfrm>
            <a:off x="2788920" y="353872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Track</a:t>
            </a:r>
            <a:endParaRPr lang="en-US" sz="1500" dirty="0"/>
          </a:p>
        </p:txBody>
      </p:sp>
      <p:sp>
        <p:nvSpPr>
          <p:cNvPr id="16" name="Text 11"/>
          <p:cNvSpPr txBox="1"/>
          <p:nvPr/>
        </p:nvSpPr>
        <p:spPr>
          <a:xfrm>
            <a:off x="2423160" y="388620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Counts each time a memory is retrieved, used, helpful or corrected</a:t>
            </a:r>
            <a:endParaRPr lang="en-US" sz="1000" dirty="0"/>
          </a:p>
        </p:txBody>
      </p:sp>
      <p:sp>
        <p:nvSpPr>
          <p:cNvPr id="17" name="Loop Review"/>
          <p:cNvSpPr/>
          <p:nvPr/>
        </p:nvSpPr>
        <p:spPr>
          <a:xfrm>
            <a:off x="594360" y="2331720"/>
            <a:ext cx="1691640" cy="960120"/>
          </a:xfrm>
          <a:prstGeom prst="roundRect">
            <a:avLst>
              <a:gd name="adj" fmla="val 9524"/>
            </a:avLst>
          </a:prstGeom>
          <a:solidFill>
            <a:srgbClr val="EEF4FC"/>
          </a:solidFill>
          <a:ln w="12700">
            <a:solidFill>
              <a:srgbClr val="EEF4FC"/>
            </a:solidFill>
            <a:prstDash val="solid"/>
          </a:ln>
        </p:spPr>
      </p:sp>
      <p:pic>
        <p:nvPicPr>
          <p:cNvPr id="18" name="Loop icon 4" descr="preencoded.png">    </p:cNvPr>
          <p:cNvPicPr>
            <a:picLocks noChangeAspect="1"/>
          </p:cNvPicPr>
          <p:nvPr/>
        </p:nvPicPr>
        <p:blipFill>
          <a:blip r:embed="rId4"/>
          <a:stretch>
            <a:fillRect/>
          </a:stretch>
        </p:blipFill>
        <p:spPr>
          <a:xfrm>
            <a:off x="731520" y="2459736"/>
            <a:ext cx="292608" cy="292608"/>
          </a:xfrm>
          <a:prstGeom prst="rect">
            <a:avLst/>
          </a:prstGeom>
        </p:spPr>
      </p:pic>
      <p:sp>
        <p:nvSpPr>
          <p:cNvPr id="19" name="Text 13"/>
          <p:cNvSpPr txBox="1"/>
          <p:nvPr/>
        </p:nvSpPr>
        <p:spPr>
          <a:xfrm>
            <a:off x="109728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Review</a:t>
            </a:r>
            <a:endParaRPr lang="en-US" sz="1500" dirty="0"/>
          </a:p>
        </p:txBody>
      </p:sp>
      <p:sp>
        <p:nvSpPr>
          <p:cNvPr id="20" name="Text 14"/>
          <p:cNvSpPr txBox="1"/>
          <p:nvPr/>
        </p:nvSpPr>
        <p:spPr>
          <a:xfrm>
            <a:off x="73152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Weak memories are switched off with a reason</a:t>
            </a:r>
            <a:endParaRPr lang="en-US" sz="1000" dirty="0"/>
          </a:p>
        </p:txBody>
      </p:sp>
      <p:sp>
        <p:nvSpPr>
          <p:cNvPr id="21" name="Text 15"/>
          <p:cNvSpPr txBox="1"/>
          <p:nvPr/>
        </p:nvSpPr>
        <p:spPr>
          <a:xfrm>
            <a:off x="5989320" y="1280160"/>
            <a:ext cx="2743200" cy="32004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A memory is switched off when…</a:t>
            </a:r>
            <a:endParaRPr lang="en-US" sz="1500" dirty="0"/>
          </a:p>
        </p:txBody>
      </p:sp>
      <p:sp>
        <p:nvSpPr>
          <p:cNvPr id="22" name="Rule 1 circle"/>
          <p:cNvSpPr/>
          <p:nvPr/>
        </p:nvSpPr>
        <p:spPr>
          <a:xfrm>
            <a:off x="5989320" y="1737360"/>
            <a:ext cx="457200" cy="457200"/>
          </a:xfrm>
          <a:prstGeom prst="ellipse">
            <a:avLst/>
          </a:prstGeom>
          <a:solidFill>
            <a:srgbClr val="EEF4FC"/>
          </a:solidFill>
          <a:ln w="12700">
            <a:solidFill>
              <a:srgbClr val="EEF4FC"/>
            </a:solidFill>
            <a:prstDash val="solid"/>
          </a:ln>
        </p:spPr>
      </p:sp>
      <p:pic>
        <p:nvPicPr>
          <p:cNvPr id="23" name="Rule 1 icon" descr="preencoded.png">    </p:cNvPr>
          <p:cNvPicPr>
            <a:picLocks noChangeAspect="1"/>
          </p:cNvPicPr>
          <p:nvPr/>
        </p:nvPicPr>
        <p:blipFill>
          <a:blip r:embed="rId5"/>
          <a:stretch>
            <a:fillRect/>
          </a:stretch>
        </p:blipFill>
        <p:spPr>
          <a:xfrm>
            <a:off x="6103620" y="1851660"/>
            <a:ext cx="228600" cy="228600"/>
          </a:xfrm>
          <a:prstGeom prst="rect">
            <a:avLst/>
          </a:prstGeom>
        </p:spPr>
      </p:pic>
      <p:sp>
        <p:nvSpPr>
          <p:cNvPr id="24" name="Text 17"/>
          <p:cNvSpPr txBox="1"/>
          <p:nvPr/>
        </p:nvSpPr>
        <p:spPr>
          <a:xfrm>
            <a:off x="6583680" y="171907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corrected 3+ times, more often than it helped</a:t>
            </a:r>
            <a:endParaRPr lang="en-US" sz="1300" dirty="0"/>
          </a:p>
        </p:txBody>
      </p:sp>
      <p:sp>
        <p:nvSpPr>
          <p:cNvPr id="25" name="Rule 2 circle"/>
          <p:cNvSpPr/>
          <p:nvPr/>
        </p:nvSpPr>
        <p:spPr>
          <a:xfrm>
            <a:off x="5989320" y="2514600"/>
            <a:ext cx="457200" cy="457200"/>
          </a:xfrm>
          <a:prstGeom prst="ellipse">
            <a:avLst/>
          </a:prstGeom>
          <a:solidFill>
            <a:srgbClr val="EEF4FC"/>
          </a:solidFill>
          <a:ln w="12700">
            <a:solidFill>
              <a:srgbClr val="EEF4FC"/>
            </a:solidFill>
            <a:prstDash val="solid"/>
          </a:ln>
        </p:spPr>
      </p:sp>
      <p:pic>
        <p:nvPicPr>
          <p:cNvPr id="26" name="Rule 2 icon" descr="preencoded.png">    </p:cNvPr>
          <p:cNvPicPr>
            <a:picLocks noChangeAspect="1"/>
          </p:cNvPicPr>
          <p:nvPr/>
        </p:nvPicPr>
        <p:blipFill>
          <a:blip r:embed="rId6"/>
          <a:stretch>
            <a:fillRect/>
          </a:stretch>
        </p:blipFill>
        <p:spPr>
          <a:xfrm>
            <a:off x="6103620" y="2628900"/>
            <a:ext cx="228600" cy="228600"/>
          </a:xfrm>
          <a:prstGeom prst="rect">
            <a:avLst/>
          </a:prstGeom>
        </p:spPr>
      </p:pic>
      <p:sp>
        <p:nvSpPr>
          <p:cNvPr id="27" name="Text 19"/>
          <p:cNvSpPr txBox="1"/>
          <p:nvPr/>
        </p:nvSpPr>
        <p:spPr>
          <a:xfrm>
            <a:off x="6583680" y="249631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retrieved 10+ times but never used</a:t>
            </a:r>
            <a:endParaRPr lang="en-US" sz="1300" dirty="0"/>
          </a:p>
        </p:txBody>
      </p:sp>
      <p:sp>
        <p:nvSpPr>
          <p:cNvPr id="28" name="Rule 3 circle"/>
          <p:cNvSpPr/>
          <p:nvPr/>
        </p:nvSpPr>
        <p:spPr>
          <a:xfrm>
            <a:off x="5989320" y="3291840"/>
            <a:ext cx="457200" cy="457200"/>
          </a:xfrm>
          <a:prstGeom prst="ellipse">
            <a:avLst/>
          </a:prstGeom>
          <a:solidFill>
            <a:srgbClr val="EEF4FC"/>
          </a:solidFill>
          <a:ln w="12700">
            <a:solidFill>
              <a:srgbClr val="EEF4FC"/>
            </a:solidFill>
            <a:prstDash val="solid"/>
          </a:ln>
        </p:spPr>
      </p:sp>
      <p:pic>
        <p:nvPicPr>
          <p:cNvPr id="29" name="Rule 3 icon" descr="preencoded.png">    </p:cNvPr>
          <p:cNvPicPr>
            <a:picLocks noChangeAspect="1"/>
          </p:cNvPicPr>
          <p:nvPr/>
        </p:nvPicPr>
        <p:blipFill>
          <a:blip r:embed="rId7"/>
          <a:stretch>
            <a:fillRect/>
          </a:stretch>
        </p:blipFill>
        <p:spPr>
          <a:xfrm>
            <a:off x="6103620" y="3406140"/>
            <a:ext cx="228600" cy="228600"/>
          </a:xfrm>
          <a:prstGeom prst="rect">
            <a:avLst/>
          </a:prstGeom>
        </p:spPr>
      </p:pic>
      <p:sp>
        <p:nvSpPr>
          <p:cNvPr id="30" name="Text 21"/>
          <p:cNvSpPr txBox="1"/>
          <p:nvPr/>
        </p:nvSpPr>
        <p:spPr>
          <a:xfrm>
            <a:off x="6583680" y="327355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hasn't been used for 90 days</a:t>
            </a:r>
            <a:endParaRPr lang="en-US" sz="1300" dirty="0"/>
          </a:p>
        </p:txBody>
      </p:sp>
      <p:sp>
        <p:nvSpPr>
          <p:cNvPr id="31" name="Text 22"/>
          <p:cNvSpPr txBox="1"/>
          <p:nvPr/>
        </p:nvSpPr>
        <p:spPr>
          <a:xfrm>
            <a:off x="5989320" y="4114800"/>
            <a:ext cx="2697480" cy="457200"/>
          </a:xfrm>
          <a:prstGeom prst="rect">
            <a:avLst/>
          </a:prstGeom>
          <a:noFill/>
          <a:ln/>
        </p:spPr>
        <p:txBody>
          <a:bodyPr wrap="square" lIns="0" tIns="0" rIns="0" bIns="0" rtlCol="0" anchor="ctr"/>
          <a:lstStyle/>
          <a:p>
            <a:pPr indent="0" marL="0">
              <a:buNone/>
            </a:pPr>
            <a:r>
              <a:rPr lang="en-US" sz="1200" i="1" dirty="0">
                <a:solidFill>
                  <a:srgbClr val="0040B8"/>
                </a:solidFill>
                <a:latin typeface="Calibri" pitchFamily="34" charset="0"/>
                <a:ea typeface="Calibri" pitchFamily="34" charset="-122"/>
                <a:cs typeface="Calibri" pitchFamily="34" charset="-120"/>
              </a:rPr>
              <a:t>Users can turn any memory back on, which gives it a fresh start.</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Priya's visits, with the AIDEX Assistant</a:t>
            </a:r>
            <a:endParaRPr lang="en-US" sz="2800" dirty="0"/>
          </a:p>
        </p:txBody>
      </p:sp>
      <p:sp>
        <p:nvSpPr>
          <p:cNvPr id="4" name="Text 2"/>
          <p:cNvSpPr txBox="1"/>
          <p:nvPr/>
        </p:nvSpPr>
        <p:spPr>
          <a:xfrm>
            <a:off x="457200" y="1234440"/>
            <a:ext cx="18288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1</a:t>
            </a:r>
            <a:endParaRPr lang="en-US" sz="1200" dirty="0"/>
          </a:p>
        </p:txBody>
      </p:sp>
      <p:sp>
        <p:nvSpPr>
          <p:cNvPr id="5" name="Priya message"/>
          <p:cNvSpPr/>
          <p:nvPr/>
        </p:nvSpPr>
        <p:spPr>
          <a:xfrm>
            <a:off x="1463040" y="1508760"/>
            <a:ext cx="3840480" cy="457200"/>
          </a:xfrm>
          <a:prstGeom prst="roundRect">
            <a:avLst>
              <a:gd name="adj" fmla="val 20000"/>
            </a:avLst>
          </a:prstGeom>
          <a:solidFill>
            <a:srgbClr val="001878"/>
          </a:solidFill>
          <a:ln w="12700">
            <a:solidFill>
              <a:srgbClr val="001878"/>
            </a:solidFill>
            <a:prstDash val="solid"/>
          </a:ln>
        </p:spPr>
      </p:sp>
      <p:sp>
        <p:nvSpPr>
          <p:cNvPr id="6" name="Text 4"/>
          <p:cNvSpPr txBox="1"/>
          <p:nvPr/>
        </p:nvSpPr>
        <p:spPr>
          <a:xfrm>
            <a:off x="1600200" y="1508760"/>
            <a:ext cx="35661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I'm an IT student. Please keep answers short, with bullet points.</a:t>
            </a:r>
            <a:endParaRPr lang="en-US" sz="1200" dirty="0"/>
          </a:p>
        </p:txBody>
      </p:sp>
      <p:sp>
        <p:nvSpPr>
          <p:cNvPr id="7" name="Noted chip"/>
          <p:cNvSpPr/>
          <p:nvPr/>
        </p:nvSpPr>
        <p:spPr>
          <a:xfrm>
            <a:off x="457200" y="2057400"/>
            <a:ext cx="4023360" cy="292608"/>
          </a:xfrm>
          <a:prstGeom prst="roundRect">
            <a:avLst>
              <a:gd name="adj" fmla="val 50000"/>
            </a:avLst>
          </a:prstGeom>
          <a:solidFill>
            <a:srgbClr val="E3F8FC"/>
          </a:solidFill>
          <a:ln w="12700">
            <a:solidFill>
              <a:srgbClr val="00D4F0"/>
            </a:solidFill>
            <a:prstDash val="solid"/>
          </a:ln>
        </p:spPr>
      </p:sp>
      <p:sp>
        <p:nvSpPr>
          <p:cNvPr id="8" name="Text 6"/>
          <p:cNvSpPr txBox="1"/>
          <p:nvPr/>
        </p:nvSpPr>
        <p:spPr>
          <a:xfrm>
            <a:off x="548640" y="2057400"/>
            <a:ext cx="3886200" cy="292608"/>
          </a:xfrm>
          <a:prstGeom prst="rect">
            <a:avLst/>
          </a:prstGeom>
          <a:noFill/>
          <a:ln/>
        </p:spPr>
        <p:txBody>
          <a:bodyPr wrap="square" lIns="0" tIns="0" rIns="0" bIns="0" rtlCol="0" anchor="ctr"/>
          <a:lstStyle/>
          <a:p>
            <a:pPr indent="0" marL="0">
              <a:buNone/>
            </a:pPr>
            <a:r>
              <a:rPr lang="en-US" sz="1100" b="1" dirty="0">
                <a:solidFill>
                  <a:srgbClr val="001878"/>
                </a:solidFill>
                <a:latin typeface="Calibri" pitchFamily="34" charset="0"/>
                <a:ea typeface="Calibri" pitchFamily="34" charset="-122"/>
                <a:cs typeface="Calibri" pitchFamily="34" charset="-120"/>
              </a:rPr>
              <a:t>✓ Noted for next time: prefers short answers in bullet points</a:t>
            </a:r>
            <a:endParaRPr lang="en-US" sz="1100" dirty="0"/>
          </a:p>
        </p:txBody>
      </p:sp>
      <p:sp>
        <p:nvSpPr>
          <p:cNvPr id="9" name="Text 7"/>
          <p:cNvSpPr txBox="1"/>
          <p:nvPr/>
        </p:nvSpPr>
        <p:spPr>
          <a:xfrm>
            <a:off x="457200" y="2514600"/>
            <a:ext cx="27432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2, the next day</a:t>
            </a:r>
            <a:endParaRPr lang="en-US" sz="1200" dirty="0"/>
          </a:p>
        </p:txBody>
      </p:sp>
      <p:sp>
        <p:nvSpPr>
          <p:cNvPr id="10" name="Priya message"/>
          <p:cNvSpPr/>
          <p:nvPr/>
        </p:nvSpPr>
        <p:spPr>
          <a:xfrm>
            <a:off x="2377440" y="2788920"/>
            <a:ext cx="2926080" cy="384048"/>
          </a:xfrm>
          <a:prstGeom prst="roundRect">
            <a:avLst>
              <a:gd name="adj" fmla="val 23810"/>
            </a:avLst>
          </a:prstGeom>
          <a:solidFill>
            <a:srgbClr val="001878"/>
          </a:solidFill>
          <a:ln w="12700">
            <a:solidFill>
              <a:srgbClr val="001878"/>
            </a:solidFill>
            <a:prstDash val="solid"/>
          </a:ln>
        </p:spPr>
      </p:sp>
      <p:sp>
        <p:nvSpPr>
          <p:cNvPr id="11" name="Text 9"/>
          <p:cNvSpPr txBox="1"/>
          <p:nvPr/>
        </p:nvSpPr>
        <p:spPr>
          <a:xfrm>
            <a:off x="2514600" y="2788920"/>
            <a:ext cx="265176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How can I get involved with the lab?</a:t>
            </a:r>
            <a:endParaRPr lang="en-US" sz="1200" dirty="0"/>
          </a:p>
        </p:txBody>
      </p:sp>
      <p:sp>
        <p:nvSpPr>
          <p:cNvPr id="12" name="Assistant message"/>
          <p:cNvSpPr/>
          <p:nvPr/>
        </p:nvSpPr>
        <p:spPr>
          <a:xfrm>
            <a:off x="457200" y="3264408"/>
            <a:ext cx="3566160" cy="777240"/>
          </a:xfrm>
          <a:prstGeom prst="roundRect">
            <a:avLst>
              <a:gd name="adj" fmla="val 11765"/>
            </a:avLst>
          </a:prstGeom>
          <a:solidFill>
            <a:srgbClr val="EEF4FC"/>
          </a:solidFill>
          <a:ln w="12700">
            <a:solidFill>
              <a:srgbClr val="EEF4FC"/>
            </a:solidFill>
            <a:prstDash val="solid"/>
          </a:ln>
        </p:spPr>
      </p:sp>
      <p:sp>
        <p:nvSpPr>
          <p:cNvPr id="13" name="Text 11"/>
          <p:cNvSpPr txBox="1"/>
          <p:nvPr/>
        </p:nvSpPr>
        <p:spPr>
          <a:xfrm>
            <a:off x="594360" y="3264408"/>
            <a:ext cx="3291840" cy="777240"/>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  Student placements and internships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Research assistant roles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Industry collaboration</a:t>
            </a:r>
            <a:endParaRPr lang="en-US" sz="1200" dirty="0"/>
          </a:p>
        </p:txBody>
      </p:sp>
      <p:sp>
        <p:nvSpPr>
          <p:cNvPr id="14" name="Thumbs"/>
          <p:cNvSpPr/>
          <p:nvPr/>
        </p:nvSpPr>
        <p:spPr>
          <a:xfrm>
            <a:off x="4160520" y="3611880"/>
            <a:ext cx="1143000" cy="384048"/>
          </a:xfrm>
          <a:prstGeom prst="roundRect">
            <a:avLst>
              <a:gd name="adj" fmla="val 23810"/>
            </a:avLst>
          </a:prstGeom>
          <a:solidFill>
            <a:srgbClr val="FFFFFF"/>
          </a:solidFill>
          <a:ln w="12700">
            <a:solidFill>
              <a:srgbClr val="C9D6EA"/>
            </a:solidFill>
            <a:prstDash val="solid"/>
          </a:ln>
        </p:spPr>
      </p:sp>
      <p:pic>
        <p:nvPicPr>
          <p:cNvPr id="15" name="Thumbs icon" descr="preencoded.png">    </p:cNvPr>
          <p:cNvPicPr>
            <a:picLocks noChangeAspect="1"/>
          </p:cNvPicPr>
          <p:nvPr/>
        </p:nvPicPr>
        <p:blipFill>
          <a:blip r:embed="rId1"/>
          <a:stretch>
            <a:fillRect/>
          </a:stretch>
        </p:blipFill>
        <p:spPr>
          <a:xfrm>
            <a:off x="4251960" y="3685032"/>
            <a:ext cx="237744" cy="237744"/>
          </a:xfrm>
          <a:prstGeom prst="rect">
            <a:avLst/>
          </a:prstGeom>
        </p:spPr>
      </p:pic>
      <p:sp>
        <p:nvSpPr>
          <p:cNvPr id="16" name="Text 13"/>
          <p:cNvSpPr txBox="1"/>
          <p:nvPr/>
        </p:nvSpPr>
        <p:spPr>
          <a:xfrm>
            <a:off x="4544568" y="3611880"/>
            <a:ext cx="731520" cy="384048"/>
          </a:xfrm>
          <a:prstGeom prst="rect">
            <a:avLst/>
          </a:prstGeom>
          <a:noFill/>
          <a:ln/>
        </p:spPr>
        <p:txBody>
          <a:bodyPr wrap="square" lIns="0" tIns="0" rIns="0" bIns="0"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Helpful</a:t>
            </a:r>
            <a:endParaRPr lang="en-US" sz="1100" dirty="0"/>
          </a:p>
        </p:txBody>
      </p:sp>
      <p:sp>
        <p:nvSpPr>
          <p:cNvPr id="17" name="Text 14"/>
          <p:cNvSpPr txBox="1"/>
          <p:nvPr/>
        </p:nvSpPr>
        <p:spPr>
          <a:xfrm>
            <a:off x="5669280" y="1234440"/>
            <a:ext cx="3017520" cy="256032"/>
          </a:xfrm>
          <a:prstGeom prst="rect">
            <a:avLst/>
          </a:prstGeom>
          <a:noFill/>
          <a:ln/>
        </p:spPr>
        <p:txBody>
          <a:bodyPr wrap="square" lIns="0" tIns="0" rIns="0" bIns="0" rtlCol="0" anchor="ctr"/>
          <a:lstStyle/>
          <a:p>
            <a:pPr indent="0" marL="0">
              <a:buNone/>
            </a:pPr>
            <a:r>
              <a:rPr lang="en-US" sz="1200" b="1" dirty="0">
                <a:solidFill>
                  <a:srgbClr val="5A6478"/>
                </a:solidFill>
                <a:latin typeface="Arial" pitchFamily="34" charset="0"/>
                <a:ea typeface="Arial" pitchFamily="34" charset="-122"/>
                <a:cs typeface="Arial" pitchFamily="34" charset="-120"/>
              </a:rPr>
              <a:t>Behind the scenes</a:t>
            </a:r>
            <a:endParaRPr lang="en-US" sz="1200" dirty="0"/>
          </a:p>
        </p:txBody>
      </p:sp>
      <p:sp>
        <p:nvSpPr>
          <p:cNvPr id="18" name="Behind circle"/>
          <p:cNvSpPr/>
          <p:nvPr/>
        </p:nvSpPr>
        <p:spPr>
          <a:xfrm>
            <a:off x="5669280" y="1554480"/>
            <a:ext cx="384048" cy="384048"/>
          </a:xfrm>
          <a:prstGeom prst="ellipse">
            <a:avLst/>
          </a:prstGeom>
          <a:solidFill>
            <a:srgbClr val="EEF4FC"/>
          </a:solidFill>
          <a:ln w="12700">
            <a:solidFill>
              <a:srgbClr val="EEF4FC"/>
            </a:solidFill>
            <a:prstDash val="solid"/>
          </a:ln>
        </p:spPr>
      </p:sp>
      <p:pic>
        <p:nvPicPr>
          <p:cNvPr id="19" name="Behind icon" descr="preencoded.png">    </p:cNvPr>
          <p:cNvPicPr>
            <a:picLocks noChangeAspect="1"/>
          </p:cNvPicPr>
          <p:nvPr/>
        </p:nvPicPr>
        <p:blipFill>
          <a:blip r:embed="rId2"/>
          <a:stretch>
            <a:fillRect/>
          </a:stretch>
        </p:blipFill>
        <p:spPr>
          <a:xfrm>
            <a:off x="5765292" y="1650492"/>
            <a:ext cx="192024" cy="192024"/>
          </a:xfrm>
          <a:prstGeom prst="rect">
            <a:avLst/>
          </a:prstGeom>
        </p:spPr>
      </p:pic>
      <p:sp>
        <p:nvSpPr>
          <p:cNvPr id="20" name="Text 16"/>
          <p:cNvSpPr txBox="1"/>
          <p:nvPr/>
        </p:nvSpPr>
        <p:spPr>
          <a:xfrm>
            <a:off x="6144768" y="151790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"short, bullet points" as intent calibration</a:t>
            </a:r>
            <a:endParaRPr lang="en-US" sz="1100" dirty="0"/>
          </a:p>
        </p:txBody>
      </p:sp>
      <p:sp>
        <p:nvSpPr>
          <p:cNvPr id="21" name="Behind circle"/>
          <p:cNvSpPr/>
          <p:nvPr/>
        </p:nvSpPr>
        <p:spPr>
          <a:xfrm>
            <a:off x="5669280" y="2103120"/>
            <a:ext cx="384048" cy="384048"/>
          </a:xfrm>
          <a:prstGeom prst="ellipse">
            <a:avLst/>
          </a:prstGeom>
          <a:solidFill>
            <a:srgbClr val="EEF4FC"/>
          </a:solidFill>
          <a:ln w="12700">
            <a:solidFill>
              <a:srgbClr val="EEF4FC"/>
            </a:solidFill>
            <a:prstDash val="solid"/>
          </a:ln>
        </p:spPr>
      </p:sp>
      <p:pic>
        <p:nvPicPr>
          <p:cNvPr id="22" name="Behind icon" descr="preencoded.png">    </p:cNvPr>
          <p:cNvPicPr>
            <a:picLocks noChangeAspect="1"/>
          </p:cNvPicPr>
          <p:nvPr/>
        </p:nvPicPr>
        <p:blipFill>
          <a:blip r:embed="rId3"/>
          <a:stretch>
            <a:fillRect/>
          </a:stretch>
        </p:blipFill>
        <p:spPr>
          <a:xfrm>
            <a:off x="5765292" y="2199132"/>
            <a:ext cx="192024" cy="192024"/>
          </a:xfrm>
          <a:prstGeom prst="rect">
            <a:avLst/>
          </a:prstGeom>
        </p:spPr>
      </p:pic>
      <p:sp>
        <p:nvSpPr>
          <p:cNvPr id="23" name="Text 18"/>
          <p:cNvSpPr txBox="1"/>
          <p:nvPr/>
        </p:nvSpPr>
        <p:spPr>
          <a:xfrm>
            <a:off x="6144768" y="206654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"IT student" as domain knowledge</a:t>
            </a:r>
            <a:endParaRPr lang="en-US" sz="1100" dirty="0"/>
          </a:p>
        </p:txBody>
      </p:sp>
      <p:sp>
        <p:nvSpPr>
          <p:cNvPr id="24" name="Behind circle"/>
          <p:cNvSpPr/>
          <p:nvPr/>
        </p:nvSpPr>
        <p:spPr>
          <a:xfrm>
            <a:off x="5669280" y="2743200"/>
            <a:ext cx="384048" cy="384048"/>
          </a:xfrm>
          <a:prstGeom prst="ellipse">
            <a:avLst/>
          </a:prstGeom>
          <a:solidFill>
            <a:srgbClr val="EEF4FC"/>
          </a:solidFill>
          <a:ln w="12700">
            <a:solidFill>
              <a:srgbClr val="EEF4FC"/>
            </a:solidFill>
            <a:prstDash val="solid"/>
          </a:ln>
        </p:spPr>
      </p:sp>
      <p:pic>
        <p:nvPicPr>
          <p:cNvPr id="25" name="Behind icon" descr="preencoded.png">    </p:cNvPr>
          <p:cNvPicPr>
            <a:picLocks noChangeAspect="1"/>
          </p:cNvPicPr>
          <p:nvPr/>
        </p:nvPicPr>
        <p:blipFill>
          <a:blip r:embed="rId4"/>
          <a:stretch>
            <a:fillRect/>
          </a:stretch>
        </p:blipFill>
        <p:spPr>
          <a:xfrm>
            <a:off x="5765292" y="2839212"/>
            <a:ext cx="192024" cy="192024"/>
          </a:xfrm>
          <a:prstGeom prst="rect">
            <a:avLst/>
          </a:prstGeom>
        </p:spPr>
      </p:pic>
      <p:sp>
        <p:nvSpPr>
          <p:cNvPr id="26" name="Text 20"/>
          <p:cNvSpPr txBox="1"/>
          <p:nvPr/>
        </p:nvSpPr>
        <p:spPr>
          <a:xfrm>
            <a:off x="6144768" y="270662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Next day: recalls both memories before answering</a:t>
            </a:r>
            <a:endParaRPr lang="en-US" sz="1100" dirty="0"/>
          </a:p>
        </p:txBody>
      </p:sp>
      <p:sp>
        <p:nvSpPr>
          <p:cNvPr id="27" name="Behind circle"/>
          <p:cNvSpPr/>
          <p:nvPr/>
        </p:nvSpPr>
        <p:spPr>
          <a:xfrm>
            <a:off x="5669280" y="3337560"/>
            <a:ext cx="384048" cy="384048"/>
          </a:xfrm>
          <a:prstGeom prst="ellipse">
            <a:avLst/>
          </a:prstGeom>
          <a:solidFill>
            <a:srgbClr val="EEF4FC"/>
          </a:solidFill>
          <a:ln w="12700">
            <a:solidFill>
              <a:srgbClr val="EEF4FC"/>
            </a:solidFill>
            <a:prstDash val="solid"/>
          </a:ln>
        </p:spPr>
      </p:sp>
      <p:pic>
        <p:nvPicPr>
          <p:cNvPr id="28" name="Behind icon" descr="preencoded.png">    </p:cNvPr>
          <p:cNvPicPr>
            <a:picLocks noChangeAspect="1"/>
          </p:cNvPicPr>
          <p:nvPr/>
        </p:nvPicPr>
        <p:blipFill>
          <a:blip r:embed="rId5"/>
          <a:stretch>
            <a:fillRect/>
          </a:stretch>
        </p:blipFill>
        <p:spPr>
          <a:xfrm>
            <a:off x="5765292" y="3433572"/>
            <a:ext cx="192024" cy="192024"/>
          </a:xfrm>
          <a:prstGeom prst="rect">
            <a:avLst/>
          </a:prstGeom>
        </p:spPr>
      </p:pic>
      <p:sp>
        <p:nvSpPr>
          <p:cNvPr id="29" name="Text 22"/>
          <p:cNvSpPr txBox="1"/>
          <p:nvPr/>
        </p:nvSpPr>
        <p:spPr>
          <a:xfrm>
            <a:off x="6144768" y="330098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Records which memory shaped the reply, and the thumbs up as helpful</a:t>
            </a:r>
            <a:endParaRPr lang="en-US" sz="1100" dirty="0"/>
          </a:p>
        </p:txBody>
      </p:sp>
      <p:sp>
        <p:nvSpPr>
          <p:cNvPr id="30" name="Walkthrough band"/>
          <p:cNvSpPr/>
          <p:nvPr/>
        </p:nvSpPr>
        <p:spPr>
          <a:xfrm>
            <a:off x="457200" y="4206240"/>
            <a:ext cx="8229600" cy="438912"/>
          </a:xfrm>
          <a:prstGeom prst="roundRect">
            <a:avLst>
              <a:gd name="adj" fmla="val 20833"/>
            </a:avLst>
          </a:prstGeom>
          <a:solidFill>
            <a:srgbClr val="001878"/>
          </a:solidFill>
          <a:ln w="12700">
            <a:solidFill>
              <a:srgbClr val="001878"/>
            </a:solidFill>
            <a:prstDash val="solid"/>
          </a:ln>
        </p:spPr>
      </p:sp>
      <p:sp>
        <p:nvSpPr>
          <p:cNvPr id="31" name="Text 24"/>
          <p:cNvSpPr txBox="1"/>
          <p:nvPr/>
        </p:nvSpPr>
        <p:spPr>
          <a:xfrm>
            <a:off x="640080" y="4206240"/>
            <a:ext cx="786384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Priya says it once. The assistant remembers, uses it, and counts whether it helped.</a:t>
            </a:r>
            <a:endParaRPr lang="en-US" sz="1400" dirty="0"/>
          </a:p>
        </p:txBody>
      </p:sp>
      <p:sp>
        <p:nvSpPr>
          <p:cNvPr id="32" name="Text 25"/>
          <p:cNvSpPr txBox="1"/>
          <p:nvPr/>
        </p:nvSpPr>
        <p:spPr>
          <a:xfrm>
            <a:off x="457200" y="4727448"/>
            <a:ext cx="5486400" cy="228600"/>
          </a:xfrm>
          <a:prstGeom prst="rect">
            <a:avLst/>
          </a:prstGeom>
          <a:noFill/>
          <a:ln/>
        </p:spPr>
        <p:txBody>
          <a:bodyPr wrap="square" lIns="0" tIns="0" rIns="0" bIns="0" rtlCol="0" anchor="ctr"/>
          <a:lstStyle/>
          <a:p>
            <a:pPr indent="0" marL="0">
              <a:buNone/>
            </a:pPr>
            <a:r>
              <a:rPr lang="en-US" sz="1000" i="1" dirty="0">
                <a:solidFill>
                  <a:srgbClr val="5A6478"/>
                </a:solidFill>
                <a:latin typeface="Calibri" pitchFamily="34" charset="0"/>
                <a:ea typeface="Calibri" pitchFamily="34" charset="-122"/>
                <a:cs typeface="Calibri" pitchFamily="34" charset="-120"/>
              </a:rPr>
              <a:t>Illustration of the flow, based on how the prototype works.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HAS BEEN BUILT</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Screens from the working prototype</a:t>
            </a:r>
            <a:endParaRPr lang="en-US" sz="2800" dirty="0"/>
          </a:p>
        </p:txBody>
      </p:sp>
      <p:sp>
        <p:nvSpPr>
          <p:cNvPr id="4" name="home-light.png frame"/>
          <p:cNvSpPr/>
          <p:nvPr/>
        </p:nvSpPr>
        <p:spPr>
          <a:xfrm>
            <a:off x="420624" y="1289304"/>
            <a:ext cx="4005072" cy="2407730"/>
          </a:xfrm>
          <a:prstGeom prst="roundRect">
            <a:avLst>
              <a:gd name="adj" fmla="val 227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5" name="home-light.png" descr="/tmp/claude-0/-home-claude/398bf9dd-6b67-538a-8ba5-158c7090f9f1/scratchpad/shots/home-light.png">    </p:cNvPr>
          <p:cNvPicPr>
            <a:picLocks noChangeAspect="1"/>
          </p:cNvPicPr>
          <p:nvPr/>
        </p:nvPicPr>
        <p:blipFill>
          <a:blip r:embed="rId1"/>
          <a:stretch>
            <a:fillRect/>
          </a:stretch>
        </p:blipFill>
        <p:spPr>
          <a:xfrm>
            <a:off x="457200" y="1325880"/>
            <a:ext cx="3931920" cy="2334578"/>
          </a:xfrm>
          <a:prstGeom prst="rect">
            <a:avLst/>
          </a:prstGeom>
        </p:spPr>
      </p:pic>
      <p:sp>
        <p:nvSpPr>
          <p:cNvPr id="6" name="Text 3"/>
          <p:cNvSpPr txBox="1"/>
          <p:nvPr/>
        </p:nvSpPr>
        <p:spPr>
          <a:xfrm>
            <a:off x="457200" y="3703320"/>
            <a:ext cx="393192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Chat with starter questions, light and dark mode, works on phones</a:t>
            </a:r>
            <a:endParaRPr lang="en-US" sz="1100" dirty="0"/>
          </a:p>
        </p:txBody>
      </p:sp>
      <p:sp>
        <p:nvSpPr>
          <p:cNvPr id="7" name="memory-panel.png frame"/>
          <p:cNvSpPr/>
          <p:nvPr/>
        </p:nvSpPr>
        <p:spPr>
          <a:xfrm>
            <a:off x="4535424" y="1289304"/>
            <a:ext cx="1856232" cy="2324190"/>
          </a:xfrm>
          <a:prstGeom prst="roundRect">
            <a:avLst>
              <a:gd name="adj" fmla="val 2956"/>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8" name="memory-panel.png" descr="/tmp/claude-0/-home-claude/398bf9dd-6b67-538a-8ba5-158c7090f9f1/scratchpad/shots/memory-panel.png">    </p:cNvPr>
          <p:cNvPicPr>
            <a:picLocks noChangeAspect="1"/>
          </p:cNvPicPr>
          <p:nvPr/>
        </p:nvPicPr>
        <p:blipFill>
          <a:blip r:embed="rId2"/>
          <a:stretch>
            <a:fillRect/>
          </a:stretch>
        </p:blipFill>
        <p:spPr>
          <a:xfrm>
            <a:off x="4572000" y="1325880"/>
            <a:ext cx="1783080" cy="2251038"/>
          </a:xfrm>
          <a:prstGeom prst="rect">
            <a:avLst/>
          </a:prstGeom>
        </p:spPr>
      </p:pic>
      <p:sp>
        <p:nvSpPr>
          <p:cNvPr id="9" name="Text 5"/>
          <p:cNvSpPr txBox="1"/>
          <p:nvPr/>
        </p:nvSpPr>
        <p:spPr>
          <a:xfrm>
            <a:off x="4572000" y="3703320"/>
            <a:ext cx="178308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Memory the user can see, edit, pause or delete</a:t>
            </a:r>
            <a:endParaRPr lang="en-US" sz="1100" dirty="0"/>
          </a:p>
        </p:txBody>
      </p:sp>
      <p:sp>
        <p:nvSpPr>
          <p:cNvPr id="10" name="consent.png frame"/>
          <p:cNvSpPr/>
          <p:nvPr/>
        </p:nvSpPr>
        <p:spPr>
          <a:xfrm>
            <a:off x="6501384" y="1289304"/>
            <a:ext cx="2221992" cy="2372621"/>
          </a:xfrm>
          <a:prstGeom prst="roundRect">
            <a:avLst>
              <a:gd name="adj" fmla="val 246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11" name="consent.png" descr="/tmp/claude-0/-home-claude/398bf9dd-6b67-538a-8ba5-158c7090f9f1/scratchpad/shots/consent.png">    </p:cNvPr>
          <p:cNvPicPr>
            <a:picLocks noChangeAspect="1"/>
          </p:cNvPicPr>
          <p:nvPr/>
        </p:nvPicPr>
        <p:blipFill>
          <a:blip r:embed="rId3"/>
          <a:stretch>
            <a:fillRect/>
          </a:stretch>
        </p:blipFill>
        <p:spPr>
          <a:xfrm>
            <a:off x="6537960" y="1325880"/>
            <a:ext cx="2148840" cy="2299469"/>
          </a:xfrm>
          <a:prstGeom prst="rect">
            <a:avLst/>
          </a:prstGeom>
        </p:spPr>
      </p:pic>
      <p:sp>
        <p:nvSpPr>
          <p:cNvPr id="12" name="Text 7"/>
          <p:cNvSpPr txBox="1"/>
          <p:nvPr/>
        </p:nvSpPr>
        <p:spPr>
          <a:xfrm>
            <a:off x="6537960" y="3703320"/>
            <a:ext cx="214884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Research consent, with a clear prototype notice</a:t>
            </a:r>
            <a:endParaRPr lang="en-US" sz="1100" dirty="0"/>
          </a:p>
        </p:txBody>
      </p:sp>
      <p:sp>
        <p:nvSpPr>
          <p:cNvPr id="13" name="Chip 1 circle"/>
          <p:cNvSpPr/>
          <p:nvPr/>
        </p:nvSpPr>
        <p:spPr>
          <a:xfrm>
            <a:off x="457200" y="4251960"/>
            <a:ext cx="365760" cy="365760"/>
          </a:xfrm>
          <a:prstGeom prst="ellipse">
            <a:avLst/>
          </a:prstGeom>
          <a:solidFill>
            <a:srgbClr val="EEF4FC"/>
          </a:solidFill>
          <a:ln w="12700">
            <a:solidFill>
              <a:srgbClr val="EEF4FC"/>
            </a:solidFill>
            <a:prstDash val="solid"/>
          </a:ln>
        </p:spPr>
      </p:sp>
      <p:pic>
        <p:nvPicPr>
          <p:cNvPr id="14" name="Chip 1 icon" descr="preencoded.png">    </p:cNvPr>
          <p:cNvPicPr>
            <a:picLocks noChangeAspect="1"/>
          </p:cNvPicPr>
          <p:nvPr/>
        </p:nvPicPr>
        <p:blipFill>
          <a:blip r:embed="rId4"/>
          <a:stretch>
            <a:fillRect/>
          </a:stretch>
        </p:blipFill>
        <p:spPr>
          <a:xfrm>
            <a:off x="548640" y="4343400"/>
            <a:ext cx="182880" cy="182880"/>
          </a:xfrm>
          <a:prstGeom prst="rect">
            <a:avLst/>
          </a:prstGeom>
        </p:spPr>
      </p:pic>
      <p:sp>
        <p:nvSpPr>
          <p:cNvPr id="15" name="Text 9"/>
          <p:cNvSpPr txBox="1"/>
          <p:nvPr/>
        </p:nvSpPr>
        <p:spPr>
          <a:xfrm>
            <a:off x="91440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Opt-in memory</a:t>
            </a:r>
            <a:endParaRPr lang="en-US" sz="1200" dirty="0"/>
          </a:p>
        </p:txBody>
      </p:sp>
      <p:sp>
        <p:nvSpPr>
          <p:cNvPr id="16" name="Chip 2 circle"/>
          <p:cNvSpPr/>
          <p:nvPr/>
        </p:nvSpPr>
        <p:spPr>
          <a:xfrm>
            <a:off x="2560320" y="4251960"/>
            <a:ext cx="365760" cy="365760"/>
          </a:xfrm>
          <a:prstGeom prst="ellipse">
            <a:avLst/>
          </a:prstGeom>
          <a:solidFill>
            <a:srgbClr val="EEF4FC"/>
          </a:solidFill>
          <a:ln w="12700">
            <a:solidFill>
              <a:srgbClr val="EEF4FC"/>
            </a:solidFill>
            <a:prstDash val="solid"/>
          </a:ln>
        </p:spPr>
      </p:sp>
      <p:pic>
        <p:nvPicPr>
          <p:cNvPr id="17" name="Chip 2 icon" descr="preencoded.png">    </p:cNvPr>
          <p:cNvPicPr>
            <a:picLocks noChangeAspect="1"/>
          </p:cNvPicPr>
          <p:nvPr/>
        </p:nvPicPr>
        <p:blipFill>
          <a:blip r:embed="rId5"/>
          <a:stretch>
            <a:fillRect/>
          </a:stretch>
        </p:blipFill>
        <p:spPr>
          <a:xfrm>
            <a:off x="2651760" y="4343400"/>
            <a:ext cx="182880" cy="182880"/>
          </a:xfrm>
          <a:prstGeom prst="rect">
            <a:avLst/>
          </a:prstGeom>
        </p:spPr>
      </p:pic>
      <p:sp>
        <p:nvSpPr>
          <p:cNvPr id="18" name="Text 11"/>
          <p:cNvSpPr txBox="1"/>
          <p:nvPr/>
        </p:nvSpPr>
        <p:spPr>
          <a:xfrm>
            <a:off x="301752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Full control</a:t>
            </a:r>
            <a:endParaRPr lang="en-US" sz="1200" dirty="0"/>
          </a:p>
        </p:txBody>
      </p:sp>
      <p:sp>
        <p:nvSpPr>
          <p:cNvPr id="19" name="Chip 3 circle"/>
          <p:cNvSpPr/>
          <p:nvPr/>
        </p:nvSpPr>
        <p:spPr>
          <a:xfrm>
            <a:off x="4663440" y="4251960"/>
            <a:ext cx="365760" cy="365760"/>
          </a:xfrm>
          <a:prstGeom prst="ellipse">
            <a:avLst/>
          </a:prstGeom>
          <a:solidFill>
            <a:srgbClr val="EEF4FC"/>
          </a:solidFill>
          <a:ln w="12700">
            <a:solidFill>
              <a:srgbClr val="EEF4FC"/>
            </a:solidFill>
            <a:prstDash val="solid"/>
          </a:ln>
        </p:spPr>
      </p:sp>
      <p:pic>
        <p:nvPicPr>
          <p:cNvPr id="20" name="Chip 3 icon" descr="preencoded.png">    </p:cNvPr>
          <p:cNvPicPr>
            <a:picLocks noChangeAspect="1"/>
          </p:cNvPicPr>
          <p:nvPr/>
        </p:nvPicPr>
        <p:blipFill>
          <a:blip r:embed="rId6"/>
          <a:stretch>
            <a:fillRect/>
          </a:stretch>
        </p:blipFill>
        <p:spPr>
          <a:xfrm>
            <a:off x="4754880" y="4343400"/>
            <a:ext cx="182880" cy="182880"/>
          </a:xfrm>
          <a:prstGeom prst="rect">
            <a:avLst/>
          </a:prstGeom>
        </p:spPr>
      </p:pic>
      <p:sp>
        <p:nvSpPr>
          <p:cNvPr id="21" name="Text 13"/>
          <p:cNvSpPr txBox="1"/>
          <p:nvPr/>
        </p:nvSpPr>
        <p:spPr>
          <a:xfrm>
            <a:off x="512064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Informed consent</a:t>
            </a:r>
            <a:endParaRPr lang="en-US" sz="1200" dirty="0"/>
          </a:p>
        </p:txBody>
      </p:sp>
      <p:sp>
        <p:nvSpPr>
          <p:cNvPr id="22" name="Chip 4 circle"/>
          <p:cNvSpPr/>
          <p:nvPr/>
        </p:nvSpPr>
        <p:spPr>
          <a:xfrm>
            <a:off x="6766560" y="4251960"/>
            <a:ext cx="365760" cy="365760"/>
          </a:xfrm>
          <a:prstGeom prst="ellipse">
            <a:avLst/>
          </a:prstGeom>
          <a:solidFill>
            <a:srgbClr val="EEF4FC"/>
          </a:solidFill>
          <a:ln w="12700">
            <a:solidFill>
              <a:srgbClr val="EEF4FC"/>
            </a:solidFill>
            <a:prstDash val="solid"/>
          </a:ln>
        </p:spPr>
      </p:sp>
      <p:pic>
        <p:nvPicPr>
          <p:cNvPr id="23" name="Chip 4 icon" descr="preencoded.png">    </p:cNvPr>
          <p:cNvPicPr>
            <a:picLocks noChangeAspect="1"/>
          </p:cNvPicPr>
          <p:nvPr/>
        </p:nvPicPr>
        <p:blipFill>
          <a:blip r:embed="rId7"/>
          <a:stretch>
            <a:fillRect/>
          </a:stretch>
        </p:blipFill>
        <p:spPr>
          <a:xfrm>
            <a:off x="6858000" y="4343400"/>
            <a:ext cx="182880" cy="182880"/>
          </a:xfrm>
          <a:prstGeom prst="rect">
            <a:avLst/>
          </a:prstGeom>
        </p:spPr>
      </p:pic>
      <p:sp>
        <p:nvSpPr>
          <p:cNvPr id="24" name="Text 15"/>
          <p:cNvSpPr txBox="1"/>
          <p:nvPr/>
        </p:nvSpPr>
        <p:spPr>
          <a:xfrm>
            <a:off x="722376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Download or delete your data</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WAS TESTED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Testing and evaluation</a:t>
            </a:r>
            <a:endParaRPr lang="en-US" sz="2800" dirty="0"/>
          </a:p>
        </p:txBody>
      </p:sp>
      <p:graphicFrame>
        <p:nvGraphicFramePr>
          <p:cNvPr id="4" name="Chart 0" descr=""/>
          <p:cNvGraphicFramePr/>
          <p:nvPr/>
        </p:nvGraphicFramePr>
        <p:xfrm>
          <a:off x="457200" y="128016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5" name="Eval 1 circle"/>
          <p:cNvSpPr/>
          <p:nvPr/>
        </p:nvSpPr>
        <p:spPr>
          <a:xfrm>
            <a:off x="5303520" y="1325880"/>
            <a:ext cx="502920" cy="502920"/>
          </a:xfrm>
          <a:prstGeom prst="ellipse">
            <a:avLst/>
          </a:prstGeom>
          <a:solidFill>
            <a:srgbClr val="EEF4FC"/>
          </a:solidFill>
          <a:ln w="12700">
            <a:solidFill>
              <a:srgbClr val="EEF4FC"/>
            </a:solidFill>
            <a:prstDash val="solid"/>
          </a:ln>
        </p:spPr>
      </p:sp>
      <p:pic>
        <p:nvPicPr>
          <p:cNvPr id="6" name="Eval 1 icon" descr="preencoded.png">    </p:cNvPr>
          <p:cNvPicPr>
            <a:picLocks noChangeAspect="1"/>
          </p:cNvPicPr>
          <p:nvPr/>
        </p:nvPicPr>
        <p:blipFill>
          <a:blip r:embed="rId2"/>
          <a:stretch>
            <a:fillRect/>
          </a:stretch>
        </p:blipFill>
        <p:spPr>
          <a:xfrm>
            <a:off x="5429250" y="1451610"/>
            <a:ext cx="251460" cy="251460"/>
          </a:xfrm>
          <a:prstGeom prst="rect">
            <a:avLst/>
          </a:prstGeom>
        </p:spPr>
      </p:pic>
      <p:sp>
        <p:nvSpPr>
          <p:cNvPr id="7" name="Text 3"/>
          <p:cNvSpPr txBox="1"/>
          <p:nvPr/>
        </p:nvSpPr>
        <p:spPr>
          <a:xfrm>
            <a:off x="5943600" y="130759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Three user types</a:t>
            </a:r>
            <a:endParaRPr lang="en-US" sz="1400" dirty="0"/>
          </a:p>
        </p:txBody>
      </p:sp>
      <p:sp>
        <p:nvSpPr>
          <p:cNvPr id="8" name="Text 4"/>
          <p:cNvSpPr txBox="1"/>
          <p:nvPr/>
        </p:nvSpPr>
        <p:spPr>
          <a:xfrm>
            <a:off x="5943600" y="161848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Anonymous visitors, students with memory, and consenting research participants</a:t>
            </a:r>
            <a:endParaRPr lang="en-US" sz="1200" dirty="0"/>
          </a:p>
        </p:txBody>
      </p:sp>
      <p:sp>
        <p:nvSpPr>
          <p:cNvPr id="9" name="Eval 2 circle"/>
          <p:cNvSpPr/>
          <p:nvPr/>
        </p:nvSpPr>
        <p:spPr>
          <a:xfrm>
            <a:off x="5303520" y="2423160"/>
            <a:ext cx="502920" cy="502920"/>
          </a:xfrm>
          <a:prstGeom prst="ellipse">
            <a:avLst/>
          </a:prstGeom>
          <a:solidFill>
            <a:srgbClr val="EEF4FC"/>
          </a:solidFill>
          <a:ln w="12700">
            <a:solidFill>
              <a:srgbClr val="EEF4FC"/>
            </a:solidFill>
            <a:prstDash val="solid"/>
          </a:ln>
        </p:spPr>
      </p:sp>
      <p:pic>
        <p:nvPicPr>
          <p:cNvPr id="10" name="Eval 2 icon" descr="preencoded.png">    </p:cNvPr>
          <p:cNvPicPr>
            <a:picLocks noChangeAspect="1"/>
          </p:cNvPicPr>
          <p:nvPr/>
        </p:nvPicPr>
        <p:blipFill>
          <a:blip r:embed="rId3"/>
          <a:stretch>
            <a:fillRect/>
          </a:stretch>
        </p:blipFill>
        <p:spPr>
          <a:xfrm>
            <a:off x="5429250" y="2548890"/>
            <a:ext cx="251460" cy="251460"/>
          </a:xfrm>
          <a:prstGeom prst="rect">
            <a:avLst/>
          </a:prstGeom>
        </p:spPr>
      </p:pic>
      <p:sp>
        <p:nvSpPr>
          <p:cNvPr id="11" name="Text 6"/>
          <p:cNvSpPr txBox="1"/>
          <p:nvPr/>
        </p:nvSpPr>
        <p:spPr>
          <a:xfrm>
            <a:off x="5943600" y="240487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Automated tests</a:t>
            </a:r>
            <a:endParaRPr lang="en-US" sz="1400" dirty="0"/>
          </a:p>
        </p:txBody>
      </p:sp>
      <p:sp>
        <p:nvSpPr>
          <p:cNvPr id="12" name="Text 7"/>
          <p:cNvSpPr txBox="1"/>
          <p:nvPr/>
        </p:nvSpPr>
        <p:spPr>
          <a:xfrm>
            <a:off x="5943600" y="271576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Unit and API tests cover retrieval, memory, guardrails, privacy and the dashboard</a:t>
            </a:r>
            <a:endParaRPr lang="en-US" sz="1200" dirty="0"/>
          </a:p>
        </p:txBody>
      </p:sp>
      <p:sp>
        <p:nvSpPr>
          <p:cNvPr id="13" name="Eval 3 circle"/>
          <p:cNvSpPr/>
          <p:nvPr/>
        </p:nvSpPr>
        <p:spPr>
          <a:xfrm>
            <a:off x="5303520" y="3520440"/>
            <a:ext cx="502920" cy="502920"/>
          </a:xfrm>
          <a:prstGeom prst="ellipse">
            <a:avLst/>
          </a:prstGeom>
          <a:solidFill>
            <a:srgbClr val="EEF4FC"/>
          </a:solidFill>
          <a:ln w="12700">
            <a:solidFill>
              <a:srgbClr val="EEF4FC"/>
            </a:solidFill>
            <a:prstDash val="solid"/>
          </a:ln>
        </p:spPr>
      </p:sp>
      <p:pic>
        <p:nvPicPr>
          <p:cNvPr id="14" name="Eval 3 icon" descr="preencoded.png">    </p:cNvPr>
          <p:cNvPicPr>
            <a:picLocks noChangeAspect="1"/>
          </p:cNvPicPr>
          <p:nvPr/>
        </p:nvPicPr>
        <p:blipFill>
          <a:blip r:embed="rId4"/>
          <a:stretch>
            <a:fillRect/>
          </a:stretch>
        </p:blipFill>
        <p:spPr>
          <a:xfrm>
            <a:off x="5429250" y="3646170"/>
            <a:ext cx="251460" cy="251460"/>
          </a:xfrm>
          <a:prstGeom prst="rect">
            <a:avLst/>
          </a:prstGeom>
        </p:spPr>
      </p:pic>
      <p:sp>
        <p:nvSpPr>
          <p:cNvPr id="15" name="Text 9"/>
          <p:cNvSpPr txBox="1"/>
          <p:nvPr/>
        </p:nvSpPr>
        <p:spPr>
          <a:xfrm>
            <a:off x="5943600" y="350215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Synthetic users</a:t>
            </a:r>
            <a:endParaRPr lang="en-US" sz="1400" dirty="0"/>
          </a:p>
        </p:txBody>
      </p:sp>
      <p:sp>
        <p:nvSpPr>
          <p:cNvPr id="16" name="Text 10"/>
          <p:cNvSpPr txBox="1"/>
          <p:nvPr/>
        </p:nvSpPr>
        <p:spPr>
          <a:xfrm>
            <a:off x="5943600" y="381304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 simulation runs the full learning loop over several days, so no real data is needed</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NEXT STEPS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this goes next</a:t>
            </a:r>
            <a:endParaRPr lang="en-US" sz="2800" dirty="0"/>
          </a:p>
        </p:txBody>
      </p:sp>
      <p:sp>
        <p:nvSpPr>
          <p:cNvPr id="4" name="Shape 2"/>
          <p:cNvSpPr/>
          <p:nvPr/>
        </p:nvSpPr>
        <p:spPr>
          <a:xfrm>
            <a:off x="731520" y="1737360"/>
            <a:ext cx="7680960" cy="914"/>
          </a:xfrm>
          <a:prstGeom prst="line">
            <a:avLst/>
          </a:prstGeom>
          <a:noFill/>
          <a:ln w="38100">
            <a:solidFill>
              <a:srgbClr val="C9D6EA"/>
            </a:solidFill>
            <a:prstDash val="solid"/>
          </a:ln>
        </p:spPr>
      </p:sp>
      <p:sp>
        <p:nvSpPr>
          <p:cNvPr id="5" name="Stage dot 1"/>
          <p:cNvSpPr/>
          <p:nvPr/>
        </p:nvSpPr>
        <p:spPr>
          <a:xfrm>
            <a:off x="594360" y="1508760"/>
            <a:ext cx="457200" cy="457200"/>
          </a:xfrm>
          <a:prstGeom prst="ellipse">
            <a:avLst/>
          </a:prstGeom>
          <a:solidFill>
            <a:srgbClr val="001878"/>
          </a:solidFill>
          <a:ln w="19050">
            <a:solidFill>
              <a:srgbClr val="001878"/>
            </a:solidFill>
            <a:prstDash val="solid"/>
          </a:ln>
        </p:spPr>
      </p:sp>
      <p:sp>
        <p:nvSpPr>
          <p:cNvPr id="6" name="Text 4"/>
          <p:cNvSpPr txBox="1"/>
          <p:nvPr/>
        </p:nvSpPr>
        <p:spPr>
          <a:xfrm>
            <a:off x="118872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Now</a:t>
            </a:r>
            <a:endParaRPr lang="en-US" sz="1600" dirty="0"/>
          </a:p>
        </p:txBody>
      </p:sp>
      <p:sp>
        <p:nvSpPr>
          <p:cNvPr id="7" name="Stage 1"/>
          <p:cNvSpPr/>
          <p:nvPr/>
        </p:nvSpPr>
        <p:spPr>
          <a:xfrm>
            <a:off x="457200" y="2194560"/>
            <a:ext cx="1920240" cy="2011680"/>
          </a:xfrm>
          <a:prstGeom prst="roundRect">
            <a:avLst>
              <a:gd name="adj" fmla="val 4762"/>
            </a:avLst>
          </a:prstGeom>
          <a:solidFill>
            <a:srgbClr val="001878"/>
          </a:solidFill>
          <a:ln w="12700">
            <a:solidFill>
              <a:srgbClr val="001878"/>
            </a:solidFill>
            <a:prstDash val="solid"/>
          </a:ln>
        </p:spPr>
      </p:sp>
      <p:sp>
        <p:nvSpPr>
          <p:cNvPr id="8" name="Text 6"/>
          <p:cNvSpPr txBox="1"/>
          <p:nvPr/>
        </p:nvSpPr>
        <p:spPr>
          <a:xfrm>
            <a:off x="64008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Working prototype</a:t>
            </a:r>
            <a:endParaRPr lang="en-US" sz="1400" dirty="0"/>
          </a:p>
        </p:txBody>
      </p:sp>
      <p:sp>
        <p:nvSpPr>
          <p:cNvPr id="9" name="Text 7"/>
          <p:cNvSpPr txBox="1"/>
          <p:nvPr/>
        </p:nvSpPr>
        <p:spPr>
          <a:xfrm>
            <a:off x="64008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Lab knowledge base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Two-layer memory</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Dashboard and tests</a:t>
            </a:r>
            <a:endParaRPr lang="en-US" sz="1200" dirty="0"/>
          </a:p>
        </p:txBody>
      </p:sp>
      <p:sp>
        <p:nvSpPr>
          <p:cNvPr id="10" name="Stage dot 2"/>
          <p:cNvSpPr/>
          <p:nvPr/>
        </p:nvSpPr>
        <p:spPr>
          <a:xfrm>
            <a:off x="2697480" y="1508760"/>
            <a:ext cx="457200" cy="457200"/>
          </a:xfrm>
          <a:prstGeom prst="ellipse">
            <a:avLst/>
          </a:prstGeom>
          <a:solidFill>
            <a:srgbClr val="0040B8"/>
          </a:solidFill>
          <a:ln w="19050">
            <a:solidFill>
              <a:srgbClr val="0040B8"/>
            </a:solidFill>
            <a:prstDash val="solid"/>
          </a:ln>
        </p:spPr>
      </p:sp>
      <p:sp>
        <p:nvSpPr>
          <p:cNvPr id="11" name="Text 9"/>
          <p:cNvSpPr txBox="1"/>
          <p:nvPr/>
        </p:nvSpPr>
        <p:spPr>
          <a:xfrm>
            <a:off x="329184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Next</a:t>
            </a:r>
            <a:endParaRPr lang="en-US" sz="1600" dirty="0"/>
          </a:p>
        </p:txBody>
      </p:sp>
      <p:sp>
        <p:nvSpPr>
          <p:cNvPr id="12" name="Stage 2"/>
          <p:cNvSpPr/>
          <p:nvPr/>
        </p:nvSpPr>
        <p:spPr>
          <a:xfrm>
            <a:off x="2560320" y="2194560"/>
            <a:ext cx="1920240" cy="2011680"/>
          </a:xfrm>
          <a:prstGeom prst="roundRect">
            <a:avLst>
              <a:gd name="adj" fmla="val 4762"/>
            </a:avLst>
          </a:prstGeom>
          <a:solidFill>
            <a:srgbClr val="0040B8"/>
          </a:solidFill>
          <a:ln w="12700">
            <a:solidFill>
              <a:srgbClr val="0040B8"/>
            </a:solidFill>
            <a:prstDash val="solid"/>
          </a:ln>
        </p:spPr>
      </p:sp>
      <p:sp>
        <p:nvSpPr>
          <p:cNvPr id="13" name="Text 11"/>
          <p:cNvSpPr txBox="1"/>
          <p:nvPr/>
        </p:nvSpPr>
        <p:spPr>
          <a:xfrm>
            <a:off x="274320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Better answers</a:t>
            </a:r>
            <a:endParaRPr lang="en-US" sz="1400" dirty="0"/>
          </a:p>
        </p:txBody>
      </p:sp>
      <p:sp>
        <p:nvSpPr>
          <p:cNvPr id="14" name="Text 12"/>
          <p:cNvSpPr txBox="1"/>
          <p:nvPr/>
        </p:nvSpPr>
        <p:spPr>
          <a:xfrm>
            <a:off x="274320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Larger local model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Paper abstracts and FAQ</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Welcome screen</a:t>
            </a:r>
            <a:endParaRPr lang="en-US" sz="1200" dirty="0"/>
          </a:p>
        </p:txBody>
      </p:sp>
      <p:sp>
        <p:nvSpPr>
          <p:cNvPr id="15" name="Stage dot 3"/>
          <p:cNvSpPr/>
          <p:nvPr/>
        </p:nvSpPr>
        <p:spPr>
          <a:xfrm>
            <a:off x="4800600" y="1508760"/>
            <a:ext cx="457200" cy="457200"/>
          </a:xfrm>
          <a:prstGeom prst="ellipse">
            <a:avLst/>
          </a:prstGeom>
          <a:solidFill>
            <a:srgbClr val="0078D8"/>
          </a:solidFill>
          <a:ln w="19050">
            <a:solidFill>
              <a:srgbClr val="0078D8"/>
            </a:solidFill>
            <a:prstDash val="solid"/>
          </a:ln>
        </p:spPr>
      </p:sp>
      <p:sp>
        <p:nvSpPr>
          <p:cNvPr id="16" name="Text 14"/>
          <p:cNvSpPr txBox="1"/>
          <p:nvPr/>
        </p:nvSpPr>
        <p:spPr>
          <a:xfrm>
            <a:off x="539496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Then</a:t>
            </a:r>
            <a:endParaRPr lang="en-US" sz="1600" dirty="0"/>
          </a:p>
        </p:txBody>
      </p:sp>
      <p:sp>
        <p:nvSpPr>
          <p:cNvPr id="17" name="Stage 3"/>
          <p:cNvSpPr/>
          <p:nvPr/>
        </p:nvSpPr>
        <p:spPr>
          <a:xfrm>
            <a:off x="4663440" y="2194560"/>
            <a:ext cx="1920240" cy="2011680"/>
          </a:xfrm>
          <a:prstGeom prst="roundRect">
            <a:avLst>
              <a:gd name="adj" fmla="val 4762"/>
            </a:avLst>
          </a:prstGeom>
          <a:solidFill>
            <a:srgbClr val="0078D8"/>
          </a:solidFill>
          <a:ln w="12700">
            <a:solidFill>
              <a:srgbClr val="0078D8"/>
            </a:solidFill>
            <a:prstDash val="solid"/>
          </a:ln>
        </p:spPr>
      </p:sp>
      <p:sp>
        <p:nvSpPr>
          <p:cNvPr id="18" name="Text 16"/>
          <p:cNvSpPr txBox="1"/>
          <p:nvPr/>
        </p:nvSpPr>
        <p:spPr>
          <a:xfrm>
            <a:off x="484632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Real study</a:t>
            </a:r>
            <a:endParaRPr lang="en-US" sz="1400" dirty="0"/>
          </a:p>
        </p:txBody>
      </p:sp>
      <p:sp>
        <p:nvSpPr>
          <p:cNvPr id="19" name="Text 17"/>
          <p:cNvSpPr txBox="1"/>
          <p:nvPr/>
        </p:nvSpPr>
        <p:spPr>
          <a:xfrm>
            <a:off x="484632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Ethics approval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Real participants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Compare with and without memory</a:t>
            </a:r>
            <a:endParaRPr lang="en-US" sz="1200" dirty="0"/>
          </a:p>
        </p:txBody>
      </p:sp>
      <p:sp>
        <p:nvSpPr>
          <p:cNvPr id="20" name="Stage dot 4"/>
          <p:cNvSpPr/>
          <p:nvPr/>
        </p:nvSpPr>
        <p:spPr>
          <a:xfrm>
            <a:off x="6903720" y="1508760"/>
            <a:ext cx="457200" cy="457200"/>
          </a:xfrm>
          <a:prstGeom prst="ellipse">
            <a:avLst/>
          </a:prstGeom>
          <a:solidFill>
            <a:srgbClr val="EEF4FC"/>
          </a:solidFill>
          <a:ln w="19050">
            <a:solidFill>
              <a:srgbClr val="0040B8"/>
            </a:solidFill>
            <a:prstDash val="solid"/>
          </a:ln>
        </p:spPr>
      </p:sp>
      <p:sp>
        <p:nvSpPr>
          <p:cNvPr id="21" name="Text 19"/>
          <p:cNvSpPr txBox="1"/>
          <p:nvPr/>
        </p:nvSpPr>
        <p:spPr>
          <a:xfrm>
            <a:off x="749808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Later</a:t>
            </a:r>
            <a:endParaRPr lang="en-US" sz="1600" dirty="0"/>
          </a:p>
        </p:txBody>
      </p:sp>
      <p:sp>
        <p:nvSpPr>
          <p:cNvPr id="22" name="Stage 4"/>
          <p:cNvSpPr/>
          <p:nvPr/>
        </p:nvSpPr>
        <p:spPr>
          <a:xfrm>
            <a:off x="6766560" y="2194560"/>
            <a:ext cx="1920240" cy="2011680"/>
          </a:xfrm>
          <a:prstGeom prst="roundRect">
            <a:avLst>
              <a:gd name="adj" fmla="val 4762"/>
            </a:avLst>
          </a:prstGeom>
          <a:solidFill>
            <a:srgbClr val="EEF4FC"/>
          </a:solidFill>
          <a:ln w="12700">
            <a:solidFill>
              <a:srgbClr val="EEF4FC"/>
            </a:solidFill>
            <a:prstDash val="solid"/>
          </a:ln>
        </p:spPr>
      </p:sp>
      <p:sp>
        <p:nvSpPr>
          <p:cNvPr id="23" name="Text 21"/>
          <p:cNvSpPr txBox="1"/>
          <p:nvPr/>
        </p:nvSpPr>
        <p:spPr>
          <a:xfrm>
            <a:off x="6949440" y="2331720"/>
            <a:ext cx="1600200" cy="365760"/>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On the lab website</a:t>
            </a:r>
            <a:endParaRPr lang="en-US" sz="1400" dirty="0"/>
          </a:p>
        </p:txBody>
      </p:sp>
      <p:sp>
        <p:nvSpPr>
          <p:cNvPr id="24" name="Text 22"/>
          <p:cNvSpPr txBox="1"/>
          <p:nvPr/>
        </p:nvSpPr>
        <p:spPr>
          <a:xfrm>
            <a:off x="694944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Guided PhD and partner flows</a:t>
            </a:r>
            <a:endParaRPr lang="en-US" sz="1200" dirty="0"/>
          </a:p>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Deploy for visitors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assistant that answers from verified lab data, learns how each person likes to be helped, and measures whether that matters more than facts</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Questions and feedback welcome</a:t>
            </a:r>
            <a:endParaRPr lang="en-US" sz="1200" dirty="0"/>
          </a:p>
        </p:txBody>
      </p:sp>
    </p:spTree>
  </p:cSld>
  <p:clrMapOvr>
    <a:masterClrMapping/>
  </p:clrMapOvr>
</p:sld>
</file>

<file path=ppt/theme/theme1.xml><?xml version="1.0" encoding="utf-8"?>
<a:theme xmlns:a="http://schemas.openxmlformats.org/drawingml/2006/main" name="AIDEX">
  <a:themeElements>
    <a:clrScheme name="AIDEX">
      <a:dk1>
        <a:srgbClr val="1B2333"/>
      </a:dk1>
      <a:lt1>
        <a:srgbClr val="FFFFFF"/>
      </a:lt1>
      <a:dk2>
        <a:srgbClr val="001878"/>
      </a:dk2>
      <a:lt2>
        <a:srgbClr val="EEF4FC"/>
      </a:lt2>
      <a:accent1>
        <a:srgbClr val="0040B8"/>
      </a:accent1>
      <a:accent2>
        <a:srgbClr val="0078D8"/>
      </a:accent2>
      <a:accent3>
        <a:srgbClr val="00D4F0"/>
      </a:accent3>
      <a:accent4>
        <a:srgbClr val="001878"/>
      </a:accent4>
      <a:accent5>
        <a:srgbClr val="4A5A7A"/>
      </a:accent5>
      <a:accent6>
        <a:srgbClr val="8FA3C0"/>
      </a:accent6>
      <a:hlink>
        <a:srgbClr val="0078D8"/>
      </a:hlink>
      <a:folHlink>
        <a:srgbClr val="0040B8"/>
      </a:folHlink>
    </a:clrScheme>
    <a:fontScheme name="AIDE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AIDEX Assistant: Human Layer memory in practice</dc:title>
  <dc:subject>PptxGenJS Presentation</dc:subject>
  <dc:creator>PptxGenJS</dc:creator>
  <cp:lastModifiedBy>PptxGenJS</cp:lastModifiedBy>
  <cp:revision>1</cp:revision>
  <dcterms:created xsi:type="dcterms:W3CDTF">2026-10-17T00:50:42Z</dcterms:created>
  <dcterms:modified xsi:type="dcterms:W3CDTF">2026-10-17T00:50:42Z</dcterms:modified>
</cp:coreProperties>
</file>