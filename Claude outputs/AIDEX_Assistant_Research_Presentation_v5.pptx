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d0a8734-5c74-8192-aef2-5b21bf81beff}">
          <p14:sldIdLst>
            <p14:sldId id="256"/>
          </p14:sldIdLst>
        </p14:section>
        <p14:section name="Problem" id="{75bc5c04-d0f4-c272-425c-f7d0d8ccfa5c}">
          <p14:sldIdLst>
            <p14:sldId id="257"/>
            <p14:sldId id="258"/>
            <p14:sldId id="259"/>
            <p14:sldId id="260"/>
          </p14:sldIdLst>
        </p14:section>
        <p14:section name="Contribution" id="{6d5152a1-c391-96cb-9bfa-a1ad3df6c46a}">
          <p14:sldIdLst>
            <p14:sldId id="261"/>
            <p14:sldId id="262"/>
            <p14:sldId id="263"/>
          </p14:sldIdLst>
        </p14:section>
        <p14:section name="Implementation" id="{2f0298af-55e0-b247-4004-db509fe4c00b}">
          <p14:sldIdLst>
            <p14:sldId id="264"/>
            <p14:sldId id="265"/>
            <p14:sldId id="266"/>
            <p14:sldId id="267"/>
          </p14:sldIdLst>
        </p14:section>
        <p14:section name="Evaluation" id="{b0b6998b-1aa9-63be-d7f9-4711ca6a992a}">
          <p14:sldIdLst>
            <p14:sldId id="268"/>
          </p14:sldIdLst>
        </p14:section>
        <p14:section name="Future work" id="{4506aa8b-0964-88c8-3514-be84d40f6119}">
          <p14:sldIdLst>
            <p14:sldId id="269"/>
          </p14:sldIdLst>
        </p14:section>
        <p14:section name="Close" id="{2a731f42-b61b-a5f6-9666-792145b06f9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8"/>
                </a:solidFill>
                <a:latin typeface="+mn-lt"/>
              </a:defRPr>
            </a:pPr>
            <a:r>
              <a:rPr sz="1300" b="0" i="0" u="none" strike="noStrike">
                <a:solidFill>
                  <a:srgbClr val="5A6478"/>
                </a:solidFill>
                <a:latin typeface="+mn-lt"/>
              </a:rPr>
              <a:t>How often each memory type was reused</a:t>
            </a:r>
          </a:p>
        </c:rich>
      </c:tx>
      <c:layout/>
      <c:overlay val="0"/>
    </c:title>
    <c:autoTitleDeleted val="0"/>
    <c:plotArea>
      <c:layout/>
      <c:barChart>
        <c:barDir val="bar"/>
        <c:grouping val="clustered"/>
        <c:varyColors val="0"/>
        <c:ser>
          <c:idx val="0"/>
          <c:order val="0"/>
          <c:tx>
            <c:strRef>
              <c:f>Sheet1!$B$1</c:f>
              <c:strCache>
                <c:ptCount val="1"/>
                <c:pt idx="0">
                  <c:v>Relative reuse</c:v>
                </c:pt>
              </c:strCache>
            </c:strRef>
          </c:tx>
          <c:spPr>
            <a:solidFill>
              <a:srgbClr val="0040B8"/>
            </a:solidFill>
            <a:effectLst/>
          </c:spPr>
          <c:invertIfNegative val="0"/>
          <c:dLbls>
            <c:numFmt formatCode="0.0&quot;×&quot;" sourceLinked="0"/>
            <c:txPr>
              <a:bodyPr/>
              <a:lstStyle/>
              <a:p>
                <a:pPr>
                  <a:defRPr b="1" i="0" strike="noStrike" sz="1400" u="none">
                    <a:solidFill>
                      <a:srgbClr val="001878"/>
                    </a:solidFill>
                    <a:latin typeface="+mn-lt"/>
                  </a:defRPr>
                </a:pPr>
              </a:p>
            </c:txPr>
            <c:showLegendKey val="0"/>
            <c:showVal val="1"/>
            <c:showCatName val="0"/>
            <c:showSerName val="0"/>
            <c:showPercent val="0"/>
            <c:showBubbleSize val="0"/>
            <c:showLeaderLines val="0"/>
          </c:dLbls>
          <c:dPt>
            <c:idx val="0"/>
            <c:invertIfNegative val="0"/>
            <c:bubble3D val="0"/>
            <c:spPr>
              <a:solidFill>
                <a:srgbClr val="0040B8"/>
              </a:solidFill>
              <a:effectLst/>
            </c:spPr>
          </c:dPt>
          <c:dPt>
            <c:idx val="1"/>
            <c:invertIfNegative val="0"/>
            <c:bubble3D val="0"/>
            <c:spPr>
              <a:solidFill>
                <a:srgbClr val="8FA3C0"/>
              </a:solidFill>
              <a:effectLst/>
            </c:spPr>
          </c:dPt>
          <c:cat>
            <c:multiLvlStrRef>
              <c:f>Sheet1!$A$2:$A$3</c:f>
              <c:multiLvlStrCache>
                <c:ptCount val="2"/>
                <c:lvl>
                  <c:pt idx="0">
                    <c:v>Intent calibration
(how a person likes help)</c:v>
                  </c:pt>
                  <c:pt idx="1">
                    <c:v>Domain knowledge
(facts)</c:v>
                  </c:pt>
                </c:lvl>
              </c:multiLvlStrCache>
            </c:multiLvlStrRef>
          </c:cat>
          <c:val>
            <c:numRef>
              <c:f>Sheet1!$B$2:$B$3</c:f>
              <c:numCache>
                <c:formatCode>General</c:formatCode>
                <c:ptCount val="2"/>
                <c:pt idx="0">
                  <c:v>3.4</c:v>
                </c:pt>
                <c:pt idx="1">
                  <c:v>1</c:v>
                </c:pt>
              </c:numCache>
            </c:numRef>
          </c:val>
        </c:ser>
        <c:dLbls>
          <c:numFmt formatCode="0.0&quot;×&quot;" sourceLinked="0"/>
          <c:txPr>
            <a:bodyPr/>
            <a:lstStyle/>
            <a:p>
              <a:pPr>
                <a:defRPr b="1" i="0" strike="noStrike" sz="1400" u="none">
                  <a:solidFill>
                    <a:srgbClr val="0018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6478"/>
                </a:solidFill>
                <a:latin typeface="+mn-lt"/>
              </a:defRPr>
            </a:pPr>
            <a:r>
              <a:rPr sz="1300" b="0" i="0" u="none" strike="noStrike">
                <a:solidFill>
                  <a:srgbClr val="5A6478"/>
                </a:solidFill>
                <a:latin typeface="+mn-lt"/>
              </a:rPr>
              <a:t>39 evaluation questions, scored automatically</a:t>
            </a:r>
          </a:p>
        </c:rich>
      </c:tx>
      <c:layout/>
      <c:overlay val="0"/>
    </c:title>
    <c:autoTitleDeleted val="0"/>
    <c:plotArea>
      <c:layout/>
      <c:barChart>
        <c:barDir val="bar"/>
        <c:grouping val="clustered"/>
        <c:varyColors val="0"/>
        <c:ser>
          <c:idx val="0"/>
          <c:order val="0"/>
          <c:tx>
            <c:strRef>
              <c:f>Sheet1!$B$1</c:f>
              <c:strCache>
                <c:ptCount val="1"/>
                <c:pt idx="0">
                  <c:v>Questions</c:v>
                </c:pt>
              </c:strCache>
            </c:strRef>
          </c:tx>
          <c:spPr>
            <a:solidFill>
              <a:srgbClr val="0040B8"/>
            </a:solidFill>
            <a:effectLst/>
          </c:spPr>
          <c:invertIfNegative val="0"/>
          <c:dLbls>
            <c:numFmt formatCode="#,##0" sourceLinked="0"/>
            <c:txPr>
              <a:bodyPr/>
              <a:lstStyle/>
              <a:p>
                <a:pPr>
                  <a:defRPr b="1" i="0" strike="noStrike" sz="1300" u="none">
                    <a:solidFill>
                      <a:srgbClr val="001878"/>
                    </a:solidFill>
                    <a:latin typeface="+mn-lt"/>
                  </a:defRPr>
                </a:pPr>
              </a:p>
            </c:txPr>
            <c:showLegendKey val="0"/>
            <c:showVal val="1"/>
            <c:showCatName val="0"/>
            <c:showSerName val="0"/>
            <c:showPercent val="0"/>
            <c:showBubbleSize val="0"/>
            <c:showLeaderLines val="0"/>
          </c:dLbls>
          <c:cat>
            <c:multiLvlStrRef>
              <c:f>Sheet1!$A$2:$A$5</c:f>
              <c:multiLvlStrCache>
                <c:ptCount val="4"/>
                <c:lvl>
                  <c:pt idx="0">
                    <c:v>Lab knowledge</c:v>
                  </c:pt>
                  <c:pt idx="1">
                    <c:v>Memory and learning</c:v>
                  </c:pt>
                  <c:pt idx="2">
                    <c:v>Safety and identity</c:v>
                  </c:pt>
                  <c:pt idx="3">
                    <c:v>Privacy and consent</c:v>
                  </c:pt>
                </c:lvl>
              </c:multiLvlStrCache>
            </c:multiLvlStrRef>
          </c:cat>
          <c:val>
            <c:numRef>
              <c:f>Sheet1!$B$2:$B$5</c:f>
              <c:numCache>
                <c:formatCode>General</c:formatCode>
                <c:ptCount val="4"/>
                <c:pt idx="0">
                  <c:v>26</c:v>
                </c:pt>
                <c:pt idx="1">
                  <c:v>6</c:v>
                </c:pt>
                <c:pt idx="2">
                  <c:v>5</c:v>
                </c:pt>
                <c:pt idx="3">
                  <c:v>2</c:v>
                </c:pt>
              </c:numCache>
            </c:numRef>
          </c:val>
        </c:ser>
        <c:dLbls>
          <c:numFmt formatCode="#,##0" sourceLinked="0"/>
          <c:txPr>
            <a:bodyPr/>
            <a:lstStyle/>
            <a:p>
              <a:pPr>
                <a:defRPr b="1" i="0" strike="noStrike" sz="1300" u="none">
                  <a:solidFill>
                    <a:srgbClr val="00187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Professor, I'm Palden Gurung. For my project I built the AIDEX Assistant, a chatbot for the AIDEX Lab with one big idea: it learns how each person likes to be helped, and then it checks whether that actually made a difference. In the next few minutes I'll take you from the problem, to what I built, to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something most of us have done. It's Monday. You open an AI assistant and type, 'I'm a second-year IT student, keep it short and give me an example', and then you ask about recursion. On Wednesday you open a new chat and type the exact same sentence before asking about your assignment. Friday, same again. Thirteen words, three times in one week. And notice, the AI never struggled with the facts. It knows recursion and REST APIs. What it forgot was you, and how you like to be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bring that to the AIDEX Lab website. Imagine three people type the same question: 'How can I get involved with the lab?' An undergraduate wants a quick bulleted list of placements, internships and research assistant roles. A prospective PhD candidate wants depth: the research themes, supervision and how to enquire. An industry partner wants plain language about joint projects and boot camps. Same question, same facts, three very different needs. A one-size-fits-all chatbot gives them all the same answer, and it suits none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leads to my research question: how can an AI assistant learn and use each person's preferences in a way that is transparent, safe and measurable? Each of those words matters. Without memory, people waste effort repeating themselves. When assistants do remember, it's often hidden, so you can't see or fix what was stored. And very few systems measure whether a memory actually helped, so we're mostly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good reason to focus on preferences, and it comes from the lab's own research. In The Human Layer of Agentic AI Memory, Parameswaran, Hussain and Hossain looked at what self-improving AI systems actually learn in production. Rules about how a person wants to be helped were reused about 3.4 times more often than domain facts. That makes sense: 'use bullet points' helps with almost every question, while 'I study IT' only matters some of the time. The most valuable memory is about the person, not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current tools handle this? A typical FAQ chatbot answers questions but learns nothing about you. Assistants with memory do pick up preferences, and often let you edit them. But they usually mix preferences and facts together, don't show which memories were actually used, and run on someone else's servers. Nothing brings all of these together, and that's the gap. The AIDEX Assistant is designed to tick every row. To be fair, this compares common approaches, not specific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work contribute? Four things. First, a two-layer memory: every memory is labelled as intent calibration, how you like help, or domain knowledge, facts about you. That's the paper's distinction, turned into a working system. Second, measured reuse: after each answer the model reports which memories it used, so reuse is counted, not assumed. That's what lets us test the 3.4 to 1 finding. Third, a self-correcting loop: memories that keep getting corrected, or are never used, switch themselves off and record why. And fourth, it's transparent and private by design: opt-in, editable, consent-based, and running on a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with real examples. 'Keep answers under 50 words' and 'always use bullet points' are intent calibration. Even a correction like 'No, I meant the publications' counts, because it teaches the assistant what you mean. 'I'm a Bachelor of IT student' and 'I'm interested in agentic AI' are domain knowledge, facts about you. And some things are deliberately never saved: an ordinary question like 'Who leads the lab?', or anything sensitive, like health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it works like this. The user chats on a simple website. Each message goes to a Python backend built with FastAPI, which runs six steps. It checks the message for safety. It learns anything new. It recalls that person's memories from a SQLite database. It searches the lab's themes, publications and people using ChromaDB. It passes all of that to Gemma 2, an AI model running locally through Ollama, to write the answer. And finally it records which memories helped, which feeds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what keeps the memory healthy. Learn: 'keep answers to three bullet points' is saved as a preference. Use: it's added to the prompt next time. Track: the system counts how often each memory is retrieved, used, rated helpful or corrected. Review: a memory is switched off if it's been corrected three or more times and more often than it helped, if it was retrieved ten times but never used, or if it hasn't been used in ninety days. The user can always switch it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it together with a student like the one from the start. On their first visit they say, 'I'm an IT student, please keep answers short, with bullet points.' The assistant replies 'Noted for next time', and saves one intent memory and one domain memory. The next day they ask how to get involved with the lab, and this time there's no re-introduction. It recalls both memories and answers in short bullet points straight away. It logs which memory shaped the reply, and their thumbs up counts as helpful. Say it once, and it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what I've actually built. On the left is the chat assistant, with starter questions, light and dark mode in accessible colours, and a layout that works on phones. In the middle is the memory panel, where users can see everything the assistant has learned and edit, pause or delete it. On the right is the research consent screen. Because ethics approval isn't confirmed yet, it clearly says this is a prototype, and nothing is logged for research unless someone 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it, I wrote 39 evaluation questions that are scored automatically. Most check whether it knows the lab, and the rest test memory, safety and privacy. They run as three kinds of user: an anonymous visitor, a student with memory switched on, and a consenting research participant. There's also an automated test suite, and a simulation of synthetic users that runs the whole learning loop over several days. One honest point: those are synthetic users. They show the system works end to end, but they're not research findings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it go from here? Right now it's a working prototype. Next is better answers: a larger local model, plus paper abstracts and an FAQ in the knowledge base. Then the real test: with ethics approval, a study with real participants, comparing the assistant with and without memory to see whether preferences really are reused more than facts. Longer term, it could go live on the lab website with guided paths for prospective PhD students and industry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where we started. Nobody should have to re-introduce themselves to an AI three times a week. The AIDEX Assistant answers from verified lab data, learns how each person likes to be helped, keeps them in control, and measures whether that actually matters. Thank you for watching, and I'd really appreciate your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187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697480"/>
            <a:ext cx="7680960" cy="822960"/>
          </a:xfrm>
          <a:prstGeom prst="rect">
            <a:avLst/>
          </a:prstGeom>
          <a:noFill/>
          <a:ln/>
        </p:spPr>
        <p:txBody>
          <a:bodyPr wrap="square" rtlCol="0"/>
          <a:lstStyle>
            <a:lvl1pPr algn="l" indent="0" marL="0">
              <a:buNone/>
              <a:defRPr lang="en-US" sz="1800" dirty="0">
                <a:solidFill>
                  <a:srgbClr val="BFD4F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rtlCol="0"/>
          <a:lstStyle>
            <a:lvl1pPr algn="l" indent="0" marL="0">
              <a:buNone/>
              <a:defRPr lang="en-US" sz="1100" b="1" spc="200" kern="0" dirty="0">
                <a:solidFill>
                  <a:schemeClr val="accent2"/>
                </a:solidFill>
              </a:defRPr>
            </a:lvl1pPr>
          </a:lstStyle>
          <a:p>
            <a:pPr algn="l" indent="0" marL="0">
              <a:buNone/>
            </a:pP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pic>
        <p:nvPicPr>
          <p:cNvPr id="4" name="Image 0" descr="/home/claude/aidx/assets/logo-transparent.png">    </p:cNvPr>
          <p:cNvPicPr>
            <a:picLocks noChangeAspect="1"/>
          </p:cNvPicPr>
          <p:nvPr/>
        </p:nvPicPr>
        <p:blipFill>
          <a:blip r:embed="rId1"/>
          <a:stretch>
            <a:fillRect/>
          </a:stretch>
        </p:blipFill>
        <p:spPr>
          <a:xfrm>
            <a:off x="7818120" y="411480"/>
            <a:ext cx="868680" cy="215221"/>
          </a:xfrm>
          <a:prstGeom prst="rect">
            <a:avLst/>
          </a:prstGeom>
        </p:spPr>
      </p:pic>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40080"/>
            <a:ext cx="2194560" cy="543715"/>
          </a:xfrm>
          <a:prstGeom prst="rect">
            <a:avLst/>
          </a:prstGeom>
        </p:spPr>
      </p:pic>
      <p:sp>
        <p:nvSpPr>
          <p:cNvPr id="3" name="Text 0"/>
          <p:cNvSpPr/>
          <p:nvPr>
            <p:ph idx="100" type="title" hasCustomPrompt="1"/>
          </p:nvPr>
        </p:nvSpPr>
        <p:spPr>
          <a:xfrm>
            <a:off x="548640" y="1737360"/>
            <a:ext cx="8046720" cy="914400"/>
          </a:xfrm>
          <a:prstGeom prst="rect">
            <a:avLst/>
          </a:prstGeom>
          <a:noFill/>
          <a:ln/>
        </p:spPr>
        <p:txBody>
          <a:bodyPr wrap="square" lIns="0" tIns="0" rIns="0" bIns="0" rtlCol="0" anchor="t"/>
          <a:lstStyle/>
          <a:p>
            <a:pPr algn="l" indent="0" marL="0">
              <a:buNone/>
            </a:pPr>
            <a:r>
              <a:rPr lang="en-US" sz="3800" b="1" dirty="0">
                <a:solidFill>
                  <a:schemeClr val="bg1"/>
                </a:solidFill>
              </a:rPr>
              <a:t>AIDEX Assistant</a:t>
            </a:r>
            <a:endParaRPr lang="en-US" sz="3800" dirty="0"/>
          </a:p>
        </p:txBody>
      </p:sp>
      <p:sp>
        <p:nvSpPr>
          <p:cNvPr id="4" name="Text 0"/>
          <p:cNvSpPr/>
          <p:nvPr>
            <p:ph idx="101" type="body" hasCustomPrompt="1"/>
          </p:nvPr>
        </p:nvSpPr>
        <p:spPr>
          <a:xfrm>
            <a:off x="548640" y="2697480"/>
            <a:ext cx="7680960" cy="822960"/>
          </a:xfrm>
          <a:prstGeom prst="rect">
            <a:avLst/>
          </a:prstGeom>
          <a:noFill/>
          <a:ln/>
        </p:spPr>
        <p:txBody>
          <a:bodyPr wrap="square" lIns="0" tIns="0" rIns="0" bIns="0" rtlCol="0" anchor="t"/>
          <a:lstStyle/>
          <a:p>
            <a:pPr algn="l" indent="0" marL="0">
              <a:buNone/>
            </a:pPr>
            <a:r>
              <a:rPr lang="en-US" sz="1800" dirty="0">
                <a:solidFill>
                  <a:srgbClr val="BFD4F2"/>
                </a:solidFill>
              </a:rPr>
              <a:t>An AI assistant that learns how each person likes to be helped, and measures it</a:t>
            </a:r>
            <a:endParaRPr lang="en-US" sz="1800" dirty="0"/>
          </a:p>
        </p:txBody>
      </p:sp>
      <p:sp>
        <p:nvSpPr>
          <p:cNvPr id="5" name="Text 2"/>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Palden Gurung · S00391340  AIDEX Lab Chatbot Presentation ·  Australian Catholic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A REAL-LIFE EXAMPLE</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Re-introducing yourself to AI, again</a:t>
            </a:r>
            <a:endParaRPr lang="en-US" sz="2800" dirty="0"/>
          </a:p>
        </p:txBody>
      </p:sp>
      <p:sp>
        <p:nvSpPr>
          <p:cNvPr id="4" name="Monday chat"/>
          <p:cNvSpPr/>
          <p:nvPr/>
        </p:nvSpPr>
        <p:spPr>
          <a:xfrm>
            <a:off x="457200" y="1280160"/>
            <a:ext cx="2606040" cy="2514600"/>
          </a:xfrm>
          <a:prstGeom prst="roundRect">
            <a:avLst>
              <a:gd name="adj" fmla="val 3636"/>
            </a:avLst>
          </a:prstGeom>
          <a:solidFill>
            <a:srgbClr val="EEF4FC"/>
          </a:solidFill>
          <a:ln w="12700">
            <a:solidFill>
              <a:srgbClr val="EEF4FC"/>
            </a:solidFill>
            <a:prstDash val="solid"/>
          </a:ln>
        </p:spPr>
      </p:sp>
      <p:pic>
        <p:nvPicPr>
          <p:cNvPr id="5" name="Monday icon" descr="preencoded.png">    </p:cNvPr>
          <p:cNvPicPr>
            <a:picLocks noChangeAspect="1"/>
          </p:cNvPicPr>
          <p:nvPr/>
        </p:nvPicPr>
        <p:blipFill>
          <a:blip r:embed="rId1"/>
          <a:stretch>
            <a:fillRect/>
          </a:stretch>
        </p:blipFill>
        <p:spPr>
          <a:xfrm>
            <a:off x="640080" y="1417320"/>
            <a:ext cx="274320" cy="274320"/>
          </a:xfrm>
          <a:prstGeom prst="rect">
            <a:avLst/>
          </a:prstGeom>
        </p:spPr>
      </p:pic>
      <p:sp>
        <p:nvSpPr>
          <p:cNvPr id="6" name="Text 3"/>
          <p:cNvSpPr txBox="1"/>
          <p:nvPr/>
        </p:nvSpPr>
        <p:spPr>
          <a:xfrm>
            <a:off x="1005840" y="1389888"/>
            <a:ext cx="1920240" cy="329184"/>
          </a:xfrm>
          <a:prstGeom prst="rect">
            <a:avLst/>
          </a:prstGeom>
          <a:noFill/>
          <a:ln/>
        </p:spPr>
        <p:txBody>
          <a:bodyPr wrap="square" lIns="0" tIns="0" rIns="0" bIns="0" rtlCol="0" anchor="ctr"/>
          <a:lstStyle/>
          <a:p>
            <a:pPr indent="0" marL="0">
              <a:buNone/>
            </a:pPr>
            <a:r>
              <a:rPr lang="en-US" sz="1300" b="1" dirty="0">
                <a:solidFill>
                  <a:srgbClr val="0040B8"/>
                </a:solidFill>
                <a:latin typeface="Arial" pitchFamily="34" charset="0"/>
                <a:ea typeface="Arial" pitchFamily="34" charset="-122"/>
                <a:cs typeface="Arial" pitchFamily="34" charset="-120"/>
              </a:rPr>
              <a:t>New chat · Monday</a:t>
            </a:r>
            <a:endParaRPr lang="en-US" sz="1300" dirty="0"/>
          </a:p>
        </p:txBody>
      </p:sp>
      <p:sp>
        <p:nvSpPr>
          <p:cNvPr id="7" name="Repeated preamble 1"/>
          <p:cNvSpPr/>
          <p:nvPr/>
        </p:nvSpPr>
        <p:spPr>
          <a:xfrm>
            <a:off x="640080" y="1828800"/>
            <a:ext cx="2240280" cy="1097280"/>
          </a:xfrm>
          <a:prstGeom prst="roundRect">
            <a:avLst>
              <a:gd name="adj" fmla="val 8333"/>
            </a:avLst>
          </a:prstGeom>
          <a:solidFill>
            <a:srgbClr val="001878"/>
          </a:solidFill>
          <a:ln w="12700">
            <a:solidFill>
              <a:srgbClr val="001878"/>
            </a:solidFill>
            <a:prstDash val="solid"/>
          </a:ln>
        </p:spPr>
      </p:sp>
      <p:sp>
        <p:nvSpPr>
          <p:cNvPr id="8" name="Text 5"/>
          <p:cNvSpPr txBox="1"/>
          <p:nvPr/>
        </p:nvSpPr>
        <p:spPr>
          <a:xfrm>
            <a:off x="749808" y="1828800"/>
            <a:ext cx="201168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"I'm a second-year IT student. Keep it short and give me an example."</a:t>
            </a:r>
            <a:endParaRPr lang="en-US" sz="1300" dirty="0"/>
          </a:p>
        </p:txBody>
      </p:sp>
      <p:sp>
        <p:nvSpPr>
          <p:cNvPr id="9" name="Question 1"/>
          <p:cNvSpPr/>
          <p:nvPr/>
        </p:nvSpPr>
        <p:spPr>
          <a:xfrm>
            <a:off x="640080" y="3035808"/>
            <a:ext cx="2240280" cy="548640"/>
          </a:xfrm>
          <a:prstGeom prst="roundRect">
            <a:avLst>
              <a:gd name="adj" fmla="val 16667"/>
            </a:avLst>
          </a:prstGeom>
          <a:solidFill>
            <a:srgbClr val="FFFFFF"/>
          </a:solidFill>
          <a:ln w="12700">
            <a:solidFill>
              <a:srgbClr val="C9D6EA"/>
            </a:solidFill>
            <a:prstDash val="solid"/>
          </a:ln>
        </p:spPr>
      </p:sp>
      <p:sp>
        <p:nvSpPr>
          <p:cNvPr id="10" name="Text 7"/>
          <p:cNvSpPr txBox="1"/>
          <p:nvPr/>
        </p:nvSpPr>
        <p:spPr>
          <a:xfrm>
            <a:off x="749808" y="3035808"/>
            <a:ext cx="201168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Explain recursion</a:t>
            </a:r>
            <a:endParaRPr lang="en-US" sz="1300" dirty="0"/>
          </a:p>
        </p:txBody>
      </p:sp>
      <p:sp>
        <p:nvSpPr>
          <p:cNvPr id="11" name="Wednesday chat"/>
          <p:cNvSpPr/>
          <p:nvPr/>
        </p:nvSpPr>
        <p:spPr>
          <a:xfrm>
            <a:off x="3246120" y="1280160"/>
            <a:ext cx="2606040" cy="2514600"/>
          </a:xfrm>
          <a:prstGeom prst="roundRect">
            <a:avLst>
              <a:gd name="adj" fmla="val 3636"/>
            </a:avLst>
          </a:prstGeom>
          <a:solidFill>
            <a:srgbClr val="EEF4FC"/>
          </a:solidFill>
          <a:ln w="12700">
            <a:solidFill>
              <a:srgbClr val="EEF4FC"/>
            </a:solidFill>
            <a:prstDash val="solid"/>
          </a:ln>
        </p:spPr>
      </p:sp>
      <p:pic>
        <p:nvPicPr>
          <p:cNvPr id="12" name="Wednesday icon" descr="preencoded.png">    </p:cNvPr>
          <p:cNvPicPr>
            <a:picLocks noChangeAspect="1"/>
          </p:cNvPicPr>
          <p:nvPr/>
        </p:nvPicPr>
        <p:blipFill>
          <a:blip r:embed="rId2"/>
          <a:stretch>
            <a:fillRect/>
          </a:stretch>
        </p:blipFill>
        <p:spPr>
          <a:xfrm>
            <a:off x="3429000" y="1417320"/>
            <a:ext cx="274320" cy="274320"/>
          </a:xfrm>
          <a:prstGeom prst="rect">
            <a:avLst/>
          </a:prstGeom>
        </p:spPr>
      </p:pic>
      <p:sp>
        <p:nvSpPr>
          <p:cNvPr id="13" name="Text 9"/>
          <p:cNvSpPr txBox="1"/>
          <p:nvPr/>
        </p:nvSpPr>
        <p:spPr>
          <a:xfrm>
            <a:off x="3794760" y="1389888"/>
            <a:ext cx="1920240" cy="329184"/>
          </a:xfrm>
          <a:prstGeom prst="rect">
            <a:avLst/>
          </a:prstGeom>
          <a:noFill/>
          <a:ln/>
        </p:spPr>
        <p:txBody>
          <a:bodyPr wrap="square" lIns="0" tIns="0" rIns="0" bIns="0" rtlCol="0" anchor="ctr"/>
          <a:lstStyle/>
          <a:p>
            <a:pPr indent="0" marL="0">
              <a:buNone/>
            </a:pPr>
            <a:r>
              <a:rPr lang="en-US" sz="1300" b="1" dirty="0">
                <a:solidFill>
                  <a:srgbClr val="0040B8"/>
                </a:solidFill>
                <a:latin typeface="Arial" pitchFamily="34" charset="0"/>
                <a:ea typeface="Arial" pitchFamily="34" charset="-122"/>
                <a:cs typeface="Arial" pitchFamily="34" charset="-120"/>
              </a:rPr>
              <a:t>New chat · Wednesday</a:t>
            </a:r>
            <a:endParaRPr lang="en-US" sz="1300" dirty="0"/>
          </a:p>
        </p:txBody>
      </p:sp>
      <p:sp>
        <p:nvSpPr>
          <p:cNvPr id="14" name="Repeated preamble 2"/>
          <p:cNvSpPr/>
          <p:nvPr/>
        </p:nvSpPr>
        <p:spPr>
          <a:xfrm>
            <a:off x="3429000" y="1828800"/>
            <a:ext cx="2240280" cy="1097280"/>
          </a:xfrm>
          <a:prstGeom prst="roundRect">
            <a:avLst>
              <a:gd name="adj" fmla="val 8333"/>
            </a:avLst>
          </a:prstGeom>
          <a:solidFill>
            <a:srgbClr val="C0392B"/>
          </a:solidFill>
          <a:ln w="12700">
            <a:solidFill>
              <a:srgbClr val="C0392B"/>
            </a:solidFill>
            <a:prstDash val="solid"/>
          </a:ln>
        </p:spPr>
      </p:sp>
      <p:sp>
        <p:nvSpPr>
          <p:cNvPr id="15" name="Text 11"/>
          <p:cNvSpPr txBox="1"/>
          <p:nvPr/>
        </p:nvSpPr>
        <p:spPr>
          <a:xfrm>
            <a:off x="3538728" y="1828800"/>
            <a:ext cx="201168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"I'm a second-year IT student. Keep it short and give me an example."</a:t>
            </a:r>
            <a:endParaRPr lang="en-US" sz="1300" dirty="0"/>
          </a:p>
        </p:txBody>
      </p:sp>
      <p:sp>
        <p:nvSpPr>
          <p:cNvPr id="16" name="Question 2"/>
          <p:cNvSpPr/>
          <p:nvPr/>
        </p:nvSpPr>
        <p:spPr>
          <a:xfrm>
            <a:off x="3429000" y="3035808"/>
            <a:ext cx="2240280" cy="548640"/>
          </a:xfrm>
          <a:prstGeom prst="roundRect">
            <a:avLst>
              <a:gd name="adj" fmla="val 16667"/>
            </a:avLst>
          </a:prstGeom>
          <a:solidFill>
            <a:srgbClr val="FFFFFF"/>
          </a:solidFill>
          <a:ln w="12700">
            <a:solidFill>
              <a:srgbClr val="C9D6EA"/>
            </a:solidFill>
            <a:prstDash val="solid"/>
          </a:ln>
        </p:spPr>
      </p:sp>
      <p:sp>
        <p:nvSpPr>
          <p:cNvPr id="17" name="Text 13"/>
          <p:cNvSpPr txBox="1"/>
          <p:nvPr/>
        </p:nvSpPr>
        <p:spPr>
          <a:xfrm>
            <a:off x="3538728" y="3035808"/>
            <a:ext cx="201168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Help me plan my assignment</a:t>
            </a:r>
            <a:endParaRPr lang="en-US" sz="1300" dirty="0"/>
          </a:p>
        </p:txBody>
      </p:sp>
      <p:sp>
        <p:nvSpPr>
          <p:cNvPr id="18" name="Friday chat"/>
          <p:cNvSpPr/>
          <p:nvPr/>
        </p:nvSpPr>
        <p:spPr>
          <a:xfrm>
            <a:off x="6035040" y="1280160"/>
            <a:ext cx="2606040" cy="2514600"/>
          </a:xfrm>
          <a:prstGeom prst="roundRect">
            <a:avLst>
              <a:gd name="adj" fmla="val 3636"/>
            </a:avLst>
          </a:prstGeom>
          <a:solidFill>
            <a:srgbClr val="EEF4FC"/>
          </a:solidFill>
          <a:ln w="12700">
            <a:solidFill>
              <a:srgbClr val="EEF4FC"/>
            </a:solidFill>
            <a:prstDash val="solid"/>
          </a:ln>
        </p:spPr>
      </p:sp>
      <p:pic>
        <p:nvPicPr>
          <p:cNvPr id="19" name="Friday icon" descr="preencoded.png">    </p:cNvPr>
          <p:cNvPicPr>
            <a:picLocks noChangeAspect="1"/>
          </p:cNvPicPr>
          <p:nvPr/>
        </p:nvPicPr>
        <p:blipFill>
          <a:blip r:embed="rId3"/>
          <a:stretch>
            <a:fillRect/>
          </a:stretch>
        </p:blipFill>
        <p:spPr>
          <a:xfrm>
            <a:off x="6217920" y="1417320"/>
            <a:ext cx="274320" cy="274320"/>
          </a:xfrm>
          <a:prstGeom prst="rect">
            <a:avLst/>
          </a:prstGeom>
        </p:spPr>
      </p:pic>
      <p:sp>
        <p:nvSpPr>
          <p:cNvPr id="20" name="Text 15"/>
          <p:cNvSpPr txBox="1"/>
          <p:nvPr/>
        </p:nvSpPr>
        <p:spPr>
          <a:xfrm>
            <a:off x="6583680" y="1389888"/>
            <a:ext cx="1920240" cy="329184"/>
          </a:xfrm>
          <a:prstGeom prst="rect">
            <a:avLst/>
          </a:prstGeom>
          <a:noFill/>
          <a:ln/>
        </p:spPr>
        <p:txBody>
          <a:bodyPr wrap="square" lIns="0" tIns="0" rIns="0" bIns="0" rtlCol="0" anchor="ctr"/>
          <a:lstStyle/>
          <a:p>
            <a:pPr indent="0" marL="0">
              <a:buNone/>
            </a:pPr>
            <a:r>
              <a:rPr lang="en-US" sz="1300" b="1" dirty="0">
                <a:solidFill>
                  <a:srgbClr val="0040B8"/>
                </a:solidFill>
                <a:latin typeface="Arial" pitchFamily="34" charset="0"/>
                <a:ea typeface="Arial" pitchFamily="34" charset="-122"/>
                <a:cs typeface="Arial" pitchFamily="34" charset="-120"/>
              </a:rPr>
              <a:t>New chat · Friday</a:t>
            </a:r>
            <a:endParaRPr lang="en-US" sz="1300" dirty="0"/>
          </a:p>
        </p:txBody>
      </p:sp>
      <p:sp>
        <p:nvSpPr>
          <p:cNvPr id="21" name="Repeated preamble 3"/>
          <p:cNvSpPr/>
          <p:nvPr/>
        </p:nvSpPr>
        <p:spPr>
          <a:xfrm>
            <a:off x="6217920" y="1828800"/>
            <a:ext cx="2240280" cy="1097280"/>
          </a:xfrm>
          <a:prstGeom prst="roundRect">
            <a:avLst>
              <a:gd name="adj" fmla="val 8333"/>
            </a:avLst>
          </a:prstGeom>
          <a:solidFill>
            <a:srgbClr val="C0392B"/>
          </a:solidFill>
          <a:ln w="12700">
            <a:solidFill>
              <a:srgbClr val="C0392B"/>
            </a:solidFill>
            <a:prstDash val="solid"/>
          </a:ln>
        </p:spPr>
      </p:sp>
      <p:sp>
        <p:nvSpPr>
          <p:cNvPr id="22" name="Text 17"/>
          <p:cNvSpPr txBox="1"/>
          <p:nvPr/>
        </p:nvSpPr>
        <p:spPr>
          <a:xfrm>
            <a:off x="6327648" y="1828800"/>
            <a:ext cx="2011680" cy="109728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"I'm a second-year IT student. Keep it short and give me an example."</a:t>
            </a:r>
            <a:endParaRPr lang="en-US" sz="1300" dirty="0"/>
          </a:p>
        </p:txBody>
      </p:sp>
      <p:sp>
        <p:nvSpPr>
          <p:cNvPr id="23" name="Question 3"/>
          <p:cNvSpPr/>
          <p:nvPr/>
        </p:nvSpPr>
        <p:spPr>
          <a:xfrm>
            <a:off x="6217920" y="3035808"/>
            <a:ext cx="2240280" cy="548640"/>
          </a:xfrm>
          <a:prstGeom prst="roundRect">
            <a:avLst>
              <a:gd name="adj" fmla="val 16667"/>
            </a:avLst>
          </a:prstGeom>
          <a:solidFill>
            <a:srgbClr val="FFFFFF"/>
          </a:solidFill>
          <a:ln w="12700">
            <a:solidFill>
              <a:srgbClr val="C9D6EA"/>
            </a:solidFill>
            <a:prstDash val="solid"/>
          </a:ln>
        </p:spPr>
      </p:sp>
      <p:sp>
        <p:nvSpPr>
          <p:cNvPr id="24" name="Text 19"/>
          <p:cNvSpPr txBox="1"/>
          <p:nvPr/>
        </p:nvSpPr>
        <p:spPr>
          <a:xfrm>
            <a:off x="6327648" y="3035808"/>
            <a:ext cx="201168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What is a REST API?</a:t>
            </a:r>
            <a:endParaRPr lang="en-US" sz="1300" dirty="0"/>
          </a:p>
        </p:txBody>
      </p:sp>
      <p:sp>
        <p:nvSpPr>
          <p:cNvPr id="25" name="Text 20"/>
          <p:cNvSpPr txBox="1"/>
          <p:nvPr/>
        </p:nvSpPr>
        <p:spPr>
          <a:xfrm>
            <a:off x="3246120" y="3840480"/>
            <a:ext cx="548640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Typed again</a:t>
            </a:r>
            <a:pPr indent="0" marL="0">
              <a:buNone/>
            </a:pPr>
            <a:r>
              <a:rPr lang="en-US" sz="1200" dirty="0">
                <a:solidFill>
                  <a:srgbClr val="5A6478"/>
                </a:solidFill>
                <a:latin typeface="Calibri" pitchFamily="34" charset="0"/>
                <a:ea typeface="Calibri" pitchFamily="34" charset="-122"/>
                <a:cs typeface="Calibri" pitchFamily="34" charset="-120"/>
              </a:rPr>
              <a:t>  ·  Same 13 words, three times in one week</a:t>
            </a:r>
            <a:endParaRPr lang="en-US" sz="1200" dirty="0"/>
          </a:p>
        </p:txBody>
      </p:sp>
      <p:sp>
        <p:nvSpPr>
          <p:cNvPr id="26" name="Hook band"/>
          <p:cNvSpPr/>
          <p:nvPr/>
        </p:nvSpPr>
        <p:spPr>
          <a:xfrm>
            <a:off x="457200" y="4160520"/>
            <a:ext cx="8229600" cy="502920"/>
          </a:xfrm>
          <a:prstGeom prst="roundRect">
            <a:avLst>
              <a:gd name="adj" fmla="val 18182"/>
            </a:avLst>
          </a:prstGeom>
          <a:solidFill>
            <a:srgbClr val="0040B8"/>
          </a:solidFill>
          <a:ln w="12700">
            <a:solidFill>
              <a:srgbClr val="0040B8"/>
            </a:solidFill>
            <a:prstDash val="solid"/>
          </a:ln>
        </p:spPr>
      </p:sp>
      <p:sp>
        <p:nvSpPr>
          <p:cNvPr id="27" name="Text 22"/>
          <p:cNvSpPr txBox="1"/>
          <p:nvPr/>
        </p:nvSpPr>
        <p:spPr>
          <a:xfrm>
            <a:off x="685800" y="4160520"/>
            <a:ext cx="777240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AI knows the facts, but forgets how you like to be helped.</a:t>
            </a:r>
            <a:endParaRPr lang="en-US" sz="16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THE SAME PROBLEM AT THE AIDEX LAB</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One question, three different visitors</a:t>
            </a:r>
            <a:endParaRPr lang="en-US" sz="2800" dirty="0"/>
          </a:p>
        </p:txBody>
      </p:sp>
      <p:sp>
        <p:nvSpPr>
          <p:cNvPr id="4" name="Shared question"/>
          <p:cNvSpPr/>
          <p:nvPr/>
        </p:nvSpPr>
        <p:spPr>
          <a:xfrm>
            <a:off x="2377440" y="1234440"/>
            <a:ext cx="4389120" cy="457200"/>
          </a:xfrm>
          <a:prstGeom prst="roundRect">
            <a:avLst>
              <a:gd name="adj" fmla="val 20000"/>
            </a:avLst>
          </a:prstGeom>
          <a:solidFill>
            <a:srgbClr val="001878"/>
          </a:solidFill>
          <a:ln w="12700">
            <a:solidFill>
              <a:srgbClr val="001878"/>
            </a:solidFill>
            <a:prstDash val="solid"/>
          </a:ln>
        </p:spPr>
      </p:sp>
      <p:sp>
        <p:nvSpPr>
          <p:cNvPr id="5" name="Text 3"/>
          <p:cNvSpPr txBox="1"/>
          <p:nvPr/>
        </p:nvSpPr>
        <p:spPr>
          <a:xfrm>
            <a:off x="2377440" y="1234440"/>
            <a:ext cx="4389120" cy="457200"/>
          </a:xfrm>
          <a:prstGeom prst="rect">
            <a:avLst/>
          </a:prstGeom>
          <a:noFill/>
          <a:ln/>
        </p:spPr>
        <p:txBody>
          <a:bodyPr wrap="square" lIns="0" tIns="0" rIns="0" bIns="0" rtlCol="0" anchor="ctr"/>
          <a:lstStyle/>
          <a:p>
            <a:pPr algn="ctr" indent="0" marL="0">
              <a:buNone/>
            </a:pPr>
            <a:r>
              <a:rPr lang="en-US" sz="1500" b="1" i="1" dirty="0">
                <a:solidFill>
                  <a:srgbClr val="FFFFFF"/>
                </a:solidFill>
                <a:latin typeface="Calibri" pitchFamily="34" charset="0"/>
                <a:ea typeface="Calibri" pitchFamily="34" charset="-122"/>
                <a:cs typeface="Calibri" pitchFamily="34" charset="-120"/>
              </a:rPr>
              <a:t>"How can I get involved with the lab?"</a:t>
            </a:r>
            <a:endParaRPr lang="en-US" sz="1500" dirty="0"/>
          </a:p>
        </p:txBody>
      </p:sp>
      <p:sp>
        <p:nvSpPr>
          <p:cNvPr id="6" name="Shape 4"/>
          <p:cNvSpPr/>
          <p:nvPr/>
        </p:nvSpPr>
        <p:spPr>
          <a:xfrm flipH="1">
            <a:off x="1755648" y="1709928"/>
            <a:ext cx="2816352" cy="237744"/>
          </a:xfrm>
          <a:prstGeom prst="line">
            <a:avLst/>
          </a:prstGeom>
          <a:noFill/>
          <a:ln w="25400">
            <a:solidFill>
              <a:srgbClr val="C9D6EA"/>
            </a:solidFill>
            <a:prstDash val="solid"/>
            <a:tailEnd type="triangle"/>
          </a:ln>
        </p:spPr>
      </p:sp>
      <p:sp>
        <p:nvSpPr>
          <p:cNvPr id="7" name="Undergraduate student"/>
          <p:cNvSpPr/>
          <p:nvPr/>
        </p:nvSpPr>
        <p:spPr>
          <a:xfrm>
            <a:off x="457200" y="1965960"/>
            <a:ext cx="2606040" cy="1965960"/>
          </a:xfrm>
          <a:prstGeom prst="roundRect">
            <a:avLst>
              <a:gd name="adj" fmla="val 4651"/>
            </a:avLst>
          </a:prstGeom>
          <a:solidFill>
            <a:srgbClr val="EEF4FC"/>
          </a:solidFill>
          <a:ln w="12700">
            <a:solidFill>
              <a:srgbClr val="EEF4FC"/>
            </a:solidFill>
            <a:prstDash val="solid"/>
          </a:ln>
        </p:spPr>
      </p:sp>
      <p:sp>
        <p:nvSpPr>
          <p:cNvPr id="8" name="Undergraduate student circle"/>
          <p:cNvSpPr/>
          <p:nvPr/>
        </p:nvSpPr>
        <p:spPr>
          <a:xfrm>
            <a:off x="640080" y="2103120"/>
            <a:ext cx="502920" cy="502920"/>
          </a:xfrm>
          <a:prstGeom prst="ellipse">
            <a:avLst/>
          </a:prstGeom>
          <a:solidFill>
            <a:srgbClr val="0040B8"/>
          </a:solidFill>
          <a:ln w="12700">
            <a:solidFill>
              <a:srgbClr val="0040B8"/>
            </a:solidFill>
            <a:prstDash val="solid"/>
          </a:ln>
        </p:spPr>
      </p:sp>
      <p:pic>
        <p:nvPicPr>
          <p:cNvPr id="9" name="Undergraduate student icon" descr="preencoded.png">    </p:cNvPr>
          <p:cNvPicPr>
            <a:picLocks noChangeAspect="1"/>
          </p:cNvPicPr>
          <p:nvPr/>
        </p:nvPicPr>
        <p:blipFill>
          <a:blip r:embed="rId1"/>
          <a:stretch>
            <a:fillRect/>
          </a:stretch>
        </p:blipFill>
        <p:spPr>
          <a:xfrm>
            <a:off x="765810" y="2228850"/>
            <a:ext cx="251460" cy="251460"/>
          </a:xfrm>
          <a:prstGeom prst="rect">
            <a:avLst/>
          </a:prstGeom>
        </p:spPr>
      </p:pic>
      <p:sp>
        <p:nvSpPr>
          <p:cNvPr id="10" name="Text 7"/>
          <p:cNvSpPr txBox="1"/>
          <p:nvPr/>
        </p:nvSpPr>
        <p:spPr>
          <a:xfrm>
            <a:off x="1234440" y="2103120"/>
            <a:ext cx="1737360" cy="502920"/>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Undergraduate student</a:t>
            </a:r>
            <a:endParaRPr lang="en-US" sz="1300" dirty="0"/>
          </a:p>
        </p:txBody>
      </p:sp>
      <p:sp>
        <p:nvSpPr>
          <p:cNvPr id="11" name="Text 8"/>
          <p:cNvSpPr txBox="1"/>
          <p:nvPr/>
        </p:nvSpPr>
        <p:spPr>
          <a:xfrm>
            <a:off x="640080" y="2743200"/>
            <a:ext cx="2286000" cy="45720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How: </a:t>
            </a:r>
            <a:pPr indent="0" marL="0">
              <a:buNone/>
            </a:pPr>
            <a:r>
              <a:rPr lang="en-US" sz="1200" dirty="0">
                <a:solidFill>
                  <a:srgbClr val="1B2333"/>
                </a:solidFill>
                <a:latin typeface="Calibri" pitchFamily="34" charset="0"/>
                <a:ea typeface="Calibri" pitchFamily="34" charset="-122"/>
                <a:cs typeface="Calibri" pitchFamily="34" charset="-120"/>
              </a:rPr>
              <a:t>Wants it short, in bullet points</a:t>
            </a:r>
            <a:endParaRPr lang="en-US" sz="1200" dirty="0"/>
          </a:p>
        </p:txBody>
      </p:sp>
      <p:sp>
        <p:nvSpPr>
          <p:cNvPr id="12" name="Text 9"/>
          <p:cNvSpPr txBox="1"/>
          <p:nvPr/>
        </p:nvSpPr>
        <p:spPr>
          <a:xfrm>
            <a:off x="640080" y="3200400"/>
            <a:ext cx="2286000" cy="64008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What: </a:t>
            </a:r>
            <a:pPr indent="0" marL="0">
              <a:buNone/>
            </a:pPr>
            <a:r>
              <a:rPr lang="en-US" sz="1200" dirty="0">
                <a:solidFill>
                  <a:srgbClr val="1B2333"/>
                </a:solidFill>
                <a:latin typeface="Calibri" pitchFamily="34" charset="0"/>
                <a:ea typeface="Calibri" pitchFamily="34" charset="-122"/>
                <a:cs typeface="Calibri" pitchFamily="34" charset="-120"/>
              </a:rPr>
              <a:t>Placements, internships, research assistant roles</a:t>
            </a:r>
            <a:endParaRPr lang="en-US" sz="1200" dirty="0"/>
          </a:p>
        </p:txBody>
      </p:sp>
      <p:sp>
        <p:nvSpPr>
          <p:cNvPr id="13" name="Shape 10"/>
          <p:cNvSpPr/>
          <p:nvPr/>
        </p:nvSpPr>
        <p:spPr>
          <a:xfrm flipH="1">
            <a:off x="4544568" y="1709928"/>
            <a:ext cx="27432" cy="237744"/>
          </a:xfrm>
          <a:prstGeom prst="line">
            <a:avLst/>
          </a:prstGeom>
          <a:noFill/>
          <a:ln w="25400">
            <a:solidFill>
              <a:srgbClr val="C9D6EA"/>
            </a:solidFill>
            <a:prstDash val="solid"/>
            <a:tailEnd type="triangle"/>
          </a:ln>
        </p:spPr>
      </p:sp>
      <p:sp>
        <p:nvSpPr>
          <p:cNvPr id="14" name="Prospective PhD candidate"/>
          <p:cNvSpPr/>
          <p:nvPr/>
        </p:nvSpPr>
        <p:spPr>
          <a:xfrm>
            <a:off x="3246120" y="1965960"/>
            <a:ext cx="2606040" cy="1965960"/>
          </a:xfrm>
          <a:prstGeom prst="roundRect">
            <a:avLst>
              <a:gd name="adj" fmla="val 4651"/>
            </a:avLst>
          </a:prstGeom>
          <a:solidFill>
            <a:srgbClr val="EEF4FC"/>
          </a:solidFill>
          <a:ln w="12700">
            <a:solidFill>
              <a:srgbClr val="EEF4FC"/>
            </a:solidFill>
            <a:prstDash val="solid"/>
          </a:ln>
        </p:spPr>
      </p:sp>
      <p:sp>
        <p:nvSpPr>
          <p:cNvPr id="15" name="Prospective PhD candidate circle"/>
          <p:cNvSpPr/>
          <p:nvPr/>
        </p:nvSpPr>
        <p:spPr>
          <a:xfrm>
            <a:off x="3429000" y="2103120"/>
            <a:ext cx="502920" cy="502920"/>
          </a:xfrm>
          <a:prstGeom prst="ellipse">
            <a:avLst/>
          </a:prstGeom>
          <a:solidFill>
            <a:srgbClr val="0040B8"/>
          </a:solidFill>
          <a:ln w="12700">
            <a:solidFill>
              <a:srgbClr val="0040B8"/>
            </a:solidFill>
            <a:prstDash val="solid"/>
          </a:ln>
        </p:spPr>
      </p:sp>
      <p:pic>
        <p:nvPicPr>
          <p:cNvPr id="16" name="Prospective PhD candidate icon" descr="preencoded.png">    </p:cNvPr>
          <p:cNvPicPr>
            <a:picLocks noChangeAspect="1"/>
          </p:cNvPicPr>
          <p:nvPr/>
        </p:nvPicPr>
        <p:blipFill>
          <a:blip r:embed="rId2"/>
          <a:stretch>
            <a:fillRect/>
          </a:stretch>
        </p:blipFill>
        <p:spPr>
          <a:xfrm>
            <a:off x="3554730" y="2228850"/>
            <a:ext cx="251460" cy="251460"/>
          </a:xfrm>
          <a:prstGeom prst="rect">
            <a:avLst/>
          </a:prstGeom>
        </p:spPr>
      </p:pic>
      <p:sp>
        <p:nvSpPr>
          <p:cNvPr id="17" name="Text 13"/>
          <p:cNvSpPr txBox="1"/>
          <p:nvPr/>
        </p:nvSpPr>
        <p:spPr>
          <a:xfrm>
            <a:off x="4023360" y="2103120"/>
            <a:ext cx="1737360" cy="502920"/>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Prospective PhD candidate</a:t>
            </a:r>
            <a:endParaRPr lang="en-US" sz="1300" dirty="0"/>
          </a:p>
        </p:txBody>
      </p:sp>
      <p:sp>
        <p:nvSpPr>
          <p:cNvPr id="18" name="Text 14"/>
          <p:cNvSpPr txBox="1"/>
          <p:nvPr/>
        </p:nvSpPr>
        <p:spPr>
          <a:xfrm>
            <a:off x="3429000" y="2743200"/>
            <a:ext cx="2286000" cy="45720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How: </a:t>
            </a:r>
            <a:pPr indent="0" marL="0">
              <a:buNone/>
            </a:pPr>
            <a:r>
              <a:rPr lang="en-US" sz="1200" dirty="0">
                <a:solidFill>
                  <a:srgbClr val="1B2333"/>
                </a:solidFill>
                <a:latin typeface="Calibri" pitchFamily="34" charset="0"/>
                <a:ea typeface="Calibri" pitchFamily="34" charset="-122"/>
                <a:cs typeface="Calibri" pitchFamily="34" charset="-120"/>
              </a:rPr>
              <a:t>Wants detail and depth</a:t>
            </a:r>
            <a:endParaRPr lang="en-US" sz="1200" dirty="0"/>
          </a:p>
        </p:txBody>
      </p:sp>
      <p:sp>
        <p:nvSpPr>
          <p:cNvPr id="19" name="Text 15"/>
          <p:cNvSpPr txBox="1"/>
          <p:nvPr/>
        </p:nvSpPr>
        <p:spPr>
          <a:xfrm>
            <a:off x="3429000" y="3200400"/>
            <a:ext cx="2286000" cy="64008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What: </a:t>
            </a:r>
            <a:pPr indent="0" marL="0">
              <a:buNone/>
            </a:pPr>
            <a:r>
              <a:rPr lang="en-US" sz="1200" dirty="0">
                <a:solidFill>
                  <a:srgbClr val="1B2333"/>
                </a:solidFill>
                <a:latin typeface="Calibri" pitchFamily="34" charset="0"/>
                <a:ea typeface="Calibri" pitchFamily="34" charset="-122"/>
                <a:cs typeface="Calibri" pitchFamily="34" charset="-120"/>
              </a:rPr>
              <a:t>Research themes, supervision, how to enquire</a:t>
            </a:r>
            <a:endParaRPr lang="en-US" sz="1200" dirty="0"/>
          </a:p>
        </p:txBody>
      </p:sp>
      <p:sp>
        <p:nvSpPr>
          <p:cNvPr id="20" name="Shape 16"/>
          <p:cNvSpPr/>
          <p:nvPr/>
        </p:nvSpPr>
        <p:spPr>
          <a:xfrm>
            <a:off x="4572000" y="1709928"/>
            <a:ext cx="2761488" cy="237744"/>
          </a:xfrm>
          <a:prstGeom prst="line">
            <a:avLst/>
          </a:prstGeom>
          <a:noFill/>
          <a:ln w="25400">
            <a:solidFill>
              <a:srgbClr val="C9D6EA"/>
            </a:solidFill>
            <a:prstDash val="solid"/>
            <a:tailEnd type="triangle"/>
          </a:ln>
        </p:spPr>
      </p:sp>
      <p:sp>
        <p:nvSpPr>
          <p:cNvPr id="21" name="Industry partner"/>
          <p:cNvSpPr/>
          <p:nvPr/>
        </p:nvSpPr>
        <p:spPr>
          <a:xfrm>
            <a:off x="6035040" y="1965960"/>
            <a:ext cx="2606040" cy="1965960"/>
          </a:xfrm>
          <a:prstGeom prst="roundRect">
            <a:avLst>
              <a:gd name="adj" fmla="val 4651"/>
            </a:avLst>
          </a:prstGeom>
          <a:solidFill>
            <a:srgbClr val="EEF4FC"/>
          </a:solidFill>
          <a:ln w="12700">
            <a:solidFill>
              <a:srgbClr val="EEF4FC"/>
            </a:solidFill>
            <a:prstDash val="solid"/>
          </a:ln>
        </p:spPr>
      </p:sp>
      <p:sp>
        <p:nvSpPr>
          <p:cNvPr id="22" name="Industry partner circle"/>
          <p:cNvSpPr/>
          <p:nvPr/>
        </p:nvSpPr>
        <p:spPr>
          <a:xfrm>
            <a:off x="6217920" y="2103120"/>
            <a:ext cx="502920" cy="502920"/>
          </a:xfrm>
          <a:prstGeom prst="ellipse">
            <a:avLst/>
          </a:prstGeom>
          <a:solidFill>
            <a:srgbClr val="0040B8"/>
          </a:solidFill>
          <a:ln w="12700">
            <a:solidFill>
              <a:srgbClr val="0040B8"/>
            </a:solidFill>
            <a:prstDash val="solid"/>
          </a:ln>
        </p:spPr>
      </p:sp>
      <p:pic>
        <p:nvPicPr>
          <p:cNvPr id="23" name="Industry partner icon" descr="preencoded.png">    </p:cNvPr>
          <p:cNvPicPr>
            <a:picLocks noChangeAspect="1"/>
          </p:cNvPicPr>
          <p:nvPr/>
        </p:nvPicPr>
        <p:blipFill>
          <a:blip r:embed="rId3"/>
          <a:stretch>
            <a:fillRect/>
          </a:stretch>
        </p:blipFill>
        <p:spPr>
          <a:xfrm>
            <a:off x="6343650" y="2228850"/>
            <a:ext cx="251460" cy="251460"/>
          </a:xfrm>
          <a:prstGeom prst="rect">
            <a:avLst/>
          </a:prstGeom>
        </p:spPr>
      </p:pic>
      <p:sp>
        <p:nvSpPr>
          <p:cNvPr id="24" name="Text 19"/>
          <p:cNvSpPr txBox="1"/>
          <p:nvPr/>
        </p:nvSpPr>
        <p:spPr>
          <a:xfrm>
            <a:off x="6812280" y="2103120"/>
            <a:ext cx="1737360" cy="502920"/>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Industry partner</a:t>
            </a:r>
            <a:endParaRPr lang="en-US" sz="1300" dirty="0"/>
          </a:p>
        </p:txBody>
      </p:sp>
      <p:sp>
        <p:nvSpPr>
          <p:cNvPr id="25" name="Text 20"/>
          <p:cNvSpPr txBox="1"/>
          <p:nvPr/>
        </p:nvSpPr>
        <p:spPr>
          <a:xfrm>
            <a:off x="6217920" y="2743200"/>
            <a:ext cx="2286000" cy="45720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How: </a:t>
            </a:r>
            <a:pPr indent="0" marL="0">
              <a:buNone/>
            </a:pPr>
            <a:r>
              <a:rPr lang="en-US" sz="1200" dirty="0">
                <a:solidFill>
                  <a:srgbClr val="1B2333"/>
                </a:solidFill>
                <a:latin typeface="Calibri" pitchFamily="34" charset="0"/>
                <a:ea typeface="Calibri" pitchFamily="34" charset="-122"/>
                <a:cs typeface="Calibri" pitchFamily="34" charset="-120"/>
              </a:rPr>
              <a:t>Wants plain language, no jargon</a:t>
            </a:r>
            <a:endParaRPr lang="en-US" sz="1200" dirty="0"/>
          </a:p>
        </p:txBody>
      </p:sp>
      <p:sp>
        <p:nvSpPr>
          <p:cNvPr id="26" name="Text 21"/>
          <p:cNvSpPr txBox="1"/>
          <p:nvPr/>
        </p:nvSpPr>
        <p:spPr>
          <a:xfrm>
            <a:off x="6217920" y="3200400"/>
            <a:ext cx="2286000" cy="640080"/>
          </a:xfrm>
          <a:prstGeom prst="rect">
            <a:avLst/>
          </a:prstGeom>
          <a:noFill/>
          <a:ln/>
        </p:spPr>
        <p:txBody>
          <a:bodyPr wrap="square" lIns="0" tIns="0" rIns="0" bIns="0" rtlCol="0" anchor="t"/>
          <a:lstStyle/>
          <a:p>
            <a:pPr indent="0" marL="0">
              <a:buNone/>
            </a:pPr>
            <a:r>
              <a:rPr lang="en-US" sz="1200" b="1" dirty="0">
                <a:solidFill>
                  <a:srgbClr val="0040B8"/>
                </a:solidFill>
                <a:latin typeface="Calibri" pitchFamily="34" charset="0"/>
                <a:ea typeface="Calibri" pitchFamily="34" charset="-122"/>
                <a:cs typeface="Calibri" pitchFamily="34" charset="-120"/>
              </a:rPr>
              <a:t>What: </a:t>
            </a:r>
            <a:pPr indent="0" marL="0">
              <a:buNone/>
            </a:pPr>
            <a:r>
              <a:rPr lang="en-US" sz="1200" dirty="0">
                <a:solidFill>
                  <a:srgbClr val="1B2333"/>
                </a:solidFill>
                <a:latin typeface="Calibri" pitchFamily="34" charset="0"/>
                <a:ea typeface="Calibri" pitchFamily="34" charset="-122"/>
                <a:cs typeface="Calibri" pitchFamily="34" charset="-120"/>
              </a:rPr>
              <a:t>Joint projects, pilots, student boot camps</a:t>
            </a:r>
            <a:endParaRPr lang="en-US" sz="1200" dirty="0"/>
          </a:p>
        </p:txBody>
      </p:sp>
      <p:sp>
        <p:nvSpPr>
          <p:cNvPr id="27" name="Takeaway band"/>
          <p:cNvSpPr/>
          <p:nvPr/>
        </p:nvSpPr>
        <p:spPr>
          <a:xfrm>
            <a:off x="457200" y="4069080"/>
            <a:ext cx="8229600" cy="548640"/>
          </a:xfrm>
          <a:prstGeom prst="roundRect">
            <a:avLst>
              <a:gd name="adj" fmla="val 16667"/>
            </a:avLst>
          </a:prstGeom>
          <a:solidFill>
            <a:srgbClr val="001878"/>
          </a:solidFill>
          <a:ln w="12700">
            <a:solidFill>
              <a:srgbClr val="001878"/>
            </a:solidFill>
            <a:prstDash val="solid"/>
          </a:ln>
        </p:spPr>
      </p:sp>
      <p:sp>
        <p:nvSpPr>
          <p:cNvPr id="28" name="Text 23"/>
          <p:cNvSpPr txBox="1"/>
          <p:nvPr/>
        </p:nvSpPr>
        <p:spPr>
          <a:xfrm>
            <a:off x="685800" y="4069080"/>
            <a:ext cx="77724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one-size-fits-all chatbot gives all three the same answer, and it suits none of them.</a:t>
            </a:r>
            <a:endParaRPr lang="en-US" sz="15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RESEARCH PROBLEM</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problem are we solving?</a:t>
            </a:r>
            <a:endParaRPr lang="en-US" sz="2800" dirty="0"/>
          </a:p>
        </p:txBody>
      </p:sp>
      <p:sp>
        <p:nvSpPr>
          <p:cNvPr id="4" name="Question card"/>
          <p:cNvSpPr/>
          <p:nvPr/>
        </p:nvSpPr>
        <p:spPr>
          <a:xfrm>
            <a:off x="457200" y="1325880"/>
            <a:ext cx="3931920" cy="3291840"/>
          </a:xfrm>
          <a:prstGeom prst="roundRect">
            <a:avLst>
              <a:gd name="adj" fmla="val 2778"/>
            </a:avLst>
          </a:prstGeom>
          <a:solidFill>
            <a:srgbClr val="001878"/>
          </a:solidFill>
          <a:ln w="12700">
            <a:solidFill>
              <a:srgbClr val="001878"/>
            </a:solidFill>
            <a:prstDash val="solid"/>
          </a:ln>
        </p:spPr>
      </p:sp>
      <p:sp>
        <p:nvSpPr>
          <p:cNvPr id="5" name="Question circle"/>
          <p:cNvSpPr/>
          <p:nvPr/>
        </p:nvSpPr>
        <p:spPr>
          <a:xfrm>
            <a:off x="731520" y="1554480"/>
            <a:ext cx="594360" cy="594360"/>
          </a:xfrm>
          <a:prstGeom prst="ellipse">
            <a:avLst/>
          </a:prstGeom>
          <a:solidFill>
            <a:srgbClr val="0040B8"/>
          </a:solidFill>
          <a:ln w="12700">
            <a:solidFill>
              <a:srgbClr val="0040B8"/>
            </a:solidFill>
            <a:prstDash val="solid"/>
          </a:ln>
        </p:spPr>
      </p:sp>
      <p:pic>
        <p:nvPicPr>
          <p:cNvPr id="6" name="Question icon" descr="preencoded.png">    </p:cNvPr>
          <p:cNvPicPr>
            <a:picLocks noChangeAspect="1"/>
          </p:cNvPicPr>
          <p:nvPr/>
        </p:nvPicPr>
        <p:blipFill>
          <a:blip r:embed="rId1"/>
          <a:stretch>
            <a:fillRect/>
          </a:stretch>
        </p:blipFill>
        <p:spPr>
          <a:xfrm>
            <a:off x="880110" y="1703070"/>
            <a:ext cx="297180" cy="297180"/>
          </a:xfrm>
          <a:prstGeom prst="rect">
            <a:avLst/>
          </a:prstGeom>
        </p:spPr>
      </p:pic>
      <p:sp>
        <p:nvSpPr>
          <p:cNvPr id="7" name="Text 4"/>
          <p:cNvSpPr txBox="1"/>
          <p:nvPr/>
        </p:nvSpPr>
        <p:spPr>
          <a:xfrm>
            <a:off x="731520" y="2286000"/>
            <a:ext cx="3383280" cy="320040"/>
          </a:xfrm>
          <a:prstGeom prst="rect">
            <a:avLst/>
          </a:prstGeom>
          <a:noFill/>
          <a:ln/>
        </p:spPr>
        <p:txBody>
          <a:bodyPr wrap="square" lIns="0" tIns="0" rIns="0" bIns="0" rtlCol="0" anchor="ctr"/>
          <a:lstStyle/>
          <a:p>
            <a:pPr indent="0" marL="0">
              <a:buNone/>
            </a:pPr>
            <a:r>
              <a:rPr lang="en-US" sz="1400" b="1" dirty="0">
                <a:solidFill>
                  <a:srgbClr val="00D4F0"/>
                </a:solidFill>
                <a:latin typeface="Calibri" pitchFamily="34" charset="0"/>
                <a:ea typeface="Calibri" pitchFamily="34" charset="-122"/>
                <a:cs typeface="Calibri" pitchFamily="34" charset="-120"/>
              </a:rPr>
              <a:t>Research question</a:t>
            </a:r>
            <a:endParaRPr lang="en-US" sz="1400" dirty="0"/>
          </a:p>
        </p:txBody>
      </p:sp>
      <p:sp>
        <p:nvSpPr>
          <p:cNvPr id="8" name="Text 5"/>
          <p:cNvSpPr txBox="1"/>
          <p:nvPr/>
        </p:nvSpPr>
        <p:spPr>
          <a:xfrm>
            <a:off x="731520" y="2651760"/>
            <a:ext cx="3429000" cy="17373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How can an AI assistant learn and use each person's preferences in a way that is transparent, safe and measurable?</a:t>
            </a:r>
            <a:endParaRPr lang="en-US" sz="2000" dirty="0"/>
          </a:p>
        </p:txBody>
      </p:sp>
      <p:sp>
        <p:nvSpPr>
          <p:cNvPr id="9" name="Text 6"/>
          <p:cNvSpPr txBox="1"/>
          <p:nvPr/>
        </p:nvSpPr>
        <p:spPr>
          <a:xfrm>
            <a:off x="4754880" y="1325880"/>
            <a:ext cx="3931920" cy="32004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Why it matters</a:t>
            </a:r>
            <a:endParaRPr lang="en-US" sz="1700" dirty="0"/>
          </a:p>
        </p:txBody>
      </p:sp>
      <p:sp>
        <p:nvSpPr>
          <p:cNvPr id="10" name="Why 1 circle"/>
          <p:cNvSpPr/>
          <p:nvPr/>
        </p:nvSpPr>
        <p:spPr>
          <a:xfrm>
            <a:off x="4754880" y="1783080"/>
            <a:ext cx="502920" cy="502920"/>
          </a:xfrm>
          <a:prstGeom prst="ellipse">
            <a:avLst/>
          </a:prstGeom>
          <a:solidFill>
            <a:srgbClr val="EEF4FC"/>
          </a:solidFill>
          <a:ln w="12700">
            <a:solidFill>
              <a:srgbClr val="EEF4FC"/>
            </a:solidFill>
            <a:prstDash val="solid"/>
          </a:ln>
        </p:spPr>
      </p:sp>
      <p:pic>
        <p:nvPicPr>
          <p:cNvPr id="11" name="Why 1 icon" descr="preencoded.png">    </p:cNvPr>
          <p:cNvPicPr>
            <a:picLocks noChangeAspect="1"/>
          </p:cNvPicPr>
          <p:nvPr/>
        </p:nvPicPr>
        <p:blipFill>
          <a:blip r:embed="rId2"/>
          <a:stretch>
            <a:fillRect/>
          </a:stretch>
        </p:blipFill>
        <p:spPr>
          <a:xfrm>
            <a:off x="4880610" y="1908810"/>
            <a:ext cx="251460" cy="251460"/>
          </a:xfrm>
          <a:prstGeom prst="rect">
            <a:avLst/>
          </a:prstGeom>
        </p:spPr>
      </p:pic>
      <p:sp>
        <p:nvSpPr>
          <p:cNvPr id="12" name="Text 8"/>
          <p:cNvSpPr txBox="1"/>
          <p:nvPr/>
        </p:nvSpPr>
        <p:spPr>
          <a:xfrm>
            <a:off x="5440680" y="1764792"/>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Repeated effort</a:t>
            </a:r>
            <a:endParaRPr lang="en-US" sz="1500" dirty="0"/>
          </a:p>
        </p:txBody>
      </p:sp>
      <p:sp>
        <p:nvSpPr>
          <p:cNvPr id="13" name="Text 9"/>
          <p:cNvSpPr txBox="1"/>
          <p:nvPr/>
        </p:nvSpPr>
        <p:spPr>
          <a:xfrm>
            <a:off x="5440680" y="2057400"/>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Users keep restating who they are and what they want</a:t>
            </a:r>
            <a:endParaRPr lang="en-US" sz="1300" dirty="0"/>
          </a:p>
        </p:txBody>
      </p:sp>
      <p:sp>
        <p:nvSpPr>
          <p:cNvPr id="14" name="Why 2 circle"/>
          <p:cNvSpPr/>
          <p:nvPr/>
        </p:nvSpPr>
        <p:spPr>
          <a:xfrm>
            <a:off x="4754880" y="2715768"/>
            <a:ext cx="502920" cy="502920"/>
          </a:xfrm>
          <a:prstGeom prst="ellipse">
            <a:avLst/>
          </a:prstGeom>
          <a:solidFill>
            <a:srgbClr val="EEF4FC"/>
          </a:solidFill>
          <a:ln w="12700">
            <a:solidFill>
              <a:srgbClr val="EEF4FC"/>
            </a:solidFill>
            <a:prstDash val="solid"/>
          </a:ln>
        </p:spPr>
      </p:sp>
      <p:pic>
        <p:nvPicPr>
          <p:cNvPr id="15" name="Why 2 icon" descr="preencoded.png">    </p:cNvPr>
          <p:cNvPicPr>
            <a:picLocks noChangeAspect="1"/>
          </p:cNvPicPr>
          <p:nvPr/>
        </p:nvPicPr>
        <p:blipFill>
          <a:blip r:embed="rId3"/>
          <a:stretch>
            <a:fillRect/>
          </a:stretch>
        </p:blipFill>
        <p:spPr>
          <a:xfrm>
            <a:off x="4880610" y="2841498"/>
            <a:ext cx="251460" cy="251460"/>
          </a:xfrm>
          <a:prstGeom prst="rect">
            <a:avLst/>
          </a:prstGeom>
        </p:spPr>
      </p:pic>
      <p:sp>
        <p:nvSpPr>
          <p:cNvPr id="16" name="Text 11"/>
          <p:cNvSpPr txBox="1"/>
          <p:nvPr/>
        </p:nvSpPr>
        <p:spPr>
          <a:xfrm>
            <a:off x="5440680" y="2697480"/>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Hidden memory</a:t>
            </a:r>
            <a:endParaRPr lang="en-US" sz="1500" dirty="0"/>
          </a:p>
        </p:txBody>
      </p:sp>
      <p:sp>
        <p:nvSpPr>
          <p:cNvPr id="17" name="Text 12"/>
          <p:cNvSpPr txBox="1"/>
          <p:nvPr/>
        </p:nvSpPr>
        <p:spPr>
          <a:xfrm>
            <a:off x="5440680" y="2990088"/>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When assistants do remember, users rarely see or control what was kept</a:t>
            </a:r>
            <a:endParaRPr lang="en-US" sz="1300" dirty="0"/>
          </a:p>
        </p:txBody>
      </p:sp>
      <p:sp>
        <p:nvSpPr>
          <p:cNvPr id="18" name="Why 3 circle"/>
          <p:cNvSpPr/>
          <p:nvPr/>
        </p:nvSpPr>
        <p:spPr>
          <a:xfrm>
            <a:off x="4754880" y="3648456"/>
            <a:ext cx="502920" cy="502920"/>
          </a:xfrm>
          <a:prstGeom prst="ellipse">
            <a:avLst/>
          </a:prstGeom>
          <a:solidFill>
            <a:srgbClr val="EEF4FC"/>
          </a:solidFill>
          <a:ln w="12700">
            <a:solidFill>
              <a:srgbClr val="EEF4FC"/>
            </a:solidFill>
            <a:prstDash val="solid"/>
          </a:ln>
        </p:spPr>
      </p:sp>
      <p:pic>
        <p:nvPicPr>
          <p:cNvPr id="19" name="Why 3 icon" descr="preencoded.png">    </p:cNvPr>
          <p:cNvPicPr>
            <a:picLocks noChangeAspect="1"/>
          </p:cNvPicPr>
          <p:nvPr/>
        </p:nvPicPr>
        <p:blipFill>
          <a:blip r:embed="rId4"/>
          <a:stretch>
            <a:fillRect/>
          </a:stretch>
        </p:blipFill>
        <p:spPr>
          <a:xfrm>
            <a:off x="4880610" y="3774186"/>
            <a:ext cx="251460" cy="251460"/>
          </a:xfrm>
          <a:prstGeom prst="rect">
            <a:avLst/>
          </a:prstGeom>
        </p:spPr>
      </p:pic>
      <p:sp>
        <p:nvSpPr>
          <p:cNvPr id="20" name="Text 14"/>
          <p:cNvSpPr txBox="1"/>
          <p:nvPr/>
        </p:nvSpPr>
        <p:spPr>
          <a:xfrm>
            <a:off x="5440680" y="3630168"/>
            <a:ext cx="3246120" cy="292608"/>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No evidence</a:t>
            </a:r>
            <a:endParaRPr lang="en-US" sz="1500" dirty="0"/>
          </a:p>
        </p:txBody>
      </p:sp>
      <p:sp>
        <p:nvSpPr>
          <p:cNvPr id="21" name="Text 15"/>
          <p:cNvSpPr txBox="1"/>
          <p:nvPr/>
        </p:nvSpPr>
        <p:spPr>
          <a:xfrm>
            <a:off x="5440680" y="3922776"/>
            <a:ext cx="3246120"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Few systems measure whether a memory actually helped</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WHAT THE LAB'S RESEARCH FOUND</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Preferences matter more than facts</a:t>
            </a:r>
            <a:endParaRPr lang="en-US" sz="2800" dirty="0"/>
          </a:p>
        </p:txBody>
      </p:sp>
      <p:graphicFrame>
        <p:nvGraphicFramePr>
          <p:cNvPr id="4" name="Chart 0" descr=""/>
          <p:cNvGraphicFramePr/>
          <p:nvPr/>
        </p:nvGraphicFramePr>
        <p:xfrm>
          <a:off x="457200" y="1280160"/>
          <a:ext cx="4572000" cy="3337560"/>
        </p:xfrm>
        <a:graphic xmlns:a="http://schemas.openxmlformats.org/drawingml/2006/main">
          <a:graphicData uri="http://schemas.openxmlformats.org/drawingml/2006/chart">
            <c:chart xmlns:c="http://schemas.openxmlformats.org/drawingml/2006/chart" r:id="rId1"/>
          </a:graphicData>
        </a:graphic>
      </p:graphicFrame>
      <p:sp>
        <p:nvSpPr>
          <p:cNvPr id="5" name="Finding card"/>
          <p:cNvSpPr/>
          <p:nvPr/>
        </p:nvSpPr>
        <p:spPr>
          <a:xfrm>
            <a:off x="5303520" y="1325880"/>
            <a:ext cx="3383280" cy="3291840"/>
          </a:xfrm>
          <a:prstGeom prst="roundRect">
            <a:avLst>
              <a:gd name="adj" fmla="val 2778"/>
            </a:avLst>
          </a:prstGeom>
          <a:solidFill>
            <a:srgbClr val="EEF4FC"/>
          </a:solidFill>
          <a:ln w="12700">
            <a:solidFill>
              <a:srgbClr val="EEF4FC"/>
            </a:solidFill>
            <a:prstDash val="solid"/>
          </a:ln>
        </p:spPr>
      </p:sp>
      <p:sp>
        <p:nvSpPr>
          <p:cNvPr id="6" name="Text 3"/>
          <p:cNvSpPr txBox="1"/>
          <p:nvPr/>
        </p:nvSpPr>
        <p:spPr>
          <a:xfrm>
            <a:off x="5532120" y="1508760"/>
            <a:ext cx="2926080" cy="822960"/>
          </a:xfrm>
          <a:prstGeom prst="rect">
            <a:avLst/>
          </a:prstGeom>
          <a:noFill/>
          <a:ln/>
        </p:spPr>
        <p:txBody>
          <a:bodyPr wrap="square" lIns="0" tIns="0" rIns="0" bIns="0" rtlCol="0" anchor="ctr"/>
          <a:lstStyle/>
          <a:p>
            <a:pPr indent="0" marL="0">
              <a:buNone/>
            </a:pPr>
            <a:r>
              <a:rPr lang="en-US" sz="4800" b="1" dirty="0">
                <a:solidFill>
                  <a:srgbClr val="0040B8"/>
                </a:solidFill>
                <a:latin typeface="Arial" pitchFamily="34" charset="0"/>
                <a:ea typeface="Arial" pitchFamily="34" charset="-122"/>
                <a:cs typeface="Arial" pitchFamily="34" charset="-120"/>
              </a:rPr>
              <a:t>3.4 : 1</a:t>
            </a:r>
            <a:endParaRPr lang="en-US" sz="4800" dirty="0"/>
          </a:p>
        </p:txBody>
      </p:sp>
      <p:sp>
        <p:nvSpPr>
          <p:cNvPr id="7" name="Text 4"/>
          <p:cNvSpPr txBox="1"/>
          <p:nvPr/>
        </p:nvSpPr>
        <p:spPr>
          <a:xfrm>
            <a:off x="5532120" y="2286000"/>
            <a:ext cx="2971800" cy="86868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In self-improving AI systems, rules about how a person wants help were reused 3.4 times more often than domain facts.</a:t>
            </a:r>
            <a:endParaRPr lang="en-US" sz="1300" dirty="0"/>
          </a:p>
        </p:txBody>
      </p:sp>
      <p:sp>
        <p:nvSpPr>
          <p:cNvPr id="8" name="Text 5"/>
          <p:cNvSpPr txBox="1"/>
          <p:nvPr/>
        </p:nvSpPr>
        <p:spPr>
          <a:xfrm>
            <a:off x="5532120" y="3063240"/>
            <a:ext cx="2971800" cy="640080"/>
          </a:xfrm>
          <a:prstGeom prst="rect">
            <a:avLst/>
          </a:prstGeom>
          <a:noFill/>
          <a:ln/>
        </p:spPr>
        <p:txBody>
          <a:bodyPr wrap="square" lIns="0" tIns="0" rIns="0" bIns="0" rtlCol="0" anchor="t"/>
          <a:lstStyle/>
          <a:p>
            <a:pPr indent="0" marL="0">
              <a:buNone/>
            </a:pPr>
            <a:r>
              <a:rPr lang="en-US" sz="1200" b="1" i="1" dirty="0">
                <a:solidFill>
                  <a:srgbClr val="0040B8"/>
                </a:solidFill>
                <a:latin typeface="Calibri" pitchFamily="34" charset="0"/>
                <a:ea typeface="Calibri" pitchFamily="34" charset="-122"/>
                <a:cs typeface="Calibri" pitchFamily="34" charset="-120"/>
              </a:rPr>
              <a:t>In practice: </a:t>
            </a:r>
            <a:pPr indent="0" marL="0">
              <a:buNone/>
            </a:pPr>
            <a:r>
              <a:rPr lang="en-US" sz="1200" i="1" dirty="0">
                <a:solidFill>
                  <a:srgbClr val="1B2333"/>
                </a:solidFill>
                <a:latin typeface="Calibri" pitchFamily="34" charset="0"/>
                <a:ea typeface="Calibri" pitchFamily="34" charset="-122"/>
                <a:cs typeface="Calibri" pitchFamily="34" charset="-120"/>
              </a:rPr>
              <a:t>"use bullet points" helps with almost every question. "I study IT" only matters for some.</a:t>
            </a:r>
            <a:endParaRPr lang="en-US" sz="1200" dirty="0"/>
          </a:p>
        </p:txBody>
      </p:sp>
      <p:sp>
        <p:nvSpPr>
          <p:cNvPr id="9" name="Text 6"/>
          <p:cNvSpPr txBox="1"/>
          <p:nvPr/>
        </p:nvSpPr>
        <p:spPr>
          <a:xfrm>
            <a:off x="5532120" y="3886200"/>
            <a:ext cx="2971800" cy="640080"/>
          </a:xfrm>
          <a:prstGeom prst="rect">
            <a:avLst/>
          </a:prstGeom>
          <a:noFill/>
          <a:ln/>
        </p:spPr>
        <p:txBody>
          <a:bodyPr wrap="square" lIns="0" tIns="0" rIns="0" bIns="0" rtlCol="0" anchor="t"/>
          <a:lstStyle/>
          <a:p>
            <a:pPr indent="0" marL="0">
              <a:buNone/>
            </a:pPr>
            <a:r>
              <a:rPr lang="en-US" sz="1000" i="1" dirty="0">
                <a:solidFill>
                  <a:srgbClr val="5A6478"/>
                </a:solidFill>
                <a:latin typeface="Calibri" pitchFamily="34" charset="0"/>
                <a:ea typeface="Calibri" pitchFamily="34" charset="-122"/>
                <a:cs typeface="Calibri" pitchFamily="34" charset="-120"/>
              </a:rPr>
              <a:t>Parameswaran, Hussain &amp; Hossain (2026). The Human Layer of Agentic AI Memory. In AI-Driven Mathematics Education, Springer, pp. 35–52.</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THIS DIFFERS FROM EXISTING APPROACHES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Where current chatbots fall short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840480"/>
                <a:gridCol w="1463040"/>
                <a:gridCol w="1463040"/>
                <a:gridCol w="1463040"/>
              </a:tblGrid>
              <a:tr h="384048">
                <a:tc>
                  <a:txBody>
                    <a:bodyPr/>
                    <a:lstStyle/>
                    <a:p>
                      <a:pPr algn="ctr" indent="0" marL="0">
                        <a:buNone/>
                      </a:pP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878"/>
                          </a:solidFill>
                          <a:latin typeface="Calibri" pitchFamily="34" charset="0"/>
                          <a:ea typeface="Calibri" pitchFamily="34" charset="-122"/>
                          <a:cs typeface="Calibri" pitchFamily="34" charset="-120"/>
                        </a:rPr>
                        <a:t>Typical FAQ chatbot</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EF4FC"/>
                    </a:solidFill>
                  </a:tcPr>
                </a:tc>
                <a:tc>
                  <a:txBody>
                    <a:bodyPr/>
                    <a:lstStyle/>
                    <a:p>
                      <a:pPr algn="ctr" indent="0" marL="0">
                        <a:buNone/>
                      </a:pPr>
                      <a:r>
                        <a:rPr lang="en-US" sz="1200" b="1" dirty="0">
                          <a:solidFill>
                            <a:srgbClr val="001878"/>
                          </a:solidFill>
                          <a:latin typeface="Calibri" pitchFamily="34" charset="0"/>
                          <a:ea typeface="Calibri" pitchFamily="34" charset="-122"/>
                          <a:cs typeface="Calibri" pitchFamily="34" charset="-120"/>
                        </a:rPr>
                        <a:t>Typical assistant memory</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EF4F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AIDEX Assistant</a:t>
                      </a:r>
                      <a:endParaRPr lang="en-US" sz="12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01878"/>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Answers grounded in verified data</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Learns how each person likes answers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Separates preferences from facts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Measures which memories were actually used</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Switches off unhelpful memories by itself</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User can see, edit and delete memories</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r h="384048">
                <a:tc>
                  <a:txBody>
                    <a:bodyPr/>
                    <a:lstStyle/>
                    <a:p>
                      <a:pPr indent="0" marL="0">
                        <a:buNone/>
                      </a:pPr>
                      <a:r>
                        <a:rPr lang="en-US" sz="1300" dirty="0">
                          <a:solidFill>
                            <a:srgbClr val="1B2333"/>
                          </a:solidFill>
                          <a:latin typeface="Calibri" pitchFamily="34" charset="0"/>
                          <a:ea typeface="Calibri" pitchFamily="34" charset="-122"/>
                          <a:cs typeface="Calibri" pitchFamily="34" charset="-120"/>
                        </a:rPr>
                        <a:t>Runs on a local model, no outside company</a:t>
                      </a:r>
                      <a:endParaRPr lang="en-US" sz="13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tcPr>
                </a:tc>
                <a:tc>
                  <a:txBody>
                    <a:bodyPr/>
                    <a:lstStyle/>
                    <a:p>
                      <a:pPr algn="ctr" indent="0" marL="0">
                        <a:buNone/>
                      </a:pPr>
                      <a:r>
                        <a:rPr lang="en-US" sz="1600" b="1" dirty="0">
                          <a:solidFill>
                            <a:srgbClr val="1E8E5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73152" marT="0" marB="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E6EEFA"/>
                    </a:solidFill>
                  </a:tcPr>
                </a:tc>
              </a:tr>
            </a:tbl>
          </a:graphicData>
        </a:graphic>
      </p:graphicFrame>
      <p:sp>
        <p:nvSpPr>
          <p:cNvPr id="5" name="Text 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 yes   ~ partly or varies   ✗ usually not.  A general comparison of common approaches, not a benchmark of specific products.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RESEARCH CONTRIBUTIONS AND NOVELTY</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this work contributes</a:t>
            </a:r>
            <a:endParaRPr lang="en-US" sz="2800" dirty="0"/>
          </a:p>
        </p:txBody>
      </p:sp>
      <p:sp>
        <p:nvSpPr>
          <p:cNvPr id="4" name="Contribution 1"/>
          <p:cNvSpPr/>
          <p:nvPr/>
        </p:nvSpPr>
        <p:spPr>
          <a:xfrm>
            <a:off x="457200" y="1325880"/>
            <a:ext cx="4023360" cy="1508760"/>
          </a:xfrm>
          <a:prstGeom prst="roundRect">
            <a:avLst>
              <a:gd name="adj" fmla="val 6061"/>
            </a:avLst>
          </a:prstGeom>
          <a:solidFill>
            <a:srgbClr val="EEF4FC"/>
          </a:solidFill>
          <a:ln w="12700">
            <a:solidFill>
              <a:srgbClr val="EEF4FC"/>
            </a:solidFill>
            <a:prstDash val="solid"/>
          </a:ln>
        </p:spPr>
      </p:sp>
      <p:sp>
        <p:nvSpPr>
          <p:cNvPr id="5" name="Text 3"/>
          <p:cNvSpPr txBox="1"/>
          <p:nvPr/>
        </p:nvSpPr>
        <p:spPr>
          <a:xfrm>
            <a:off x="685800" y="150876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1</a:t>
            </a:r>
            <a:endParaRPr lang="en-US" sz="3000" dirty="0"/>
          </a:p>
        </p:txBody>
      </p:sp>
      <p:sp>
        <p:nvSpPr>
          <p:cNvPr id="6" name="Contribution 1 circle"/>
          <p:cNvSpPr/>
          <p:nvPr/>
        </p:nvSpPr>
        <p:spPr>
          <a:xfrm>
            <a:off x="3794760" y="1527048"/>
            <a:ext cx="502920" cy="502920"/>
          </a:xfrm>
          <a:prstGeom prst="ellipse">
            <a:avLst/>
          </a:prstGeom>
          <a:solidFill>
            <a:srgbClr val="0040B8"/>
          </a:solidFill>
          <a:ln w="12700">
            <a:solidFill>
              <a:srgbClr val="0040B8"/>
            </a:solidFill>
            <a:prstDash val="solid"/>
          </a:ln>
        </p:spPr>
      </p:sp>
      <p:pic>
        <p:nvPicPr>
          <p:cNvPr id="7" name="Contribution 1 icon" descr="preencoded.png">    </p:cNvPr>
          <p:cNvPicPr>
            <a:picLocks noChangeAspect="1"/>
          </p:cNvPicPr>
          <p:nvPr/>
        </p:nvPicPr>
        <p:blipFill>
          <a:blip r:embed="rId1"/>
          <a:stretch>
            <a:fillRect/>
          </a:stretch>
        </p:blipFill>
        <p:spPr>
          <a:xfrm>
            <a:off x="3920490" y="1652778"/>
            <a:ext cx="251460" cy="251460"/>
          </a:xfrm>
          <a:prstGeom prst="rect">
            <a:avLst/>
          </a:prstGeom>
        </p:spPr>
      </p:pic>
      <p:sp>
        <p:nvSpPr>
          <p:cNvPr id="8" name="Text 5"/>
          <p:cNvSpPr txBox="1"/>
          <p:nvPr/>
        </p:nvSpPr>
        <p:spPr>
          <a:xfrm>
            <a:off x="1143000" y="155448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Two-layer memory</a:t>
            </a:r>
            <a:endParaRPr lang="en-US" sz="1700" dirty="0"/>
          </a:p>
        </p:txBody>
      </p:sp>
      <p:sp>
        <p:nvSpPr>
          <p:cNvPr id="9" name="Text 6"/>
          <p:cNvSpPr txBox="1"/>
          <p:nvPr/>
        </p:nvSpPr>
        <p:spPr>
          <a:xfrm>
            <a:off x="1143000" y="196596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Every memory is labelled as intent calibration or domain knowledge, the split from the paper</a:t>
            </a:r>
            <a:endParaRPr lang="en-US" sz="1300" dirty="0"/>
          </a:p>
        </p:txBody>
      </p:sp>
      <p:sp>
        <p:nvSpPr>
          <p:cNvPr id="10" name="Contribution 2"/>
          <p:cNvSpPr/>
          <p:nvPr/>
        </p:nvSpPr>
        <p:spPr>
          <a:xfrm>
            <a:off x="4663440" y="1325880"/>
            <a:ext cx="4023360" cy="1508760"/>
          </a:xfrm>
          <a:prstGeom prst="roundRect">
            <a:avLst>
              <a:gd name="adj" fmla="val 6061"/>
            </a:avLst>
          </a:prstGeom>
          <a:solidFill>
            <a:srgbClr val="EEF4FC"/>
          </a:solidFill>
          <a:ln w="12700">
            <a:solidFill>
              <a:srgbClr val="EEF4FC"/>
            </a:solidFill>
            <a:prstDash val="solid"/>
          </a:ln>
        </p:spPr>
      </p:sp>
      <p:sp>
        <p:nvSpPr>
          <p:cNvPr id="11" name="Text 8"/>
          <p:cNvSpPr txBox="1"/>
          <p:nvPr/>
        </p:nvSpPr>
        <p:spPr>
          <a:xfrm>
            <a:off x="4892040" y="150876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2</a:t>
            </a:r>
            <a:endParaRPr lang="en-US" sz="3000" dirty="0"/>
          </a:p>
        </p:txBody>
      </p:sp>
      <p:sp>
        <p:nvSpPr>
          <p:cNvPr id="12" name="Contribution 2 circle"/>
          <p:cNvSpPr/>
          <p:nvPr/>
        </p:nvSpPr>
        <p:spPr>
          <a:xfrm>
            <a:off x="8001000" y="1527048"/>
            <a:ext cx="502920" cy="502920"/>
          </a:xfrm>
          <a:prstGeom prst="ellipse">
            <a:avLst/>
          </a:prstGeom>
          <a:solidFill>
            <a:srgbClr val="0040B8"/>
          </a:solidFill>
          <a:ln w="12700">
            <a:solidFill>
              <a:srgbClr val="0040B8"/>
            </a:solidFill>
            <a:prstDash val="solid"/>
          </a:ln>
        </p:spPr>
      </p:sp>
      <p:pic>
        <p:nvPicPr>
          <p:cNvPr id="13" name="Contribution 2 icon" descr="preencoded.png">    </p:cNvPr>
          <p:cNvPicPr>
            <a:picLocks noChangeAspect="1"/>
          </p:cNvPicPr>
          <p:nvPr/>
        </p:nvPicPr>
        <p:blipFill>
          <a:blip r:embed="rId2"/>
          <a:stretch>
            <a:fillRect/>
          </a:stretch>
        </p:blipFill>
        <p:spPr>
          <a:xfrm>
            <a:off x="8126730" y="1652778"/>
            <a:ext cx="251460" cy="251460"/>
          </a:xfrm>
          <a:prstGeom prst="rect">
            <a:avLst/>
          </a:prstGeom>
        </p:spPr>
      </p:pic>
      <p:sp>
        <p:nvSpPr>
          <p:cNvPr id="14" name="Text 10"/>
          <p:cNvSpPr txBox="1"/>
          <p:nvPr/>
        </p:nvSpPr>
        <p:spPr>
          <a:xfrm>
            <a:off x="5349240" y="155448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Measured reuse</a:t>
            </a:r>
            <a:endParaRPr lang="en-US" sz="1700" dirty="0"/>
          </a:p>
        </p:txBody>
      </p:sp>
      <p:sp>
        <p:nvSpPr>
          <p:cNvPr id="15" name="Text 11"/>
          <p:cNvSpPr txBox="1"/>
          <p:nvPr/>
        </p:nvSpPr>
        <p:spPr>
          <a:xfrm>
            <a:off x="5349240" y="196596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The model reports which memories shaped each answer, so reuse is counted, not assumed</a:t>
            </a:r>
            <a:endParaRPr lang="en-US" sz="1300" dirty="0"/>
          </a:p>
        </p:txBody>
      </p:sp>
      <p:sp>
        <p:nvSpPr>
          <p:cNvPr id="16" name="Contribution 3"/>
          <p:cNvSpPr/>
          <p:nvPr/>
        </p:nvSpPr>
        <p:spPr>
          <a:xfrm>
            <a:off x="457200" y="3017520"/>
            <a:ext cx="4023360" cy="1508760"/>
          </a:xfrm>
          <a:prstGeom prst="roundRect">
            <a:avLst>
              <a:gd name="adj" fmla="val 6061"/>
            </a:avLst>
          </a:prstGeom>
          <a:solidFill>
            <a:srgbClr val="EEF4FC"/>
          </a:solidFill>
          <a:ln w="12700">
            <a:solidFill>
              <a:srgbClr val="EEF4FC"/>
            </a:solidFill>
            <a:prstDash val="solid"/>
          </a:ln>
        </p:spPr>
      </p:sp>
      <p:sp>
        <p:nvSpPr>
          <p:cNvPr id="17" name="Text 13"/>
          <p:cNvSpPr txBox="1"/>
          <p:nvPr/>
        </p:nvSpPr>
        <p:spPr>
          <a:xfrm>
            <a:off x="685800" y="320040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3</a:t>
            </a:r>
            <a:endParaRPr lang="en-US" sz="3000" dirty="0"/>
          </a:p>
        </p:txBody>
      </p:sp>
      <p:sp>
        <p:nvSpPr>
          <p:cNvPr id="18" name="Contribution 3 circle"/>
          <p:cNvSpPr/>
          <p:nvPr/>
        </p:nvSpPr>
        <p:spPr>
          <a:xfrm>
            <a:off x="3794760" y="3218688"/>
            <a:ext cx="502920" cy="502920"/>
          </a:xfrm>
          <a:prstGeom prst="ellipse">
            <a:avLst/>
          </a:prstGeom>
          <a:solidFill>
            <a:srgbClr val="0040B8"/>
          </a:solidFill>
          <a:ln w="12700">
            <a:solidFill>
              <a:srgbClr val="0040B8"/>
            </a:solidFill>
            <a:prstDash val="solid"/>
          </a:ln>
        </p:spPr>
      </p:sp>
      <p:pic>
        <p:nvPicPr>
          <p:cNvPr id="19" name="Contribution 3 icon" descr="preencoded.png">    </p:cNvPr>
          <p:cNvPicPr>
            <a:picLocks noChangeAspect="1"/>
          </p:cNvPicPr>
          <p:nvPr/>
        </p:nvPicPr>
        <p:blipFill>
          <a:blip r:embed="rId3"/>
          <a:stretch>
            <a:fillRect/>
          </a:stretch>
        </p:blipFill>
        <p:spPr>
          <a:xfrm>
            <a:off x="3920490" y="3344418"/>
            <a:ext cx="251460" cy="251460"/>
          </a:xfrm>
          <a:prstGeom prst="rect">
            <a:avLst/>
          </a:prstGeom>
        </p:spPr>
      </p:pic>
      <p:sp>
        <p:nvSpPr>
          <p:cNvPr id="20" name="Text 15"/>
          <p:cNvSpPr txBox="1"/>
          <p:nvPr/>
        </p:nvSpPr>
        <p:spPr>
          <a:xfrm>
            <a:off x="1143000" y="324612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Self-correcting loop</a:t>
            </a:r>
            <a:endParaRPr lang="en-US" sz="1700" dirty="0"/>
          </a:p>
        </p:txBody>
      </p:sp>
      <p:sp>
        <p:nvSpPr>
          <p:cNvPr id="21" name="Text 16"/>
          <p:cNvSpPr txBox="1"/>
          <p:nvPr/>
        </p:nvSpPr>
        <p:spPr>
          <a:xfrm>
            <a:off x="1143000" y="365760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Corrections, feedback and disuse switch memories off automatically, with a reason</a:t>
            </a:r>
            <a:endParaRPr lang="en-US" sz="1300" dirty="0"/>
          </a:p>
        </p:txBody>
      </p:sp>
      <p:sp>
        <p:nvSpPr>
          <p:cNvPr id="22" name="Contribution 4"/>
          <p:cNvSpPr/>
          <p:nvPr/>
        </p:nvSpPr>
        <p:spPr>
          <a:xfrm>
            <a:off x="4663440" y="3017520"/>
            <a:ext cx="4023360" cy="1508760"/>
          </a:xfrm>
          <a:prstGeom prst="roundRect">
            <a:avLst>
              <a:gd name="adj" fmla="val 6061"/>
            </a:avLst>
          </a:prstGeom>
          <a:solidFill>
            <a:srgbClr val="EEF4FC"/>
          </a:solidFill>
          <a:ln w="12700">
            <a:solidFill>
              <a:srgbClr val="EEF4FC"/>
            </a:solidFill>
            <a:prstDash val="solid"/>
          </a:ln>
        </p:spPr>
      </p:sp>
      <p:sp>
        <p:nvSpPr>
          <p:cNvPr id="23" name="Text 18"/>
          <p:cNvSpPr txBox="1"/>
          <p:nvPr/>
        </p:nvSpPr>
        <p:spPr>
          <a:xfrm>
            <a:off x="4892040" y="3200400"/>
            <a:ext cx="457200" cy="548640"/>
          </a:xfrm>
          <a:prstGeom prst="rect">
            <a:avLst/>
          </a:prstGeom>
          <a:noFill/>
          <a:ln/>
        </p:spPr>
        <p:txBody>
          <a:bodyPr wrap="square" lIns="0" tIns="0" rIns="0" bIns="0" rtlCol="0" anchor="ctr"/>
          <a:lstStyle/>
          <a:p>
            <a:pPr indent="0" marL="0">
              <a:buNone/>
            </a:pPr>
            <a:r>
              <a:rPr lang="en-US" sz="3000" b="1" dirty="0">
                <a:solidFill>
                  <a:srgbClr val="00D4F0"/>
                </a:solidFill>
                <a:latin typeface="Arial" pitchFamily="34" charset="0"/>
                <a:ea typeface="Arial" pitchFamily="34" charset="-122"/>
                <a:cs typeface="Arial" pitchFamily="34" charset="-120"/>
              </a:rPr>
              <a:t>4</a:t>
            </a:r>
            <a:endParaRPr lang="en-US" sz="3000" dirty="0"/>
          </a:p>
        </p:txBody>
      </p:sp>
      <p:sp>
        <p:nvSpPr>
          <p:cNvPr id="24" name="Contribution 4 circle"/>
          <p:cNvSpPr/>
          <p:nvPr/>
        </p:nvSpPr>
        <p:spPr>
          <a:xfrm>
            <a:off x="8001000" y="3218688"/>
            <a:ext cx="502920" cy="502920"/>
          </a:xfrm>
          <a:prstGeom prst="ellipse">
            <a:avLst/>
          </a:prstGeom>
          <a:solidFill>
            <a:srgbClr val="0040B8"/>
          </a:solidFill>
          <a:ln w="12700">
            <a:solidFill>
              <a:srgbClr val="0040B8"/>
            </a:solidFill>
            <a:prstDash val="solid"/>
          </a:ln>
        </p:spPr>
      </p:sp>
      <p:pic>
        <p:nvPicPr>
          <p:cNvPr id="25" name="Contribution 4 icon" descr="preencoded.png">    </p:cNvPr>
          <p:cNvPicPr>
            <a:picLocks noChangeAspect="1"/>
          </p:cNvPicPr>
          <p:nvPr/>
        </p:nvPicPr>
        <p:blipFill>
          <a:blip r:embed="rId4"/>
          <a:stretch>
            <a:fillRect/>
          </a:stretch>
        </p:blipFill>
        <p:spPr>
          <a:xfrm>
            <a:off x="8126730" y="3344418"/>
            <a:ext cx="251460" cy="251460"/>
          </a:xfrm>
          <a:prstGeom prst="rect">
            <a:avLst/>
          </a:prstGeom>
        </p:spPr>
      </p:pic>
      <p:sp>
        <p:nvSpPr>
          <p:cNvPr id="26" name="Text 20"/>
          <p:cNvSpPr txBox="1"/>
          <p:nvPr/>
        </p:nvSpPr>
        <p:spPr>
          <a:xfrm>
            <a:off x="5349240" y="3246120"/>
            <a:ext cx="2560320" cy="365760"/>
          </a:xfrm>
          <a:prstGeom prst="rect">
            <a:avLst/>
          </a:prstGeom>
          <a:noFill/>
          <a:ln/>
        </p:spPr>
        <p:txBody>
          <a:bodyPr wrap="square" lIns="0" tIns="0" rIns="0" bIns="0" rtlCol="0" anchor="ctr"/>
          <a:lstStyle/>
          <a:p>
            <a:pPr indent="0" marL="0">
              <a:buNone/>
            </a:pPr>
            <a:r>
              <a:rPr lang="en-US" sz="1700" b="1" dirty="0">
                <a:solidFill>
                  <a:srgbClr val="001878"/>
                </a:solidFill>
                <a:latin typeface="Arial" pitchFamily="34" charset="0"/>
                <a:ea typeface="Arial" pitchFamily="34" charset="-122"/>
                <a:cs typeface="Arial" pitchFamily="34" charset="-120"/>
              </a:rPr>
              <a:t>Transparent and private</a:t>
            </a:r>
            <a:endParaRPr lang="en-US" sz="1700" dirty="0"/>
          </a:p>
        </p:txBody>
      </p:sp>
      <p:sp>
        <p:nvSpPr>
          <p:cNvPr id="27" name="Text 21"/>
          <p:cNvSpPr txBox="1"/>
          <p:nvPr/>
        </p:nvSpPr>
        <p:spPr>
          <a:xfrm>
            <a:off x="5349240" y="3657600"/>
            <a:ext cx="2606040" cy="7772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Opt-in, editable memory, consent and withdrawal, and a local AI model</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PRACTICAL EXAMPLES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What gets remembered?</a:t>
            </a:r>
            <a:endParaRPr lang="en-US" sz="2800" dirty="0"/>
          </a:p>
        </p:txBody>
      </p:sp>
      <p:sp>
        <p:nvSpPr>
          <p:cNvPr id="4" name="Text 2"/>
          <p:cNvSpPr txBox="1"/>
          <p:nvPr/>
        </p:nvSpPr>
        <p:spPr>
          <a:xfrm>
            <a:off x="457200" y="1234440"/>
            <a:ext cx="2743200" cy="274320"/>
          </a:xfrm>
          <a:prstGeom prst="rect">
            <a:avLst/>
          </a:prstGeom>
          <a:noFill/>
          <a:ln/>
        </p:spPr>
        <p:txBody>
          <a:bodyPr wrap="square" lIns="0" tIns="0" rIns="0" bIns="0" rtlCol="0" anchor="ctr"/>
          <a:lstStyle/>
          <a:p>
            <a:pPr indent="0" marL="0">
              <a:buNone/>
            </a:pPr>
            <a:r>
              <a:rPr lang="en-US" sz="1300" b="1" dirty="0">
                <a:solidFill>
                  <a:srgbClr val="5A6478"/>
                </a:solidFill>
                <a:latin typeface="Arial" pitchFamily="34" charset="0"/>
                <a:ea typeface="Arial" pitchFamily="34" charset="-122"/>
                <a:cs typeface="Arial" pitchFamily="34" charset="-120"/>
              </a:rPr>
              <a:t>User says…</a:t>
            </a:r>
            <a:endParaRPr lang="en-US" sz="1300" dirty="0"/>
          </a:p>
        </p:txBody>
      </p:sp>
      <p:sp>
        <p:nvSpPr>
          <p:cNvPr id="5" name="Text 3"/>
          <p:cNvSpPr txBox="1"/>
          <p:nvPr/>
        </p:nvSpPr>
        <p:spPr>
          <a:xfrm>
            <a:off x="4251960" y="1234440"/>
            <a:ext cx="1188720" cy="274320"/>
          </a:xfrm>
          <a:prstGeom prst="rect">
            <a:avLst/>
          </a:prstGeom>
          <a:noFill/>
          <a:ln/>
        </p:spPr>
        <p:txBody>
          <a:bodyPr wrap="square" lIns="0" tIns="0" rIns="0" bIns="0" rtlCol="0" anchor="ctr"/>
          <a:lstStyle/>
          <a:p>
            <a:pPr algn="ctr" indent="0" marL="0">
              <a:buNone/>
            </a:pPr>
            <a:r>
              <a:rPr lang="en-US" sz="1300" b="1" dirty="0">
                <a:solidFill>
                  <a:srgbClr val="5A6478"/>
                </a:solidFill>
                <a:latin typeface="Arial" pitchFamily="34" charset="0"/>
                <a:ea typeface="Arial" pitchFamily="34" charset="-122"/>
                <a:cs typeface="Arial" pitchFamily="34" charset="-120"/>
              </a:rPr>
              <a:t>Saved as</a:t>
            </a:r>
            <a:endParaRPr lang="en-US" sz="1300" dirty="0"/>
          </a:p>
        </p:txBody>
      </p:sp>
      <p:sp>
        <p:nvSpPr>
          <p:cNvPr id="6" name="Message 1"/>
          <p:cNvSpPr/>
          <p:nvPr/>
        </p:nvSpPr>
        <p:spPr>
          <a:xfrm>
            <a:off x="457200" y="1572768"/>
            <a:ext cx="5120640" cy="356616"/>
          </a:xfrm>
          <a:prstGeom prst="roundRect">
            <a:avLst>
              <a:gd name="adj" fmla="val 25641"/>
            </a:avLst>
          </a:prstGeom>
          <a:solidFill>
            <a:srgbClr val="EEF4FC"/>
          </a:solidFill>
          <a:ln w="12700">
            <a:solidFill>
              <a:srgbClr val="EEF4FC"/>
            </a:solidFill>
            <a:prstDash val="solid"/>
          </a:ln>
        </p:spPr>
      </p:sp>
      <p:sp>
        <p:nvSpPr>
          <p:cNvPr id="7" name="Text 5"/>
          <p:cNvSpPr txBox="1"/>
          <p:nvPr/>
        </p:nvSpPr>
        <p:spPr>
          <a:xfrm>
            <a:off x="594360" y="1572768"/>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"From now on, keep answers under 50 words."</a:t>
            </a:r>
            <a:endParaRPr lang="en-US" sz="1300" dirty="0"/>
          </a:p>
        </p:txBody>
      </p:sp>
      <p:sp>
        <p:nvSpPr>
          <p:cNvPr id="8" name="Tag 1"/>
          <p:cNvSpPr/>
          <p:nvPr/>
        </p:nvSpPr>
        <p:spPr>
          <a:xfrm>
            <a:off x="4297680" y="1627632"/>
            <a:ext cx="1143000" cy="246888"/>
          </a:xfrm>
          <a:prstGeom prst="roundRect">
            <a:avLst>
              <a:gd name="adj" fmla="val 48148"/>
            </a:avLst>
          </a:prstGeom>
          <a:solidFill>
            <a:srgbClr val="0040B8"/>
          </a:solidFill>
          <a:ln w="12700">
            <a:solidFill>
              <a:srgbClr val="0040B8"/>
            </a:solidFill>
            <a:prstDash val="solid"/>
          </a:ln>
        </p:spPr>
      </p:sp>
      <p:sp>
        <p:nvSpPr>
          <p:cNvPr id="9" name="Text 7"/>
          <p:cNvSpPr txBox="1"/>
          <p:nvPr/>
        </p:nvSpPr>
        <p:spPr>
          <a:xfrm>
            <a:off x="4297680" y="1627632"/>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0" name="Message 2"/>
          <p:cNvSpPr/>
          <p:nvPr/>
        </p:nvSpPr>
        <p:spPr>
          <a:xfrm>
            <a:off x="457200" y="2002536"/>
            <a:ext cx="5120640" cy="356616"/>
          </a:xfrm>
          <a:prstGeom prst="roundRect">
            <a:avLst>
              <a:gd name="adj" fmla="val 25641"/>
            </a:avLst>
          </a:prstGeom>
          <a:solidFill>
            <a:srgbClr val="EEF4FC"/>
          </a:solidFill>
          <a:ln w="12700">
            <a:solidFill>
              <a:srgbClr val="EEF4FC"/>
            </a:solidFill>
            <a:prstDash val="solid"/>
          </a:ln>
        </p:spPr>
      </p:sp>
      <p:sp>
        <p:nvSpPr>
          <p:cNvPr id="11" name="Text 9"/>
          <p:cNvSpPr txBox="1"/>
          <p:nvPr/>
        </p:nvSpPr>
        <p:spPr>
          <a:xfrm>
            <a:off x="594360" y="2002536"/>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"Please always use bullet points."</a:t>
            </a:r>
            <a:endParaRPr lang="en-US" sz="1300" dirty="0"/>
          </a:p>
        </p:txBody>
      </p:sp>
      <p:sp>
        <p:nvSpPr>
          <p:cNvPr id="12" name="Tag 2"/>
          <p:cNvSpPr/>
          <p:nvPr/>
        </p:nvSpPr>
        <p:spPr>
          <a:xfrm>
            <a:off x="4297680" y="2057400"/>
            <a:ext cx="1143000" cy="246888"/>
          </a:xfrm>
          <a:prstGeom prst="roundRect">
            <a:avLst>
              <a:gd name="adj" fmla="val 48148"/>
            </a:avLst>
          </a:prstGeom>
          <a:solidFill>
            <a:srgbClr val="0040B8"/>
          </a:solidFill>
          <a:ln w="12700">
            <a:solidFill>
              <a:srgbClr val="0040B8"/>
            </a:solidFill>
            <a:prstDash val="solid"/>
          </a:ln>
        </p:spPr>
      </p:sp>
      <p:sp>
        <p:nvSpPr>
          <p:cNvPr id="13" name="Text 11"/>
          <p:cNvSpPr txBox="1"/>
          <p:nvPr/>
        </p:nvSpPr>
        <p:spPr>
          <a:xfrm>
            <a:off x="4297680" y="2057400"/>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4" name="Message 3"/>
          <p:cNvSpPr/>
          <p:nvPr/>
        </p:nvSpPr>
        <p:spPr>
          <a:xfrm>
            <a:off x="457200" y="2432304"/>
            <a:ext cx="5120640" cy="356616"/>
          </a:xfrm>
          <a:prstGeom prst="roundRect">
            <a:avLst>
              <a:gd name="adj" fmla="val 25641"/>
            </a:avLst>
          </a:prstGeom>
          <a:solidFill>
            <a:srgbClr val="EEF4FC"/>
          </a:solidFill>
          <a:ln w="12700">
            <a:solidFill>
              <a:srgbClr val="EEF4FC"/>
            </a:solidFill>
            <a:prstDash val="solid"/>
          </a:ln>
        </p:spPr>
      </p:sp>
      <p:sp>
        <p:nvSpPr>
          <p:cNvPr id="15" name="Text 13"/>
          <p:cNvSpPr txBox="1"/>
          <p:nvPr/>
        </p:nvSpPr>
        <p:spPr>
          <a:xfrm>
            <a:off x="594360" y="2432304"/>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"No, I meant the publications, not the people."</a:t>
            </a:r>
            <a:endParaRPr lang="en-US" sz="1300" dirty="0"/>
          </a:p>
        </p:txBody>
      </p:sp>
      <p:sp>
        <p:nvSpPr>
          <p:cNvPr id="16" name="Tag 3"/>
          <p:cNvSpPr/>
          <p:nvPr/>
        </p:nvSpPr>
        <p:spPr>
          <a:xfrm>
            <a:off x="4297680" y="2487168"/>
            <a:ext cx="1143000" cy="246888"/>
          </a:xfrm>
          <a:prstGeom prst="roundRect">
            <a:avLst>
              <a:gd name="adj" fmla="val 48148"/>
            </a:avLst>
          </a:prstGeom>
          <a:solidFill>
            <a:srgbClr val="0040B8"/>
          </a:solidFill>
          <a:ln w="12700">
            <a:solidFill>
              <a:srgbClr val="0040B8"/>
            </a:solidFill>
            <a:prstDash val="solid"/>
          </a:ln>
        </p:spPr>
      </p:sp>
      <p:sp>
        <p:nvSpPr>
          <p:cNvPr id="17" name="Text 15"/>
          <p:cNvSpPr txBox="1"/>
          <p:nvPr/>
        </p:nvSpPr>
        <p:spPr>
          <a:xfrm>
            <a:off x="4297680" y="2487168"/>
            <a:ext cx="114300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Intent</a:t>
            </a:r>
            <a:endParaRPr lang="en-US" sz="1100" dirty="0"/>
          </a:p>
        </p:txBody>
      </p:sp>
      <p:sp>
        <p:nvSpPr>
          <p:cNvPr id="18" name="Message 4"/>
          <p:cNvSpPr/>
          <p:nvPr/>
        </p:nvSpPr>
        <p:spPr>
          <a:xfrm>
            <a:off x="457200" y="2862072"/>
            <a:ext cx="5120640" cy="356616"/>
          </a:xfrm>
          <a:prstGeom prst="roundRect">
            <a:avLst>
              <a:gd name="adj" fmla="val 25641"/>
            </a:avLst>
          </a:prstGeom>
          <a:solidFill>
            <a:srgbClr val="EEF4FC"/>
          </a:solidFill>
          <a:ln w="12700">
            <a:solidFill>
              <a:srgbClr val="EEF4FC"/>
            </a:solidFill>
            <a:prstDash val="solid"/>
          </a:ln>
        </p:spPr>
      </p:sp>
      <p:sp>
        <p:nvSpPr>
          <p:cNvPr id="19" name="Text 17"/>
          <p:cNvSpPr txBox="1"/>
          <p:nvPr/>
        </p:nvSpPr>
        <p:spPr>
          <a:xfrm>
            <a:off x="594360" y="2862072"/>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a Bachelor of IT student."</a:t>
            </a:r>
            <a:endParaRPr lang="en-US" sz="1300" dirty="0"/>
          </a:p>
        </p:txBody>
      </p:sp>
      <p:sp>
        <p:nvSpPr>
          <p:cNvPr id="20" name="Tag 4"/>
          <p:cNvSpPr/>
          <p:nvPr/>
        </p:nvSpPr>
        <p:spPr>
          <a:xfrm>
            <a:off x="4297680" y="2916936"/>
            <a:ext cx="1143000" cy="246888"/>
          </a:xfrm>
          <a:prstGeom prst="roundRect">
            <a:avLst>
              <a:gd name="adj" fmla="val 48148"/>
            </a:avLst>
          </a:prstGeom>
          <a:solidFill>
            <a:srgbClr val="00D4F0"/>
          </a:solidFill>
          <a:ln w="12700">
            <a:solidFill>
              <a:srgbClr val="00D4F0"/>
            </a:solidFill>
            <a:prstDash val="solid"/>
          </a:ln>
        </p:spPr>
      </p:sp>
      <p:sp>
        <p:nvSpPr>
          <p:cNvPr id="21" name="Text 19"/>
          <p:cNvSpPr txBox="1"/>
          <p:nvPr/>
        </p:nvSpPr>
        <p:spPr>
          <a:xfrm>
            <a:off x="4297680" y="2916936"/>
            <a:ext cx="1143000" cy="246888"/>
          </a:xfrm>
          <a:prstGeom prst="rect">
            <a:avLst/>
          </a:prstGeom>
          <a:noFill/>
          <a:ln/>
        </p:spPr>
        <p:txBody>
          <a:bodyPr wrap="square" lIns="0" tIns="0" rIns="0" bIns="0" rtlCol="0" anchor="ctr"/>
          <a:lstStyle/>
          <a:p>
            <a:pPr algn="ctr" indent="0" marL="0">
              <a:buNone/>
            </a:pPr>
            <a:r>
              <a:rPr lang="en-US" sz="1100" b="1" dirty="0">
                <a:solidFill>
                  <a:srgbClr val="001878"/>
                </a:solidFill>
                <a:latin typeface="Calibri" pitchFamily="34" charset="0"/>
                <a:ea typeface="Calibri" pitchFamily="34" charset="-122"/>
                <a:cs typeface="Calibri" pitchFamily="34" charset="-120"/>
              </a:rPr>
              <a:t>Domain</a:t>
            </a:r>
            <a:endParaRPr lang="en-US" sz="1100" dirty="0"/>
          </a:p>
        </p:txBody>
      </p:sp>
      <p:sp>
        <p:nvSpPr>
          <p:cNvPr id="22" name="Message 5"/>
          <p:cNvSpPr/>
          <p:nvPr/>
        </p:nvSpPr>
        <p:spPr>
          <a:xfrm>
            <a:off x="457200" y="3291840"/>
            <a:ext cx="5120640" cy="356616"/>
          </a:xfrm>
          <a:prstGeom prst="roundRect">
            <a:avLst>
              <a:gd name="adj" fmla="val 25641"/>
            </a:avLst>
          </a:prstGeom>
          <a:solidFill>
            <a:srgbClr val="EEF4FC"/>
          </a:solidFill>
          <a:ln w="12700">
            <a:solidFill>
              <a:srgbClr val="EEF4FC"/>
            </a:solidFill>
            <a:prstDash val="solid"/>
          </a:ln>
        </p:spPr>
      </p:sp>
      <p:sp>
        <p:nvSpPr>
          <p:cNvPr id="23" name="Text 21"/>
          <p:cNvSpPr txBox="1"/>
          <p:nvPr/>
        </p:nvSpPr>
        <p:spPr>
          <a:xfrm>
            <a:off x="594360" y="3291840"/>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interested in agentic AI."</a:t>
            </a:r>
            <a:endParaRPr lang="en-US" sz="1300" dirty="0"/>
          </a:p>
        </p:txBody>
      </p:sp>
      <p:sp>
        <p:nvSpPr>
          <p:cNvPr id="24" name="Tag 5"/>
          <p:cNvSpPr/>
          <p:nvPr/>
        </p:nvSpPr>
        <p:spPr>
          <a:xfrm>
            <a:off x="4297680" y="3346704"/>
            <a:ext cx="1143000" cy="246888"/>
          </a:xfrm>
          <a:prstGeom prst="roundRect">
            <a:avLst>
              <a:gd name="adj" fmla="val 48148"/>
            </a:avLst>
          </a:prstGeom>
          <a:solidFill>
            <a:srgbClr val="00D4F0"/>
          </a:solidFill>
          <a:ln w="12700">
            <a:solidFill>
              <a:srgbClr val="00D4F0"/>
            </a:solidFill>
            <a:prstDash val="solid"/>
          </a:ln>
        </p:spPr>
      </p:sp>
      <p:sp>
        <p:nvSpPr>
          <p:cNvPr id="25" name="Text 23"/>
          <p:cNvSpPr txBox="1"/>
          <p:nvPr/>
        </p:nvSpPr>
        <p:spPr>
          <a:xfrm>
            <a:off x="4297680" y="3346704"/>
            <a:ext cx="1143000" cy="246888"/>
          </a:xfrm>
          <a:prstGeom prst="rect">
            <a:avLst/>
          </a:prstGeom>
          <a:noFill/>
          <a:ln/>
        </p:spPr>
        <p:txBody>
          <a:bodyPr wrap="square" lIns="0" tIns="0" rIns="0" bIns="0" rtlCol="0" anchor="ctr"/>
          <a:lstStyle/>
          <a:p>
            <a:pPr algn="ctr" indent="0" marL="0">
              <a:buNone/>
            </a:pPr>
            <a:r>
              <a:rPr lang="en-US" sz="1100" b="1" dirty="0">
                <a:solidFill>
                  <a:srgbClr val="001878"/>
                </a:solidFill>
                <a:latin typeface="Calibri" pitchFamily="34" charset="0"/>
                <a:ea typeface="Calibri" pitchFamily="34" charset="-122"/>
                <a:cs typeface="Calibri" pitchFamily="34" charset="-120"/>
              </a:rPr>
              <a:t>Domain</a:t>
            </a:r>
            <a:endParaRPr lang="en-US" sz="1100" dirty="0"/>
          </a:p>
        </p:txBody>
      </p:sp>
      <p:sp>
        <p:nvSpPr>
          <p:cNvPr id="26" name="Message 6"/>
          <p:cNvSpPr/>
          <p:nvPr/>
        </p:nvSpPr>
        <p:spPr>
          <a:xfrm>
            <a:off x="457200" y="3721608"/>
            <a:ext cx="5120640" cy="356616"/>
          </a:xfrm>
          <a:prstGeom prst="roundRect">
            <a:avLst>
              <a:gd name="adj" fmla="val 25641"/>
            </a:avLst>
          </a:prstGeom>
          <a:solidFill>
            <a:srgbClr val="EEF4FC"/>
          </a:solidFill>
          <a:ln w="12700">
            <a:solidFill>
              <a:srgbClr val="EEF4FC"/>
            </a:solidFill>
            <a:prstDash val="solid"/>
          </a:ln>
        </p:spPr>
      </p:sp>
      <p:sp>
        <p:nvSpPr>
          <p:cNvPr id="27" name="Text 25"/>
          <p:cNvSpPr txBox="1"/>
          <p:nvPr/>
        </p:nvSpPr>
        <p:spPr>
          <a:xfrm>
            <a:off x="594360" y="3721608"/>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"Who leads the lab?"</a:t>
            </a:r>
            <a:endParaRPr lang="en-US" sz="1300" dirty="0"/>
          </a:p>
        </p:txBody>
      </p:sp>
      <p:sp>
        <p:nvSpPr>
          <p:cNvPr id="28" name="Tag 6"/>
          <p:cNvSpPr/>
          <p:nvPr/>
        </p:nvSpPr>
        <p:spPr>
          <a:xfrm>
            <a:off x="4297680" y="3776472"/>
            <a:ext cx="1143000" cy="246888"/>
          </a:xfrm>
          <a:prstGeom prst="roundRect">
            <a:avLst>
              <a:gd name="adj" fmla="val 48148"/>
            </a:avLst>
          </a:prstGeom>
          <a:solidFill>
            <a:srgbClr val="D5DCE8"/>
          </a:solidFill>
          <a:ln w="12700">
            <a:solidFill>
              <a:srgbClr val="D5DCE8"/>
            </a:solidFill>
            <a:prstDash val="solid"/>
          </a:ln>
        </p:spPr>
      </p:sp>
      <p:sp>
        <p:nvSpPr>
          <p:cNvPr id="29" name="Text 27"/>
          <p:cNvSpPr txBox="1"/>
          <p:nvPr/>
        </p:nvSpPr>
        <p:spPr>
          <a:xfrm>
            <a:off x="4297680" y="3776472"/>
            <a:ext cx="1143000" cy="246888"/>
          </a:xfrm>
          <a:prstGeom prst="rect">
            <a:avLst/>
          </a:prstGeom>
          <a:noFill/>
          <a:ln/>
        </p:spPr>
        <p:txBody>
          <a:bodyPr wrap="square" lIns="0" tIns="0" rIns="0" bIns="0" rtlCol="0" anchor="ctr"/>
          <a:lstStyle/>
          <a:p>
            <a:pPr algn="ctr" indent="0" marL="0">
              <a:buNone/>
            </a:pPr>
            <a:r>
              <a:rPr lang="en-US" sz="1100" b="1" dirty="0">
                <a:solidFill>
                  <a:srgbClr val="1B2333"/>
                </a:solidFill>
                <a:latin typeface="Calibri" pitchFamily="34" charset="0"/>
                <a:ea typeface="Calibri" pitchFamily="34" charset="-122"/>
                <a:cs typeface="Calibri" pitchFamily="34" charset="-120"/>
              </a:rPr>
              <a:t>Not saved</a:t>
            </a:r>
            <a:endParaRPr lang="en-US" sz="1100" dirty="0"/>
          </a:p>
        </p:txBody>
      </p:sp>
      <p:sp>
        <p:nvSpPr>
          <p:cNvPr id="30" name="Message 7"/>
          <p:cNvSpPr/>
          <p:nvPr/>
        </p:nvSpPr>
        <p:spPr>
          <a:xfrm>
            <a:off x="457200" y="4151376"/>
            <a:ext cx="5120640" cy="356616"/>
          </a:xfrm>
          <a:prstGeom prst="roundRect">
            <a:avLst>
              <a:gd name="adj" fmla="val 25641"/>
            </a:avLst>
          </a:prstGeom>
          <a:solidFill>
            <a:srgbClr val="EEF4FC"/>
          </a:solidFill>
          <a:ln w="12700">
            <a:solidFill>
              <a:srgbClr val="EEF4FC"/>
            </a:solidFill>
            <a:prstDash val="solid"/>
          </a:ln>
        </p:spPr>
      </p:sp>
      <p:sp>
        <p:nvSpPr>
          <p:cNvPr id="31" name="Text 29"/>
          <p:cNvSpPr txBox="1"/>
          <p:nvPr/>
        </p:nvSpPr>
        <p:spPr>
          <a:xfrm>
            <a:off x="594360" y="4151376"/>
            <a:ext cx="3566160" cy="356616"/>
          </a:xfrm>
          <a:prstGeom prst="rect">
            <a:avLst/>
          </a:prstGeom>
          <a:noFill/>
          <a:ln/>
        </p:spPr>
        <p:txBody>
          <a:bodyPr wrap="square" lIns="0" tIns="0" rIns="0" bIns="0" rtlCol="0" anchor="ctr"/>
          <a:lstStyle/>
          <a:p>
            <a:pPr indent="0" marL="0">
              <a:buNone/>
            </a:pPr>
            <a:r>
              <a:rPr lang="en-US" sz="1300" i="1" dirty="0">
                <a:solidFill>
                  <a:srgbClr val="1B2333"/>
                </a:solidFill>
                <a:latin typeface="Calibri" pitchFamily="34" charset="0"/>
                <a:ea typeface="Calibri" pitchFamily="34" charset="-122"/>
                <a:cs typeface="Calibri" pitchFamily="34" charset="-120"/>
              </a:rPr>
              <a:t>"I'm a patient with a medical condition."</a:t>
            </a:r>
            <a:endParaRPr lang="en-US" sz="1300" dirty="0"/>
          </a:p>
        </p:txBody>
      </p:sp>
      <p:sp>
        <p:nvSpPr>
          <p:cNvPr id="32" name="Tag 7"/>
          <p:cNvSpPr/>
          <p:nvPr/>
        </p:nvSpPr>
        <p:spPr>
          <a:xfrm>
            <a:off x="4297680" y="4206240"/>
            <a:ext cx="1143000" cy="246888"/>
          </a:xfrm>
          <a:prstGeom prst="roundRect">
            <a:avLst>
              <a:gd name="adj" fmla="val 48148"/>
            </a:avLst>
          </a:prstGeom>
          <a:solidFill>
            <a:srgbClr val="D5DCE8"/>
          </a:solidFill>
          <a:ln w="12700">
            <a:solidFill>
              <a:srgbClr val="D5DCE8"/>
            </a:solidFill>
            <a:prstDash val="solid"/>
          </a:ln>
        </p:spPr>
      </p:sp>
      <p:sp>
        <p:nvSpPr>
          <p:cNvPr id="33" name="Text 31"/>
          <p:cNvSpPr txBox="1"/>
          <p:nvPr/>
        </p:nvSpPr>
        <p:spPr>
          <a:xfrm>
            <a:off x="4297680" y="4206240"/>
            <a:ext cx="1143000" cy="246888"/>
          </a:xfrm>
          <a:prstGeom prst="rect">
            <a:avLst/>
          </a:prstGeom>
          <a:noFill/>
          <a:ln/>
        </p:spPr>
        <p:txBody>
          <a:bodyPr wrap="square" lIns="0" tIns="0" rIns="0" bIns="0" rtlCol="0" anchor="ctr"/>
          <a:lstStyle/>
          <a:p>
            <a:pPr algn="ctr" indent="0" marL="0">
              <a:buNone/>
            </a:pPr>
            <a:r>
              <a:rPr lang="en-US" sz="1100" b="1" dirty="0">
                <a:solidFill>
                  <a:srgbClr val="1B2333"/>
                </a:solidFill>
                <a:latin typeface="Calibri" pitchFamily="34" charset="0"/>
                <a:ea typeface="Calibri" pitchFamily="34" charset="-122"/>
                <a:cs typeface="Calibri" pitchFamily="34" charset="-120"/>
              </a:rPr>
              <a:t>Not saved</a:t>
            </a:r>
            <a:endParaRPr lang="en-US" sz="1100" dirty="0"/>
          </a:p>
        </p:txBody>
      </p:sp>
      <p:sp>
        <p:nvSpPr>
          <p:cNvPr id="34" name="Legend 1"/>
          <p:cNvSpPr/>
          <p:nvPr/>
        </p:nvSpPr>
        <p:spPr>
          <a:xfrm>
            <a:off x="5897880" y="1325880"/>
            <a:ext cx="2788920" cy="987552"/>
          </a:xfrm>
          <a:prstGeom prst="roundRect">
            <a:avLst>
              <a:gd name="adj" fmla="val 9259"/>
            </a:avLst>
          </a:prstGeom>
          <a:solidFill>
            <a:srgbClr val="001878"/>
          </a:solidFill>
          <a:ln w="12700">
            <a:solidFill>
              <a:srgbClr val="001878"/>
            </a:solidFill>
            <a:prstDash val="solid"/>
          </a:ln>
        </p:spPr>
      </p:sp>
      <p:sp>
        <p:nvSpPr>
          <p:cNvPr id="35" name="Legend 1 circle"/>
          <p:cNvSpPr/>
          <p:nvPr/>
        </p:nvSpPr>
        <p:spPr>
          <a:xfrm>
            <a:off x="6053328" y="1481328"/>
            <a:ext cx="411480" cy="411480"/>
          </a:xfrm>
          <a:prstGeom prst="ellipse">
            <a:avLst/>
          </a:prstGeom>
          <a:solidFill>
            <a:srgbClr val="0040B8"/>
          </a:solidFill>
          <a:ln w="12700">
            <a:solidFill>
              <a:srgbClr val="0040B8"/>
            </a:solidFill>
            <a:prstDash val="solid"/>
          </a:ln>
        </p:spPr>
      </p:sp>
      <p:pic>
        <p:nvPicPr>
          <p:cNvPr id="36" name="Legend 1 icon" descr="preencoded.png">    </p:cNvPr>
          <p:cNvPicPr>
            <a:picLocks noChangeAspect="1"/>
          </p:cNvPicPr>
          <p:nvPr/>
        </p:nvPicPr>
        <p:blipFill>
          <a:blip r:embed="rId1"/>
          <a:stretch>
            <a:fillRect/>
          </a:stretch>
        </p:blipFill>
        <p:spPr>
          <a:xfrm>
            <a:off x="6156198" y="1584198"/>
            <a:ext cx="205740" cy="205740"/>
          </a:xfrm>
          <a:prstGeom prst="rect">
            <a:avLst/>
          </a:prstGeom>
        </p:spPr>
      </p:pic>
      <p:sp>
        <p:nvSpPr>
          <p:cNvPr id="37" name="Text 34"/>
          <p:cNvSpPr txBox="1"/>
          <p:nvPr/>
        </p:nvSpPr>
        <p:spPr>
          <a:xfrm>
            <a:off x="6583680" y="146304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Intent calibration</a:t>
            </a:r>
            <a:endParaRPr lang="en-US" sz="1300" dirty="0"/>
          </a:p>
        </p:txBody>
      </p:sp>
      <p:sp>
        <p:nvSpPr>
          <p:cNvPr id="38" name="Text 35"/>
          <p:cNvSpPr txBox="1"/>
          <p:nvPr/>
        </p:nvSpPr>
        <p:spPr>
          <a:xfrm>
            <a:off x="6583680" y="1764792"/>
            <a:ext cx="2011680" cy="502920"/>
          </a:xfrm>
          <a:prstGeom prst="rect">
            <a:avLst/>
          </a:prstGeom>
          <a:noFill/>
          <a:ln/>
        </p:spPr>
        <p:txBody>
          <a:bodyPr wrap="square" lIns="0" tIns="0" rIns="0" bIns="0" rtlCol="0" anchor="t"/>
          <a:lstStyle/>
          <a:p>
            <a:pPr indent="0" marL="0">
              <a:buNone/>
            </a:pPr>
            <a:r>
              <a:rPr lang="en-US" sz="1050" dirty="0">
                <a:solidFill>
                  <a:srgbClr val="BFD4F2"/>
                </a:solidFill>
                <a:latin typeface="Calibri" pitchFamily="34" charset="0"/>
                <a:ea typeface="Calibri" pitchFamily="34" charset="-122"/>
                <a:cs typeface="Calibri" pitchFamily="34" charset="-120"/>
              </a:rPr>
              <a:t>How the person likes to be helped, including what they mean when they correct it</a:t>
            </a:r>
            <a:endParaRPr lang="en-US" sz="1050" dirty="0"/>
          </a:p>
        </p:txBody>
      </p:sp>
      <p:sp>
        <p:nvSpPr>
          <p:cNvPr id="39" name="Legend 2"/>
          <p:cNvSpPr/>
          <p:nvPr/>
        </p:nvSpPr>
        <p:spPr>
          <a:xfrm>
            <a:off x="5897880" y="2441448"/>
            <a:ext cx="2788920" cy="987552"/>
          </a:xfrm>
          <a:prstGeom prst="roundRect">
            <a:avLst>
              <a:gd name="adj" fmla="val 9259"/>
            </a:avLst>
          </a:prstGeom>
          <a:solidFill>
            <a:srgbClr val="EEF4FC"/>
          </a:solidFill>
          <a:ln w="12700">
            <a:solidFill>
              <a:srgbClr val="EEF4FC"/>
            </a:solidFill>
            <a:prstDash val="solid"/>
          </a:ln>
        </p:spPr>
      </p:sp>
      <p:sp>
        <p:nvSpPr>
          <p:cNvPr id="40" name="Legend 2 circle"/>
          <p:cNvSpPr/>
          <p:nvPr/>
        </p:nvSpPr>
        <p:spPr>
          <a:xfrm>
            <a:off x="6053328" y="2596896"/>
            <a:ext cx="411480" cy="411480"/>
          </a:xfrm>
          <a:prstGeom prst="ellipse">
            <a:avLst/>
          </a:prstGeom>
          <a:solidFill>
            <a:srgbClr val="00D4F0"/>
          </a:solidFill>
          <a:ln w="12700">
            <a:solidFill>
              <a:srgbClr val="00D4F0"/>
            </a:solidFill>
            <a:prstDash val="solid"/>
          </a:ln>
        </p:spPr>
      </p:sp>
      <p:pic>
        <p:nvPicPr>
          <p:cNvPr id="41" name="Legend 2 icon" descr="preencoded.png">    </p:cNvPr>
          <p:cNvPicPr>
            <a:picLocks noChangeAspect="1"/>
          </p:cNvPicPr>
          <p:nvPr/>
        </p:nvPicPr>
        <p:blipFill>
          <a:blip r:embed="rId2"/>
          <a:stretch>
            <a:fillRect/>
          </a:stretch>
        </p:blipFill>
        <p:spPr>
          <a:xfrm>
            <a:off x="6156198" y="2699766"/>
            <a:ext cx="205740" cy="205740"/>
          </a:xfrm>
          <a:prstGeom prst="rect">
            <a:avLst/>
          </a:prstGeom>
        </p:spPr>
      </p:pic>
      <p:sp>
        <p:nvSpPr>
          <p:cNvPr id="42" name="Text 38"/>
          <p:cNvSpPr txBox="1"/>
          <p:nvPr/>
        </p:nvSpPr>
        <p:spPr>
          <a:xfrm>
            <a:off x="6583680" y="2578608"/>
            <a:ext cx="2011680" cy="292608"/>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Domain knowledge</a:t>
            </a:r>
            <a:endParaRPr lang="en-US" sz="1300" dirty="0"/>
          </a:p>
        </p:txBody>
      </p:sp>
      <p:sp>
        <p:nvSpPr>
          <p:cNvPr id="43" name="Text 39"/>
          <p:cNvSpPr txBox="1"/>
          <p:nvPr/>
        </p:nvSpPr>
        <p:spPr>
          <a:xfrm>
            <a:off x="6583680" y="2880360"/>
            <a:ext cx="201168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Facts about the person, useful for some questions</a:t>
            </a:r>
            <a:endParaRPr lang="en-US" sz="1050" dirty="0"/>
          </a:p>
        </p:txBody>
      </p:sp>
      <p:sp>
        <p:nvSpPr>
          <p:cNvPr id="44" name="Legend 3"/>
          <p:cNvSpPr/>
          <p:nvPr/>
        </p:nvSpPr>
        <p:spPr>
          <a:xfrm>
            <a:off x="5897880" y="3557016"/>
            <a:ext cx="2788920" cy="987552"/>
          </a:xfrm>
          <a:prstGeom prst="roundRect">
            <a:avLst>
              <a:gd name="adj" fmla="val 9259"/>
            </a:avLst>
          </a:prstGeom>
          <a:solidFill>
            <a:srgbClr val="EEF4FC"/>
          </a:solidFill>
          <a:ln w="12700">
            <a:solidFill>
              <a:srgbClr val="EEF4FC"/>
            </a:solidFill>
            <a:prstDash val="solid"/>
          </a:ln>
        </p:spPr>
      </p:sp>
      <p:sp>
        <p:nvSpPr>
          <p:cNvPr id="45" name="Legend 3 circle"/>
          <p:cNvSpPr/>
          <p:nvPr/>
        </p:nvSpPr>
        <p:spPr>
          <a:xfrm>
            <a:off x="6053328" y="3712464"/>
            <a:ext cx="411480" cy="411480"/>
          </a:xfrm>
          <a:prstGeom prst="ellipse">
            <a:avLst/>
          </a:prstGeom>
          <a:solidFill>
            <a:srgbClr val="D5DCE8"/>
          </a:solidFill>
          <a:ln w="12700">
            <a:solidFill>
              <a:srgbClr val="D5DCE8"/>
            </a:solidFill>
            <a:prstDash val="solid"/>
          </a:ln>
        </p:spPr>
      </p:sp>
      <p:pic>
        <p:nvPicPr>
          <p:cNvPr id="46" name="Legend 3 icon" descr="preencoded.png">    </p:cNvPr>
          <p:cNvPicPr>
            <a:picLocks noChangeAspect="1"/>
          </p:cNvPicPr>
          <p:nvPr/>
        </p:nvPicPr>
        <p:blipFill>
          <a:blip r:embed="rId3"/>
          <a:stretch>
            <a:fillRect/>
          </a:stretch>
        </p:blipFill>
        <p:spPr>
          <a:xfrm>
            <a:off x="6156198" y="3815334"/>
            <a:ext cx="205740" cy="205740"/>
          </a:xfrm>
          <a:prstGeom prst="rect">
            <a:avLst/>
          </a:prstGeom>
        </p:spPr>
      </p:pic>
      <p:sp>
        <p:nvSpPr>
          <p:cNvPr id="47" name="Text 42"/>
          <p:cNvSpPr txBox="1"/>
          <p:nvPr/>
        </p:nvSpPr>
        <p:spPr>
          <a:xfrm>
            <a:off x="6583680" y="3694176"/>
            <a:ext cx="2011680" cy="292608"/>
          </a:xfrm>
          <a:prstGeom prst="rect">
            <a:avLst/>
          </a:prstGeom>
          <a:noFill/>
          <a:ln/>
        </p:spPr>
        <p:txBody>
          <a:bodyPr wrap="square" lIns="0" tIns="0" rIns="0" bIns="0" rtlCol="0" anchor="ctr"/>
          <a:lstStyle/>
          <a:p>
            <a:pPr indent="0" marL="0">
              <a:buNone/>
            </a:pPr>
            <a:r>
              <a:rPr lang="en-US" sz="1300" b="1" dirty="0">
                <a:solidFill>
                  <a:srgbClr val="001878"/>
                </a:solidFill>
                <a:latin typeface="Arial" pitchFamily="34" charset="0"/>
                <a:ea typeface="Arial" pitchFamily="34" charset="-122"/>
                <a:cs typeface="Arial" pitchFamily="34" charset="-120"/>
              </a:rPr>
              <a:t>Not saved</a:t>
            </a:r>
            <a:endParaRPr lang="en-US" sz="1300" dirty="0"/>
          </a:p>
        </p:txBody>
      </p:sp>
      <p:sp>
        <p:nvSpPr>
          <p:cNvPr id="48" name="Text 43"/>
          <p:cNvSpPr txBox="1"/>
          <p:nvPr/>
        </p:nvSpPr>
        <p:spPr>
          <a:xfrm>
            <a:off x="6583680" y="3995928"/>
            <a:ext cx="2011680" cy="502920"/>
          </a:xfrm>
          <a:prstGeom prst="rect">
            <a:avLst/>
          </a:prstGeom>
          <a:noFill/>
          <a:ln/>
        </p:spPr>
        <p:txBody>
          <a:bodyPr wrap="square" lIns="0" tIns="0" rIns="0" bIns="0" rtlCol="0" anchor="t"/>
          <a:lstStyle/>
          <a:p>
            <a:pPr indent="0" marL="0">
              <a:buNone/>
            </a:pPr>
            <a:r>
              <a:rPr lang="en-US" sz="1050" dirty="0">
                <a:solidFill>
                  <a:srgbClr val="5A6478"/>
                </a:solidFill>
                <a:latin typeface="Calibri" pitchFamily="34" charset="0"/>
                <a:ea typeface="Calibri" pitchFamily="34" charset="-122"/>
                <a:cs typeface="Calibri" pitchFamily="34" charset="-120"/>
              </a:rPr>
              <a:t>Ordinary questions, and sensitive details like health, are never stored</a:t>
            </a:r>
            <a:endParaRPr lang="en-US" sz="105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IT WORKS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System architecture</a:t>
            </a:r>
            <a:endParaRPr lang="en-US" sz="2800" dirty="0"/>
          </a:p>
        </p:txBody>
      </p:sp>
      <p:sp>
        <p:nvSpPr>
          <p:cNvPr id="4" name="Browser"/>
          <p:cNvSpPr/>
          <p:nvPr/>
        </p:nvSpPr>
        <p:spPr>
          <a:xfrm>
            <a:off x="365760" y="1371600"/>
            <a:ext cx="2240280" cy="777240"/>
          </a:xfrm>
          <a:prstGeom prst="roundRect">
            <a:avLst>
              <a:gd name="adj" fmla="val 11765"/>
            </a:avLst>
          </a:prstGeom>
          <a:solidFill>
            <a:srgbClr val="EEF4FC"/>
          </a:solidFill>
          <a:ln w="12700">
            <a:solidFill>
              <a:srgbClr val="EEF4FC"/>
            </a:solidFill>
            <a:prstDash val="solid"/>
          </a:ln>
        </p:spPr>
      </p:sp>
      <p:pic>
        <p:nvPicPr>
          <p:cNvPr id="5" name="Browser icon" descr="preencoded.png">    </p:cNvPr>
          <p:cNvPicPr>
            <a:picLocks noChangeAspect="1"/>
          </p:cNvPicPr>
          <p:nvPr/>
        </p:nvPicPr>
        <p:blipFill>
          <a:blip r:embed="rId1"/>
          <a:stretch>
            <a:fillRect/>
          </a:stretch>
        </p:blipFill>
        <p:spPr>
          <a:xfrm>
            <a:off x="530352" y="1577340"/>
            <a:ext cx="365760" cy="365760"/>
          </a:xfrm>
          <a:prstGeom prst="rect">
            <a:avLst/>
          </a:prstGeom>
        </p:spPr>
      </p:pic>
      <p:sp>
        <p:nvSpPr>
          <p:cNvPr id="6" name="Text 3"/>
          <p:cNvSpPr txBox="1"/>
          <p:nvPr/>
        </p:nvSpPr>
        <p:spPr>
          <a:xfrm>
            <a:off x="1005840" y="1444752"/>
            <a:ext cx="1508760" cy="35204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Chat website</a:t>
            </a:r>
            <a:endParaRPr lang="en-US" sz="1300" dirty="0"/>
          </a:p>
        </p:txBody>
      </p:sp>
      <p:sp>
        <p:nvSpPr>
          <p:cNvPr id="7" name="Text 4"/>
          <p:cNvSpPr txBox="1"/>
          <p:nvPr/>
        </p:nvSpPr>
        <p:spPr>
          <a:xfrm>
            <a:off x="1005840" y="1778508"/>
            <a:ext cx="1508760" cy="31546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HTML, CSS, JavaScript</a:t>
            </a:r>
            <a:endParaRPr lang="en-US" sz="1100" dirty="0"/>
          </a:p>
        </p:txBody>
      </p:sp>
      <p:sp>
        <p:nvSpPr>
          <p:cNvPr id="8" name="Dashboard"/>
          <p:cNvSpPr/>
          <p:nvPr/>
        </p:nvSpPr>
        <p:spPr>
          <a:xfrm>
            <a:off x="365760" y="3566160"/>
            <a:ext cx="2240280" cy="777240"/>
          </a:xfrm>
          <a:prstGeom prst="roundRect">
            <a:avLst>
              <a:gd name="adj" fmla="val 11765"/>
            </a:avLst>
          </a:prstGeom>
          <a:solidFill>
            <a:srgbClr val="EEF4FC"/>
          </a:solidFill>
          <a:ln w="12700">
            <a:solidFill>
              <a:srgbClr val="EEF4FC"/>
            </a:solidFill>
            <a:prstDash val="solid"/>
          </a:ln>
        </p:spPr>
      </p:sp>
      <p:pic>
        <p:nvPicPr>
          <p:cNvPr id="9" name="Dashboard icon" descr="preencoded.png">    </p:cNvPr>
          <p:cNvPicPr>
            <a:picLocks noChangeAspect="1"/>
          </p:cNvPicPr>
          <p:nvPr/>
        </p:nvPicPr>
        <p:blipFill>
          <a:blip r:embed="rId2"/>
          <a:stretch>
            <a:fillRect/>
          </a:stretch>
        </p:blipFill>
        <p:spPr>
          <a:xfrm>
            <a:off x="530352" y="3771900"/>
            <a:ext cx="365760" cy="365760"/>
          </a:xfrm>
          <a:prstGeom prst="rect">
            <a:avLst/>
          </a:prstGeom>
        </p:spPr>
      </p:pic>
      <p:sp>
        <p:nvSpPr>
          <p:cNvPr id="10" name="Text 6"/>
          <p:cNvSpPr txBox="1"/>
          <p:nvPr/>
        </p:nvSpPr>
        <p:spPr>
          <a:xfrm>
            <a:off x="1005840" y="3639312"/>
            <a:ext cx="1508760" cy="35204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Admin dashboard</a:t>
            </a:r>
            <a:endParaRPr lang="en-US" sz="1300" dirty="0"/>
          </a:p>
        </p:txBody>
      </p:sp>
      <p:sp>
        <p:nvSpPr>
          <p:cNvPr id="11" name="Text 7"/>
          <p:cNvSpPr txBox="1"/>
          <p:nvPr/>
        </p:nvSpPr>
        <p:spPr>
          <a:xfrm>
            <a:off x="1005840" y="3973068"/>
            <a:ext cx="1508760" cy="31546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Reuse ratio, CSV export</a:t>
            </a:r>
            <a:endParaRPr lang="en-US" sz="1100" dirty="0"/>
          </a:p>
        </p:txBody>
      </p:sp>
      <p:sp>
        <p:nvSpPr>
          <p:cNvPr id="12" name="Backend"/>
          <p:cNvSpPr/>
          <p:nvPr/>
        </p:nvSpPr>
        <p:spPr>
          <a:xfrm>
            <a:off x="2926080" y="1280160"/>
            <a:ext cx="3017520" cy="3200400"/>
          </a:xfrm>
          <a:prstGeom prst="roundRect">
            <a:avLst>
              <a:gd name="adj" fmla="val 3030"/>
            </a:avLst>
          </a:prstGeom>
          <a:solidFill>
            <a:srgbClr val="001878"/>
          </a:solidFill>
          <a:ln w="12700">
            <a:solidFill>
              <a:srgbClr val="001878"/>
            </a:solidFill>
            <a:prstDash val="solid"/>
          </a:ln>
        </p:spPr>
      </p:sp>
      <p:sp>
        <p:nvSpPr>
          <p:cNvPr id="13" name="Text 9"/>
          <p:cNvSpPr txBox="1"/>
          <p:nvPr/>
        </p:nvSpPr>
        <p:spPr>
          <a:xfrm>
            <a:off x="3108960" y="1371600"/>
            <a:ext cx="274320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Python backend (FastAPI)</a:t>
            </a:r>
            <a:endParaRPr lang="en-US" sz="1300" dirty="0"/>
          </a:p>
        </p:txBody>
      </p:sp>
      <p:sp>
        <p:nvSpPr>
          <p:cNvPr id="14" name="Step 1"/>
          <p:cNvSpPr/>
          <p:nvPr/>
        </p:nvSpPr>
        <p:spPr>
          <a:xfrm>
            <a:off x="3108960" y="1783080"/>
            <a:ext cx="2651760" cy="347472"/>
          </a:xfrm>
          <a:prstGeom prst="roundRect">
            <a:avLst>
              <a:gd name="adj" fmla="val 15789"/>
            </a:avLst>
          </a:prstGeom>
          <a:solidFill>
            <a:srgbClr val="0040B8"/>
          </a:solidFill>
          <a:ln w="12700">
            <a:solidFill>
              <a:srgbClr val="0040B8"/>
            </a:solidFill>
            <a:prstDash val="solid"/>
          </a:ln>
        </p:spPr>
      </p:sp>
      <p:sp>
        <p:nvSpPr>
          <p:cNvPr id="15" name="Text 11"/>
          <p:cNvSpPr txBox="1"/>
          <p:nvPr/>
        </p:nvSpPr>
        <p:spPr>
          <a:xfrm>
            <a:off x="3218688" y="1783080"/>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Safety check (guardrails)</a:t>
            </a:r>
            <a:endParaRPr lang="en-US" sz="1200" dirty="0"/>
          </a:p>
        </p:txBody>
      </p:sp>
      <p:sp>
        <p:nvSpPr>
          <p:cNvPr id="16" name="Step 2"/>
          <p:cNvSpPr/>
          <p:nvPr/>
        </p:nvSpPr>
        <p:spPr>
          <a:xfrm>
            <a:off x="3108960" y="2212848"/>
            <a:ext cx="2651760" cy="347472"/>
          </a:xfrm>
          <a:prstGeom prst="roundRect">
            <a:avLst>
              <a:gd name="adj" fmla="val 15789"/>
            </a:avLst>
          </a:prstGeom>
          <a:solidFill>
            <a:srgbClr val="0040B8"/>
          </a:solidFill>
          <a:ln w="12700">
            <a:solidFill>
              <a:srgbClr val="0040B8"/>
            </a:solidFill>
            <a:prstDash val="solid"/>
          </a:ln>
        </p:spPr>
      </p:sp>
      <p:sp>
        <p:nvSpPr>
          <p:cNvPr id="17" name="Text 13"/>
          <p:cNvSpPr txBox="1"/>
          <p:nvPr/>
        </p:nvSpPr>
        <p:spPr>
          <a:xfrm>
            <a:off x="3218688" y="2212848"/>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Learn from the message</a:t>
            </a:r>
            <a:endParaRPr lang="en-US" sz="1200" dirty="0"/>
          </a:p>
        </p:txBody>
      </p:sp>
      <p:sp>
        <p:nvSpPr>
          <p:cNvPr id="18" name="Step 3"/>
          <p:cNvSpPr/>
          <p:nvPr/>
        </p:nvSpPr>
        <p:spPr>
          <a:xfrm>
            <a:off x="3108960" y="2642616"/>
            <a:ext cx="2651760" cy="347472"/>
          </a:xfrm>
          <a:prstGeom prst="roundRect">
            <a:avLst>
              <a:gd name="adj" fmla="val 15789"/>
            </a:avLst>
          </a:prstGeom>
          <a:solidFill>
            <a:srgbClr val="0040B8"/>
          </a:solidFill>
          <a:ln w="12700">
            <a:solidFill>
              <a:srgbClr val="0040B8"/>
            </a:solidFill>
            <a:prstDash val="solid"/>
          </a:ln>
        </p:spPr>
      </p:sp>
      <p:sp>
        <p:nvSpPr>
          <p:cNvPr id="19" name="Text 15"/>
          <p:cNvSpPr txBox="1"/>
          <p:nvPr/>
        </p:nvSpPr>
        <p:spPr>
          <a:xfrm>
            <a:off x="3218688" y="2642616"/>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Recall personal memories</a:t>
            </a:r>
            <a:endParaRPr lang="en-US" sz="1200" dirty="0"/>
          </a:p>
        </p:txBody>
      </p:sp>
      <p:sp>
        <p:nvSpPr>
          <p:cNvPr id="20" name="Step 4"/>
          <p:cNvSpPr/>
          <p:nvPr/>
        </p:nvSpPr>
        <p:spPr>
          <a:xfrm>
            <a:off x="3108960" y="3072384"/>
            <a:ext cx="2651760" cy="347472"/>
          </a:xfrm>
          <a:prstGeom prst="roundRect">
            <a:avLst>
              <a:gd name="adj" fmla="val 15789"/>
            </a:avLst>
          </a:prstGeom>
          <a:solidFill>
            <a:srgbClr val="0040B8"/>
          </a:solidFill>
          <a:ln w="12700">
            <a:solidFill>
              <a:srgbClr val="0040B8"/>
            </a:solidFill>
            <a:prstDash val="solid"/>
          </a:ln>
        </p:spPr>
      </p:sp>
      <p:sp>
        <p:nvSpPr>
          <p:cNvPr id="21" name="Text 17"/>
          <p:cNvSpPr txBox="1"/>
          <p:nvPr/>
        </p:nvSpPr>
        <p:spPr>
          <a:xfrm>
            <a:off x="3218688" y="3072384"/>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Search lab knowledge</a:t>
            </a:r>
            <a:endParaRPr lang="en-US" sz="1200" dirty="0"/>
          </a:p>
        </p:txBody>
      </p:sp>
      <p:sp>
        <p:nvSpPr>
          <p:cNvPr id="22" name="Step 5"/>
          <p:cNvSpPr/>
          <p:nvPr/>
        </p:nvSpPr>
        <p:spPr>
          <a:xfrm>
            <a:off x="3108960" y="3502152"/>
            <a:ext cx="2651760" cy="347472"/>
          </a:xfrm>
          <a:prstGeom prst="roundRect">
            <a:avLst>
              <a:gd name="adj" fmla="val 15789"/>
            </a:avLst>
          </a:prstGeom>
          <a:solidFill>
            <a:srgbClr val="0040B8"/>
          </a:solidFill>
          <a:ln w="12700">
            <a:solidFill>
              <a:srgbClr val="0040B8"/>
            </a:solidFill>
            <a:prstDash val="solid"/>
          </a:ln>
        </p:spPr>
      </p:sp>
      <p:sp>
        <p:nvSpPr>
          <p:cNvPr id="23" name="Text 19"/>
          <p:cNvSpPr txBox="1"/>
          <p:nvPr/>
        </p:nvSpPr>
        <p:spPr>
          <a:xfrm>
            <a:off x="3218688" y="3502152"/>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  Ask the local AI model</a:t>
            </a:r>
            <a:endParaRPr lang="en-US" sz="1200" dirty="0"/>
          </a:p>
        </p:txBody>
      </p:sp>
      <p:sp>
        <p:nvSpPr>
          <p:cNvPr id="24" name="Step 6"/>
          <p:cNvSpPr/>
          <p:nvPr/>
        </p:nvSpPr>
        <p:spPr>
          <a:xfrm>
            <a:off x="3108960" y="3931920"/>
            <a:ext cx="2651760" cy="347472"/>
          </a:xfrm>
          <a:prstGeom prst="roundRect">
            <a:avLst>
              <a:gd name="adj" fmla="val 15789"/>
            </a:avLst>
          </a:prstGeom>
          <a:solidFill>
            <a:srgbClr val="0040B8"/>
          </a:solidFill>
          <a:ln w="12700">
            <a:solidFill>
              <a:srgbClr val="0040B8"/>
            </a:solidFill>
            <a:prstDash val="solid"/>
          </a:ln>
        </p:spPr>
      </p:sp>
      <p:sp>
        <p:nvSpPr>
          <p:cNvPr id="25" name="Text 21"/>
          <p:cNvSpPr txBox="1"/>
          <p:nvPr/>
        </p:nvSpPr>
        <p:spPr>
          <a:xfrm>
            <a:off x="3218688" y="3931920"/>
            <a:ext cx="2514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  Record which memories helped</a:t>
            </a:r>
            <a:endParaRPr lang="en-US" sz="1200" dirty="0"/>
          </a:p>
        </p:txBody>
      </p:sp>
      <p:sp>
        <p:nvSpPr>
          <p:cNvPr id="26" name="SQLite"/>
          <p:cNvSpPr/>
          <p:nvPr/>
        </p:nvSpPr>
        <p:spPr>
          <a:xfrm>
            <a:off x="6400800" y="1280160"/>
            <a:ext cx="2286000" cy="731520"/>
          </a:xfrm>
          <a:prstGeom prst="roundRect">
            <a:avLst>
              <a:gd name="adj" fmla="val 12500"/>
            </a:avLst>
          </a:prstGeom>
          <a:solidFill>
            <a:srgbClr val="EEF4FC"/>
          </a:solidFill>
          <a:ln w="12700">
            <a:solidFill>
              <a:srgbClr val="EEF4FC"/>
            </a:solidFill>
            <a:prstDash val="solid"/>
          </a:ln>
        </p:spPr>
      </p:sp>
      <p:pic>
        <p:nvPicPr>
          <p:cNvPr id="27" name="SQLite icon" descr="preencoded.png">    </p:cNvPr>
          <p:cNvPicPr>
            <a:picLocks noChangeAspect="1"/>
          </p:cNvPicPr>
          <p:nvPr/>
        </p:nvPicPr>
        <p:blipFill>
          <a:blip r:embed="rId3"/>
          <a:stretch>
            <a:fillRect/>
          </a:stretch>
        </p:blipFill>
        <p:spPr>
          <a:xfrm>
            <a:off x="6565392" y="1463040"/>
            <a:ext cx="365760" cy="365760"/>
          </a:xfrm>
          <a:prstGeom prst="rect">
            <a:avLst/>
          </a:prstGeom>
        </p:spPr>
      </p:pic>
      <p:sp>
        <p:nvSpPr>
          <p:cNvPr id="28" name="Text 23"/>
          <p:cNvSpPr txBox="1"/>
          <p:nvPr/>
        </p:nvSpPr>
        <p:spPr>
          <a:xfrm>
            <a:off x="7040880" y="135331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SQLite database</a:t>
            </a:r>
            <a:endParaRPr lang="en-US" sz="1300" dirty="0"/>
          </a:p>
        </p:txBody>
      </p:sp>
      <p:sp>
        <p:nvSpPr>
          <p:cNvPr id="29" name="Text 24"/>
          <p:cNvSpPr txBox="1"/>
          <p:nvPr/>
        </p:nvSpPr>
        <p:spPr>
          <a:xfrm>
            <a:off x="7040880" y="166420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Users, memories, logs</a:t>
            </a:r>
            <a:endParaRPr lang="en-US" sz="1100" dirty="0"/>
          </a:p>
        </p:txBody>
      </p:sp>
      <p:sp>
        <p:nvSpPr>
          <p:cNvPr id="30" name="Chroma"/>
          <p:cNvSpPr/>
          <p:nvPr/>
        </p:nvSpPr>
        <p:spPr>
          <a:xfrm>
            <a:off x="6400800" y="2103120"/>
            <a:ext cx="2286000" cy="731520"/>
          </a:xfrm>
          <a:prstGeom prst="roundRect">
            <a:avLst>
              <a:gd name="adj" fmla="val 12500"/>
            </a:avLst>
          </a:prstGeom>
          <a:solidFill>
            <a:srgbClr val="EEF4FC"/>
          </a:solidFill>
          <a:ln w="12700">
            <a:solidFill>
              <a:srgbClr val="EEF4FC"/>
            </a:solidFill>
            <a:prstDash val="solid"/>
          </a:ln>
        </p:spPr>
      </p:sp>
      <p:pic>
        <p:nvPicPr>
          <p:cNvPr id="31" name="Chroma icon" descr="preencoded.png">    </p:cNvPr>
          <p:cNvPicPr>
            <a:picLocks noChangeAspect="1"/>
          </p:cNvPicPr>
          <p:nvPr/>
        </p:nvPicPr>
        <p:blipFill>
          <a:blip r:embed="rId4"/>
          <a:stretch>
            <a:fillRect/>
          </a:stretch>
        </p:blipFill>
        <p:spPr>
          <a:xfrm>
            <a:off x="6565392" y="2286000"/>
            <a:ext cx="365760" cy="365760"/>
          </a:xfrm>
          <a:prstGeom prst="rect">
            <a:avLst/>
          </a:prstGeom>
        </p:spPr>
      </p:pic>
      <p:sp>
        <p:nvSpPr>
          <p:cNvPr id="32" name="Text 26"/>
          <p:cNvSpPr txBox="1"/>
          <p:nvPr/>
        </p:nvSpPr>
        <p:spPr>
          <a:xfrm>
            <a:off x="7040880" y="217627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ChromaDB search</a:t>
            </a:r>
            <a:endParaRPr lang="en-US" sz="1300" dirty="0"/>
          </a:p>
        </p:txBody>
      </p:sp>
      <p:sp>
        <p:nvSpPr>
          <p:cNvPr id="33" name="Text 27"/>
          <p:cNvSpPr txBox="1"/>
          <p:nvPr/>
        </p:nvSpPr>
        <p:spPr>
          <a:xfrm>
            <a:off x="7040880" y="248716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Themes, papers, people</a:t>
            </a:r>
            <a:endParaRPr lang="en-US" sz="1100" dirty="0"/>
          </a:p>
        </p:txBody>
      </p:sp>
      <p:sp>
        <p:nvSpPr>
          <p:cNvPr id="34" name="Ollama"/>
          <p:cNvSpPr/>
          <p:nvPr/>
        </p:nvSpPr>
        <p:spPr>
          <a:xfrm>
            <a:off x="6400800" y="2926080"/>
            <a:ext cx="2286000" cy="731520"/>
          </a:xfrm>
          <a:prstGeom prst="roundRect">
            <a:avLst>
              <a:gd name="adj" fmla="val 12500"/>
            </a:avLst>
          </a:prstGeom>
          <a:solidFill>
            <a:srgbClr val="0078D8"/>
          </a:solidFill>
          <a:ln w="12700">
            <a:solidFill>
              <a:srgbClr val="0078D8"/>
            </a:solidFill>
            <a:prstDash val="solid"/>
          </a:ln>
        </p:spPr>
      </p:sp>
      <p:pic>
        <p:nvPicPr>
          <p:cNvPr id="35" name="Ollama icon" descr="preencoded.png">    </p:cNvPr>
          <p:cNvPicPr>
            <a:picLocks noChangeAspect="1"/>
          </p:cNvPicPr>
          <p:nvPr/>
        </p:nvPicPr>
        <p:blipFill>
          <a:blip r:embed="rId5"/>
          <a:stretch>
            <a:fillRect/>
          </a:stretch>
        </p:blipFill>
        <p:spPr>
          <a:xfrm>
            <a:off x="6565392" y="3108960"/>
            <a:ext cx="365760" cy="365760"/>
          </a:xfrm>
          <a:prstGeom prst="rect">
            <a:avLst/>
          </a:prstGeom>
        </p:spPr>
      </p:pic>
      <p:sp>
        <p:nvSpPr>
          <p:cNvPr id="36" name="Text 29"/>
          <p:cNvSpPr txBox="1"/>
          <p:nvPr/>
        </p:nvSpPr>
        <p:spPr>
          <a:xfrm>
            <a:off x="7040880" y="2999232"/>
            <a:ext cx="1554480" cy="329184"/>
          </a:xfrm>
          <a:prstGeom prst="rect">
            <a:avLst/>
          </a:prstGeom>
          <a:noFill/>
          <a:ln/>
        </p:spPr>
        <p:txBody>
          <a:bodyPr wrap="square" lIns="0" tIns="0" rIns="0" bIns="0" rtlCol="0" anchor="b"/>
          <a:lstStyle/>
          <a:p>
            <a:pPr indent="0" marL="0">
              <a:buNone/>
            </a:pPr>
            <a:r>
              <a:rPr lang="en-US" sz="1300" b="1" dirty="0">
                <a:solidFill>
                  <a:srgbClr val="FFFFFF"/>
                </a:solidFill>
                <a:latin typeface="Arial" pitchFamily="34" charset="0"/>
                <a:ea typeface="Arial" pitchFamily="34" charset="-122"/>
                <a:cs typeface="Arial" pitchFamily="34" charset="-120"/>
              </a:rPr>
              <a:t>Ollama · Gemma 2</a:t>
            </a:r>
            <a:endParaRPr lang="en-US" sz="1300" dirty="0"/>
          </a:p>
        </p:txBody>
      </p:sp>
      <p:sp>
        <p:nvSpPr>
          <p:cNvPr id="37" name="Text 30"/>
          <p:cNvSpPr txBox="1"/>
          <p:nvPr/>
        </p:nvSpPr>
        <p:spPr>
          <a:xfrm>
            <a:off x="7040880" y="3310128"/>
            <a:ext cx="1554480" cy="292608"/>
          </a:xfrm>
          <a:prstGeom prst="rect">
            <a:avLst/>
          </a:prstGeom>
          <a:noFill/>
          <a:ln/>
        </p:spPr>
        <p:txBody>
          <a:bodyPr wrap="square" lIns="0" tIns="0" rIns="0" bIns="0" rtlCol="0" anchor="t"/>
          <a:lstStyle/>
          <a:p>
            <a:pPr indent="0" marL="0">
              <a:buNone/>
            </a:pPr>
            <a:r>
              <a:rPr lang="en-US" sz="1100" dirty="0">
                <a:solidFill>
                  <a:srgbClr val="BFD4F2"/>
                </a:solidFill>
                <a:latin typeface="Calibri" pitchFamily="34" charset="0"/>
                <a:ea typeface="Calibri" pitchFamily="34" charset="-122"/>
                <a:cs typeface="Calibri" pitchFamily="34" charset="-120"/>
              </a:rPr>
              <a:t>AI model on this computer</a:t>
            </a:r>
            <a:endParaRPr lang="en-US" sz="1100" dirty="0"/>
          </a:p>
        </p:txBody>
      </p:sp>
      <p:sp>
        <p:nvSpPr>
          <p:cNvPr id="38" name="Data"/>
          <p:cNvSpPr/>
          <p:nvPr/>
        </p:nvSpPr>
        <p:spPr>
          <a:xfrm>
            <a:off x="6400800" y="3749040"/>
            <a:ext cx="2286000" cy="731520"/>
          </a:xfrm>
          <a:prstGeom prst="roundRect">
            <a:avLst>
              <a:gd name="adj" fmla="val 12500"/>
            </a:avLst>
          </a:prstGeom>
          <a:solidFill>
            <a:srgbClr val="EEF4FC"/>
          </a:solidFill>
          <a:ln w="12700">
            <a:solidFill>
              <a:srgbClr val="EEF4FC"/>
            </a:solidFill>
            <a:prstDash val="solid"/>
          </a:ln>
        </p:spPr>
      </p:sp>
      <p:pic>
        <p:nvPicPr>
          <p:cNvPr id="39" name="Data icon" descr="preencoded.png">    </p:cNvPr>
          <p:cNvPicPr>
            <a:picLocks noChangeAspect="1"/>
          </p:cNvPicPr>
          <p:nvPr/>
        </p:nvPicPr>
        <p:blipFill>
          <a:blip r:embed="rId6"/>
          <a:stretch>
            <a:fillRect/>
          </a:stretch>
        </p:blipFill>
        <p:spPr>
          <a:xfrm>
            <a:off x="6565392" y="3931920"/>
            <a:ext cx="365760" cy="365760"/>
          </a:xfrm>
          <a:prstGeom prst="rect">
            <a:avLst/>
          </a:prstGeom>
        </p:spPr>
      </p:pic>
      <p:sp>
        <p:nvSpPr>
          <p:cNvPr id="40" name="Text 32"/>
          <p:cNvSpPr txBox="1"/>
          <p:nvPr/>
        </p:nvSpPr>
        <p:spPr>
          <a:xfrm>
            <a:off x="7040880" y="3822192"/>
            <a:ext cx="1554480" cy="329184"/>
          </a:xfrm>
          <a:prstGeom prst="rect">
            <a:avLst/>
          </a:prstGeom>
          <a:noFill/>
          <a:ln/>
        </p:spPr>
        <p:txBody>
          <a:bodyPr wrap="square" lIns="0" tIns="0" rIns="0" bIns="0" rtlCol="0" anchor="b"/>
          <a:lstStyle/>
          <a:p>
            <a:pPr indent="0" marL="0">
              <a:buNone/>
            </a:pPr>
            <a:r>
              <a:rPr lang="en-US" sz="1300" b="1" dirty="0">
                <a:solidFill>
                  <a:srgbClr val="001878"/>
                </a:solidFill>
                <a:latin typeface="Arial" pitchFamily="34" charset="0"/>
                <a:ea typeface="Arial" pitchFamily="34" charset="-122"/>
                <a:cs typeface="Arial" pitchFamily="34" charset="-120"/>
              </a:rPr>
              <a:t>Lab data files</a:t>
            </a:r>
            <a:endParaRPr lang="en-US" sz="1300" dirty="0"/>
          </a:p>
        </p:txBody>
      </p:sp>
      <p:sp>
        <p:nvSpPr>
          <p:cNvPr id="41" name="Text 33"/>
          <p:cNvSpPr txBox="1"/>
          <p:nvPr/>
        </p:nvSpPr>
        <p:spPr>
          <a:xfrm>
            <a:off x="7040880" y="4133088"/>
            <a:ext cx="1554480" cy="292608"/>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From the lab website</a:t>
            </a:r>
            <a:endParaRPr lang="en-US" sz="1100" dirty="0"/>
          </a:p>
        </p:txBody>
      </p:sp>
      <p:sp>
        <p:nvSpPr>
          <p:cNvPr id="42" name="Shape 34"/>
          <p:cNvSpPr/>
          <p:nvPr/>
        </p:nvSpPr>
        <p:spPr>
          <a:xfrm>
            <a:off x="2606040" y="1691640"/>
            <a:ext cx="301752" cy="914"/>
          </a:xfrm>
          <a:prstGeom prst="line">
            <a:avLst/>
          </a:prstGeom>
          <a:noFill/>
          <a:ln w="25400">
            <a:solidFill>
              <a:srgbClr val="0078D8"/>
            </a:solidFill>
            <a:prstDash val="solid"/>
            <a:tailEnd type="triangle"/>
          </a:ln>
        </p:spPr>
      </p:sp>
      <p:sp>
        <p:nvSpPr>
          <p:cNvPr id="43" name="Shape 35"/>
          <p:cNvSpPr/>
          <p:nvPr/>
        </p:nvSpPr>
        <p:spPr>
          <a:xfrm flipH="1">
            <a:off x="2606040" y="1874520"/>
            <a:ext cx="301752" cy="914"/>
          </a:xfrm>
          <a:prstGeom prst="line">
            <a:avLst/>
          </a:prstGeom>
          <a:noFill/>
          <a:ln w="25400">
            <a:solidFill>
              <a:srgbClr val="0078D8"/>
            </a:solidFill>
            <a:prstDash val="solid"/>
            <a:tailEnd type="triangle"/>
          </a:ln>
        </p:spPr>
      </p:sp>
      <p:sp>
        <p:nvSpPr>
          <p:cNvPr id="44" name="Shape 36"/>
          <p:cNvSpPr/>
          <p:nvPr/>
        </p:nvSpPr>
        <p:spPr>
          <a:xfrm flipH="1">
            <a:off x="2606040" y="3950208"/>
            <a:ext cx="301752" cy="914"/>
          </a:xfrm>
          <a:prstGeom prst="line">
            <a:avLst/>
          </a:prstGeom>
          <a:noFill/>
          <a:ln w="25400">
            <a:solidFill>
              <a:srgbClr val="0078D8"/>
            </a:solidFill>
            <a:prstDash val="solid"/>
            <a:tailEnd type="triangle"/>
          </a:ln>
        </p:spPr>
      </p:sp>
      <p:sp>
        <p:nvSpPr>
          <p:cNvPr id="45" name="Shape 37"/>
          <p:cNvSpPr/>
          <p:nvPr/>
        </p:nvSpPr>
        <p:spPr>
          <a:xfrm>
            <a:off x="5943600" y="1645920"/>
            <a:ext cx="438912" cy="914"/>
          </a:xfrm>
          <a:prstGeom prst="line">
            <a:avLst/>
          </a:prstGeom>
          <a:noFill/>
          <a:ln w="25400">
            <a:solidFill>
              <a:srgbClr val="0078D8"/>
            </a:solidFill>
            <a:prstDash val="solid"/>
            <a:tailEnd type="triangle"/>
          </a:ln>
        </p:spPr>
      </p:sp>
      <p:sp>
        <p:nvSpPr>
          <p:cNvPr id="46" name="Shape 38"/>
          <p:cNvSpPr/>
          <p:nvPr/>
        </p:nvSpPr>
        <p:spPr>
          <a:xfrm>
            <a:off x="5943600" y="2468880"/>
            <a:ext cx="438912" cy="914"/>
          </a:xfrm>
          <a:prstGeom prst="line">
            <a:avLst/>
          </a:prstGeom>
          <a:noFill/>
          <a:ln w="25400">
            <a:solidFill>
              <a:srgbClr val="0078D8"/>
            </a:solidFill>
            <a:prstDash val="solid"/>
            <a:tailEnd type="triangle"/>
          </a:ln>
        </p:spPr>
      </p:sp>
      <p:sp>
        <p:nvSpPr>
          <p:cNvPr id="47" name="Shape 39"/>
          <p:cNvSpPr/>
          <p:nvPr/>
        </p:nvSpPr>
        <p:spPr>
          <a:xfrm>
            <a:off x="5943600" y="3291840"/>
            <a:ext cx="438912" cy="914"/>
          </a:xfrm>
          <a:prstGeom prst="line">
            <a:avLst/>
          </a:prstGeom>
          <a:noFill/>
          <a:ln w="25400">
            <a:solidFill>
              <a:srgbClr val="0078D8"/>
            </a:solidFill>
            <a:prstDash val="solid"/>
            <a:tailEnd type="triangle"/>
          </a:ln>
        </p:spPr>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THE SELF-IMPROVEMENT LOOP</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How memories are learned and retired</a:t>
            </a:r>
            <a:endParaRPr lang="en-US" sz="2800" dirty="0"/>
          </a:p>
        </p:txBody>
      </p:sp>
      <p:sp>
        <p:nvSpPr>
          <p:cNvPr id="4" name="Loop ring"/>
          <p:cNvSpPr/>
          <p:nvPr/>
        </p:nvSpPr>
        <p:spPr>
          <a:xfrm>
            <a:off x="1371600" y="1783080"/>
            <a:ext cx="2834640" cy="2103120"/>
          </a:xfrm>
          <a:prstGeom prst="ellipse">
            <a:avLst/>
          </a:prstGeom>
          <a:solidFill>
            <a:srgbClr val="FFFFFF"/>
          </a:solidFill>
          <a:ln w="25400">
            <a:solidFill>
              <a:srgbClr val="C9D6EA"/>
            </a:solidFill>
            <a:prstDash val="dash"/>
          </a:ln>
        </p:spPr>
      </p:sp>
      <p:sp>
        <p:nvSpPr>
          <p:cNvPr id="5" name="Loop Learn"/>
          <p:cNvSpPr/>
          <p:nvPr/>
        </p:nvSpPr>
        <p:spPr>
          <a:xfrm>
            <a:off x="2286000" y="1234440"/>
            <a:ext cx="1691640" cy="960120"/>
          </a:xfrm>
          <a:prstGeom prst="roundRect">
            <a:avLst>
              <a:gd name="adj" fmla="val 9524"/>
            </a:avLst>
          </a:prstGeom>
          <a:solidFill>
            <a:srgbClr val="001878"/>
          </a:solidFill>
          <a:ln w="12700">
            <a:solidFill>
              <a:srgbClr val="001878"/>
            </a:solidFill>
            <a:prstDash val="solid"/>
          </a:ln>
        </p:spPr>
      </p:sp>
      <p:pic>
        <p:nvPicPr>
          <p:cNvPr id="6" name="Loop icon 1" descr="preencoded.png">    </p:cNvPr>
          <p:cNvPicPr>
            <a:picLocks noChangeAspect="1"/>
          </p:cNvPicPr>
          <p:nvPr/>
        </p:nvPicPr>
        <p:blipFill>
          <a:blip r:embed="rId1"/>
          <a:stretch>
            <a:fillRect/>
          </a:stretch>
        </p:blipFill>
        <p:spPr>
          <a:xfrm>
            <a:off x="2423160" y="1362456"/>
            <a:ext cx="292608" cy="292608"/>
          </a:xfrm>
          <a:prstGeom prst="rect">
            <a:avLst/>
          </a:prstGeom>
        </p:spPr>
      </p:pic>
      <p:sp>
        <p:nvSpPr>
          <p:cNvPr id="7" name="Text 4"/>
          <p:cNvSpPr txBox="1"/>
          <p:nvPr/>
        </p:nvSpPr>
        <p:spPr>
          <a:xfrm>
            <a:off x="2788920" y="1344168"/>
            <a:ext cx="109728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Learn</a:t>
            </a:r>
            <a:endParaRPr lang="en-US" sz="1500" dirty="0"/>
          </a:p>
        </p:txBody>
      </p:sp>
      <p:sp>
        <p:nvSpPr>
          <p:cNvPr id="8" name="Text 5"/>
          <p:cNvSpPr txBox="1"/>
          <p:nvPr/>
        </p:nvSpPr>
        <p:spPr>
          <a:xfrm>
            <a:off x="2423160" y="1691640"/>
            <a:ext cx="1463040" cy="475488"/>
          </a:xfrm>
          <a:prstGeom prst="rect">
            <a:avLst/>
          </a:prstGeom>
          <a:noFill/>
          <a:ln/>
        </p:spPr>
        <p:txBody>
          <a:bodyPr wrap="square" lIns="0" tIns="0" rIns="0" bIns="0" rtlCol="0" anchor="t"/>
          <a:lstStyle/>
          <a:p>
            <a:pPr indent="0" marL="0">
              <a:buNone/>
            </a:pPr>
            <a:r>
              <a:rPr lang="en-US" sz="1000" dirty="0">
                <a:solidFill>
                  <a:srgbClr val="BFD4F2"/>
                </a:solidFill>
                <a:latin typeface="Calibri" pitchFamily="34" charset="0"/>
                <a:ea typeface="Calibri" pitchFamily="34" charset="-122"/>
                <a:cs typeface="Calibri" pitchFamily="34" charset="-120"/>
              </a:rPr>
              <a:t>"Keep answers to 3 bullet points" is saved as a preference</a:t>
            </a:r>
            <a:endParaRPr lang="en-US" sz="1000" dirty="0"/>
          </a:p>
        </p:txBody>
      </p:sp>
      <p:sp>
        <p:nvSpPr>
          <p:cNvPr id="9" name="Loop Use"/>
          <p:cNvSpPr/>
          <p:nvPr/>
        </p:nvSpPr>
        <p:spPr>
          <a:xfrm>
            <a:off x="3977640" y="2331720"/>
            <a:ext cx="1691640" cy="960120"/>
          </a:xfrm>
          <a:prstGeom prst="roundRect">
            <a:avLst>
              <a:gd name="adj" fmla="val 9524"/>
            </a:avLst>
          </a:prstGeom>
          <a:solidFill>
            <a:srgbClr val="EEF4FC"/>
          </a:solidFill>
          <a:ln w="12700">
            <a:solidFill>
              <a:srgbClr val="EEF4FC"/>
            </a:solidFill>
            <a:prstDash val="solid"/>
          </a:ln>
        </p:spPr>
      </p:sp>
      <p:pic>
        <p:nvPicPr>
          <p:cNvPr id="10" name="Loop icon 2" descr="preencoded.png">    </p:cNvPr>
          <p:cNvPicPr>
            <a:picLocks noChangeAspect="1"/>
          </p:cNvPicPr>
          <p:nvPr/>
        </p:nvPicPr>
        <p:blipFill>
          <a:blip r:embed="rId2"/>
          <a:stretch>
            <a:fillRect/>
          </a:stretch>
        </p:blipFill>
        <p:spPr>
          <a:xfrm>
            <a:off x="4114800" y="2459736"/>
            <a:ext cx="292608" cy="292608"/>
          </a:xfrm>
          <a:prstGeom prst="rect">
            <a:avLst/>
          </a:prstGeom>
        </p:spPr>
      </p:pic>
      <p:sp>
        <p:nvSpPr>
          <p:cNvPr id="11" name="Text 7"/>
          <p:cNvSpPr txBox="1"/>
          <p:nvPr/>
        </p:nvSpPr>
        <p:spPr>
          <a:xfrm>
            <a:off x="4480560" y="244144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Use</a:t>
            </a:r>
            <a:endParaRPr lang="en-US" sz="1500" dirty="0"/>
          </a:p>
        </p:txBody>
      </p:sp>
      <p:sp>
        <p:nvSpPr>
          <p:cNvPr id="12" name="Text 8"/>
          <p:cNvSpPr txBox="1"/>
          <p:nvPr/>
        </p:nvSpPr>
        <p:spPr>
          <a:xfrm>
            <a:off x="4114800" y="278892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Relevant memories are added to the next prompt</a:t>
            </a:r>
            <a:endParaRPr lang="en-US" sz="1000" dirty="0"/>
          </a:p>
        </p:txBody>
      </p:sp>
      <p:sp>
        <p:nvSpPr>
          <p:cNvPr id="13" name="Loop Track"/>
          <p:cNvSpPr/>
          <p:nvPr/>
        </p:nvSpPr>
        <p:spPr>
          <a:xfrm>
            <a:off x="2286000" y="3429000"/>
            <a:ext cx="1691640" cy="960120"/>
          </a:xfrm>
          <a:prstGeom prst="roundRect">
            <a:avLst>
              <a:gd name="adj" fmla="val 9524"/>
            </a:avLst>
          </a:prstGeom>
          <a:solidFill>
            <a:srgbClr val="EEF4FC"/>
          </a:solidFill>
          <a:ln w="12700">
            <a:solidFill>
              <a:srgbClr val="EEF4FC"/>
            </a:solidFill>
            <a:prstDash val="solid"/>
          </a:ln>
        </p:spPr>
      </p:sp>
      <p:pic>
        <p:nvPicPr>
          <p:cNvPr id="14" name="Loop icon 3" descr="preencoded.png">    </p:cNvPr>
          <p:cNvPicPr>
            <a:picLocks noChangeAspect="1"/>
          </p:cNvPicPr>
          <p:nvPr/>
        </p:nvPicPr>
        <p:blipFill>
          <a:blip r:embed="rId3"/>
          <a:stretch>
            <a:fillRect/>
          </a:stretch>
        </p:blipFill>
        <p:spPr>
          <a:xfrm>
            <a:off x="2423160" y="3557016"/>
            <a:ext cx="292608" cy="292608"/>
          </a:xfrm>
          <a:prstGeom prst="rect">
            <a:avLst/>
          </a:prstGeom>
        </p:spPr>
      </p:pic>
      <p:sp>
        <p:nvSpPr>
          <p:cNvPr id="15" name="Text 10"/>
          <p:cNvSpPr txBox="1"/>
          <p:nvPr/>
        </p:nvSpPr>
        <p:spPr>
          <a:xfrm>
            <a:off x="2788920" y="353872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Track</a:t>
            </a:r>
            <a:endParaRPr lang="en-US" sz="1500" dirty="0"/>
          </a:p>
        </p:txBody>
      </p:sp>
      <p:sp>
        <p:nvSpPr>
          <p:cNvPr id="16" name="Text 11"/>
          <p:cNvSpPr txBox="1"/>
          <p:nvPr/>
        </p:nvSpPr>
        <p:spPr>
          <a:xfrm>
            <a:off x="2423160" y="388620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Counts each time a memory is retrieved, used, helpful or corrected</a:t>
            </a:r>
            <a:endParaRPr lang="en-US" sz="1000" dirty="0"/>
          </a:p>
        </p:txBody>
      </p:sp>
      <p:sp>
        <p:nvSpPr>
          <p:cNvPr id="17" name="Loop Review"/>
          <p:cNvSpPr/>
          <p:nvPr/>
        </p:nvSpPr>
        <p:spPr>
          <a:xfrm>
            <a:off x="594360" y="2331720"/>
            <a:ext cx="1691640" cy="960120"/>
          </a:xfrm>
          <a:prstGeom prst="roundRect">
            <a:avLst>
              <a:gd name="adj" fmla="val 9524"/>
            </a:avLst>
          </a:prstGeom>
          <a:solidFill>
            <a:srgbClr val="EEF4FC"/>
          </a:solidFill>
          <a:ln w="12700">
            <a:solidFill>
              <a:srgbClr val="EEF4FC"/>
            </a:solidFill>
            <a:prstDash val="solid"/>
          </a:ln>
        </p:spPr>
      </p:sp>
      <p:pic>
        <p:nvPicPr>
          <p:cNvPr id="18" name="Loop icon 4" descr="preencoded.png">    </p:cNvPr>
          <p:cNvPicPr>
            <a:picLocks noChangeAspect="1"/>
          </p:cNvPicPr>
          <p:nvPr/>
        </p:nvPicPr>
        <p:blipFill>
          <a:blip r:embed="rId4"/>
          <a:stretch>
            <a:fillRect/>
          </a:stretch>
        </p:blipFill>
        <p:spPr>
          <a:xfrm>
            <a:off x="731520" y="2459736"/>
            <a:ext cx="292608" cy="292608"/>
          </a:xfrm>
          <a:prstGeom prst="rect">
            <a:avLst/>
          </a:prstGeom>
        </p:spPr>
      </p:pic>
      <p:sp>
        <p:nvSpPr>
          <p:cNvPr id="19" name="Text 13"/>
          <p:cNvSpPr txBox="1"/>
          <p:nvPr/>
        </p:nvSpPr>
        <p:spPr>
          <a:xfrm>
            <a:off x="1097280" y="2441448"/>
            <a:ext cx="1097280" cy="329184"/>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Review</a:t>
            </a:r>
            <a:endParaRPr lang="en-US" sz="1500" dirty="0"/>
          </a:p>
        </p:txBody>
      </p:sp>
      <p:sp>
        <p:nvSpPr>
          <p:cNvPr id="20" name="Text 14"/>
          <p:cNvSpPr txBox="1"/>
          <p:nvPr/>
        </p:nvSpPr>
        <p:spPr>
          <a:xfrm>
            <a:off x="731520" y="2788920"/>
            <a:ext cx="1463040" cy="475488"/>
          </a:xfrm>
          <a:prstGeom prst="rect">
            <a:avLst/>
          </a:prstGeom>
          <a:noFill/>
          <a:ln/>
        </p:spPr>
        <p:txBody>
          <a:bodyPr wrap="square" lIns="0" tIns="0" rIns="0" bIns="0" rtlCol="0" anchor="t"/>
          <a:lstStyle/>
          <a:p>
            <a:pPr indent="0" marL="0">
              <a:buNone/>
            </a:pPr>
            <a:r>
              <a:rPr lang="en-US" sz="1000" dirty="0">
                <a:solidFill>
                  <a:srgbClr val="5A6478"/>
                </a:solidFill>
                <a:latin typeface="Calibri" pitchFamily="34" charset="0"/>
                <a:ea typeface="Calibri" pitchFamily="34" charset="-122"/>
                <a:cs typeface="Calibri" pitchFamily="34" charset="-120"/>
              </a:rPr>
              <a:t>Weak memories are switched off with a reason</a:t>
            </a:r>
            <a:endParaRPr lang="en-US" sz="1000" dirty="0"/>
          </a:p>
        </p:txBody>
      </p:sp>
      <p:sp>
        <p:nvSpPr>
          <p:cNvPr id="21" name="Text 15"/>
          <p:cNvSpPr txBox="1"/>
          <p:nvPr/>
        </p:nvSpPr>
        <p:spPr>
          <a:xfrm>
            <a:off x="5989320" y="1280160"/>
            <a:ext cx="2743200" cy="320040"/>
          </a:xfrm>
          <a:prstGeom prst="rect">
            <a:avLst/>
          </a:prstGeom>
          <a:noFill/>
          <a:ln/>
        </p:spPr>
        <p:txBody>
          <a:bodyPr wrap="square" lIns="0" tIns="0" rIns="0" bIns="0" rtlCol="0" anchor="ctr"/>
          <a:lstStyle/>
          <a:p>
            <a:pPr indent="0" marL="0">
              <a:buNone/>
            </a:pPr>
            <a:r>
              <a:rPr lang="en-US" sz="1500" b="1" dirty="0">
                <a:solidFill>
                  <a:srgbClr val="001878"/>
                </a:solidFill>
                <a:latin typeface="Arial" pitchFamily="34" charset="0"/>
                <a:ea typeface="Arial" pitchFamily="34" charset="-122"/>
                <a:cs typeface="Arial" pitchFamily="34" charset="-120"/>
              </a:rPr>
              <a:t>A memory is switched off when…</a:t>
            </a:r>
            <a:endParaRPr lang="en-US" sz="1500" dirty="0"/>
          </a:p>
        </p:txBody>
      </p:sp>
      <p:sp>
        <p:nvSpPr>
          <p:cNvPr id="22" name="Rule 1 circle"/>
          <p:cNvSpPr/>
          <p:nvPr/>
        </p:nvSpPr>
        <p:spPr>
          <a:xfrm>
            <a:off x="5989320" y="1737360"/>
            <a:ext cx="457200" cy="457200"/>
          </a:xfrm>
          <a:prstGeom prst="ellipse">
            <a:avLst/>
          </a:prstGeom>
          <a:solidFill>
            <a:srgbClr val="EEF4FC"/>
          </a:solidFill>
          <a:ln w="12700">
            <a:solidFill>
              <a:srgbClr val="EEF4FC"/>
            </a:solidFill>
            <a:prstDash val="solid"/>
          </a:ln>
        </p:spPr>
      </p:sp>
      <p:pic>
        <p:nvPicPr>
          <p:cNvPr id="23" name="Rule 1 icon" descr="preencoded.png">    </p:cNvPr>
          <p:cNvPicPr>
            <a:picLocks noChangeAspect="1"/>
          </p:cNvPicPr>
          <p:nvPr/>
        </p:nvPicPr>
        <p:blipFill>
          <a:blip r:embed="rId5"/>
          <a:stretch>
            <a:fillRect/>
          </a:stretch>
        </p:blipFill>
        <p:spPr>
          <a:xfrm>
            <a:off x="6103620" y="1851660"/>
            <a:ext cx="228600" cy="228600"/>
          </a:xfrm>
          <a:prstGeom prst="rect">
            <a:avLst/>
          </a:prstGeom>
        </p:spPr>
      </p:pic>
      <p:sp>
        <p:nvSpPr>
          <p:cNvPr id="24" name="Text 17"/>
          <p:cNvSpPr txBox="1"/>
          <p:nvPr/>
        </p:nvSpPr>
        <p:spPr>
          <a:xfrm>
            <a:off x="6583680" y="171907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was corrected 3+ times, more often than it helped</a:t>
            </a:r>
            <a:endParaRPr lang="en-US" sz="1300" dirty="0"/>
          </a:p>
        </p:txBody>
      </p:sp>
      <p:sp>
        <p:nvSpPr>
          <p:cNvPr id="25" name="Rule 2 circle"/>
          <p:cNvSpPr/>
          <p:nvPr/>
        </p:nvSpPr>
        <p:spPr>
          <a:xfrm>
            <a:off x="5989320" y="2514600"/>
            <a:ext cx="457200" cy="457200"/>
          </a:xfrm>
          <a:prstGeom prst="ellipse">
            <a:avLst/>
          </a:prstGeom>
          <a:solidFill>
            <a:srgbClr val="EEF4FC"/>
          </a:solidFill>
          <a:ln w="12700">
            <a:solidFill>
              <a:srgbClr val="EEF4FC"/>
            </a:solidFill>
            <a:prstDash val="solid"/>
          </a:ln>
        </p:spPr>
      </p:sp>
      <p:pic>
        <p:nvPicPr>
          <p:cNvPr id="26" name="Rule 2 icon" descr="preencoded.png">    </p:cNvPr>
          <p:cNvPicPr>
            <a:picLocks noChangeAspect="1"/>
          </p:cNvPicPr>
          <p:nvPr/>
        </p:nvPicPr>
        <p:blipFill>
          <a:blip r:embed="rId6"/>
          <a:stretch>
            <a:fillRect/>
          </a:stretch>
        </p:blipFill>
        <p:spPr>
          <a:xfrm>
            <a:off x="6103620" y="2628900"/>
            <a:ext cx="228600" cy="228600"/>
          </a:xfrm>
          <a:prstGeom prst="rect">
            <a:avLst/>
          </a:prstGeom>
        </p:spPr>
      </p:pic>
      <p:sp>
        <p:nvSpPr>
          <p:cNvPr id="27" name="Text 19"/>
          <p:cNvSpPr txBox="1"/>
          <p:nvPr/>
        </p:nvSpPr>
        <p:spPr>
          <a:xfrm>
            <a:off x="6583680" y="249631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was retrieved 10+ times but never used</a:t>
            </a:r>
            <a:endParaRPr lang="en-US" sz="1300" dirty="0"/>
          </a:p>
        </p:txBody>
      </p:sp>
      <p:sp>
        <p:nvSpPr>
          <p:cNvPr id="28" name="Rule 3 circle"/>
          <p:cNvSpPr/>
          <p:nvPr/>
        </p:nvSpPr>
        <p:spPr>
          <a:xfrm>
            <a:off x="5989320" y="3291840"/>
            <a:ext cx="457200" cy="457200"/>
          </a:xfrm>
          <a:prstGeom prst="ellipse">
            <a:avLst/>
          </a:prstGeom>
          <a:solidFill>
            <a:srgbClr val="EEF4FC"/>
          </a:solidFill>
          <a:ln w="12700">
            <a:solidFill>
              <a:srgbClr val="EEF4FC"/>
            </a:solidFill>
            <a:prstDash val="solid"/>
          </a:ln>
        </p:spPr>
      </p:sp>
      <p:pic>
        <p:nvPicPr>
          <p:cNvPr id="29" name="Rule 3 icon" descr="preencoded.png">    </p:cNvPr>
          <p:cNvPicPr>
            <a:picLocks noChangeAspect="1"/>
          </p:cNvPicPr>
          <p:nvPr/>
        </p:nvPicPr>
        <p:blipFill>
          <a:blip r:embed="rId7"/>
          <a:stretch>
            <a:fillRect/>
          </a:stretch>
        </p:blipFill>
        <p:spPr>
          <a:xfrm>
            <a:off x="6103620" y="3406140"/>
            <a:ext cx="228600" cy="228600"/>
          </a:xfrm>
          <a:prstGeom prst="rect">
            <a:avLst/>
          </a:prstGeom>
        </p:spPr>
      </p:pic>
      <p:sp>
        <p:nvSpPr>
          <p:cNvPr id="30" name="Text 21"/>
          <p:cNvSpPr txBox="1"/>
          <p:nvPr/>
        </p:nvSpPr>
        <p:spPr>
          <a:xfrm>
            <a:off x="6583680" y="3273552"/>
            <a:ext cx="2103120" cy="548640"/>
          </a:xfrm>
          <a:prstGeom prst="rect">
            <a:avLst/>
          </a:prstGeom>
          <a:noFill/>
          <a:ln/>
        </p:spPr>
        <p:txBody>
          <a:bodyPr wrap="square" lIns="0" tIns="0" rIns="0" bIns="0" rtlCol="0" anchor="ctr"/>
          <a:lstStyle/>
          <a:p>
            <a:pPr indent="0" marL="0">
              <a:buNone/>
            </a:pPr>
            <a:r>
              <a:rPr lang="en-US" sz="1300" dirty="0">
                <a:solidFill>
                  <a:srgbClr val="1B2333"/>
                </a:solidFill>
                <a:latin typeface="Calibri" pitchFamily="34" charset="0"/>
                <a:ea typeface="Calibri" pitchFamily="34" charset="-122"/>
                <a:cs typeface="Calibri" pitchFamily="34" charset="-120"/>
              </a:rPr>
              <a:t>It hasn't been used for 90 days</a:t>
            </a:r>
            <a:endParaRPr lang="en-US" sz="1300" dirty="0"/>
          </a:p>
        </p:txBody>
      </p:sp>
      <p:sp>
        <p:nvSpPr>
          <p:cNvPr id="31" name="Text 22"/>
          <p:cNvSpPr txBox="1"/>
          <p:nvPr/>
        </p:nvSpPr>
        <p:spPr>
          <a:xfrm>
            <a:off x="5989320" y="4114800"/>
            <a:ext cx="2697480" cy="457200"/>
          </a:xfrm>
          <a:prstGeom prst="rect">
            <a:avLst/>
          </a:prstGeom>
          <a:noFill/>
          <a:ln/>
        </p:spPr>
        <p:txBody>
          <a:bodyPr wrap="square" lIns="0" tIns="0" rIns="0" bIns="0" rtlCol="0" anchor="ctr"/>
          <a:lstStyle/>
          <a:p>
            <a:pPr indent="0" marL="0">
              <a:buNone/>
            </a:pPr>
            <a:r>
              <a:rPr lang="en-US" sz="1200" i="1" dirty="0">
                <a:solidFill>
                  <a:srgbClr val="0040B8"/>
                </a:solidFill>
                <a:latin typeface="Calibri" pitchFamily="34" charset="0"/>
                <a:ea typeface="Calibri" pitchFamily="34" charset="-122"/>
                <a:cs typeface="Calibri" pitchFamily="34" charset="-120"/>
              </a:rPr>
              <a:t>Users can turn any memory back on, which gives it a fresh start.</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PRACTICAL EXAMPLE</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A student's visits with AIDEX</a:t>
            </a:r>
            <a:endParaRPr lang="en-US" sz="2800" dirty="0"/>
          </a:p>
        </p:txBody>
      </p:sp>
      <p:sp>
        <p:nvSpPr>
          <p:cNvPr id="4" name="Text 2"/>
          <p:cNvSpPr txBox="1"/>
          <p:nvPr/>
        </p:nvSpPr>
        <p:spPr>
          <a:xfrm>
            <a:off x="457200" y="1234440"/>
            <a:ext cx="1828800" cy="256032"/>
          </a:xfrm>
          <a:prstGeom prst="rect">
            <a:avLst/>
          </a:prstGeom>
          <a:noFill/>
          <a:ln/>
        </p:spPr>
        <p:txBody>
          <a:bodyPr wrap="square" lIns="0" tIns="0" rIns="0" bIns="0" rtlCol="0" anchor="ctr"/>
          <a:lstStyle/>
          <a:p>
            <a:pPr indent="0" marL="0">
              <a:buNone/>
            </a:pPr>
            <a:r>
              <a:rPr lang="en-US" sz="1200" b="1" dirty="0">
                <a:solidFill>
                  <a:srgbClr val="0040B8"/>
                </a:solidFill>
                <a:latin typeface="Arial" pitchFamily="34" charset="0"/>
                <a:ea typeface="Arial" pitchFamily="34" charset="-122"/>
                <a:cs typeface="Arial" pitchFamily="34" charset="-120"/>
              </a:rPr>
              <a:t>Visit 1</a:t>
            </a:r>
            <a:endParaRPr lang="en-US" sz="1200" dirty="0"/>
          </a:p>
        </p:txBody>
      </p:sp>
      <p:sp>
        <p:nvSpPr>
          <p:cNvPr id="5" name="Student message"/>
          <p:cNvSpPr/>
          <p:nvPr/>
        </p:nvSpPr>
        <p:spPr>
          <a:xfrm>
            <a:off x="1463040" y="1508760"/>
            <a:ext cx="3840480" cy="457200"/>
          </a:xfrm>
          <a:prstGeom prst="roundRect">
            <a:avLst>
              <a:gd name="adj" fmla="val 20000"/>
            </a:avLst>
          </a:prstGeom>
          <a:solidFill>
            <a:srgbClr val="001878"/>
          </a:solidFill>
          <a:ln w="12700">
            <a:solidFill>
              <a:srgbClr val="001878"/>
            </a:solidFill>
            <a:prstDash val="solid"/>
          </a:ln>
        </p:spPr>
      </p:sp>
      <p:sp>
        <p:nvSpPr>
          <p:cNvPr id="6" name="Text 4"/>
          <p:cNvSpPr txBox="1"/>
          <p:nvPr/>
        </p:nvSpPr>
        <p:spPr>
          <a:xfrm>
            <a:off x="1600200" y="1508760"/>
            <a:ext cx="35661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I'm an IT student. Please keep answers short, with bullet points.</a:t>
            </a:r>
            <a:endParaRPr lang="en-US" sz="1200" dirty="0"/>
          </a:p>
        </p:txBody>
      </p:sp>
      <p:sp>
        <p:nvSpPr>
          <p:cNvPr id="7" name="Noted chip"/>
          <p:cNvSpPr/>
          <p:nvPr/>
        </p:nvSpPr>
        <p:spPr>
          <a:xfrm>
            <a:off x="457200" y="2057400"/>
            <a:ext cx="4023360" cy="292608"/>
          </a:xfrm>
          <a:prstGeom prst="roundRect">
            <a:avLst>
              <a:gd name="adj" fmla="val 50000"/>
            </a:avLst>
          </a:prstGeom>
          <a:solidFill>
            <a:srgbClr val="E3F8FC"/>
          </a:solidFill>
          <a:ln w="12700">
            <a:solidFill>
              <a:srgbClr val="00D4F0"/>
            </a:solidFill>
            <a:prstDash val="solid"/>
          </a:ln>
        </p:spPr>
      </p:sp>
      <p:sp>
        <p:nvSpPr>
          <p:cNvPr id="8" name="Text 6"/>
          <p:cNvSpPr txBox="1"/>
          <p:nvPr/>
        </p:nvSpPr>
        <p:spPr>
          <a:xfrm>
            <a:off x="548640" y="2057400"/>
            <a:ext cx="3886200" cy="292608"/>
          </a:xfrm>
          <a:prstGeom prst="rect">
            <a:avLst/>
          </a:prstGeom>
          <a:noFill/>
          <a:ln/>
        </p:spPr>
        <p:txBody>
          <a:bodyPr wrap="square" lIns="0" tIns="0" rIns="0" bIns="0" rtlCol="0" anchor="ctr"/>
          <a:lstStyle/>
          <a:p>
            <a:pPr indent="0" marL="0">
              <a:buNone/>
            </a:pPr>
            <a:r>
              <a:rPr lang="en-US" sz="1100" b="1" dirty="0">
                <a:solidFill>
                  <a:srgbClr val="001878"/>
                </a:solidFill>
                <a:latin typeface="Calibri" pitchFamily="34" charset="0"/>
                <a:ea typeface="Calibri" pitchFamily="34" charset="-122"/>
                <a:cs typeface="Calibri" pitchFamily="34" charset="-120"/>
              </a:rPr>
              <a:t>✓ Noted for next time: prefers short answers in bullet points</a:t>
            </a:r>
            <a:endParaRPr lang="en-US" sz="1100" dirty="0"/>
          </a:p>
        </p:txBody>
      </p:sp>
      <p:sp>
        <p:nvSpPr>
          <p:cNvPr id="9" name="Text 7"/>
          <p:cNvSpPr txBox="1"/>
          <p:nvPr/>
        </p:nvSpPr>
        <p:spPr>
          <a:xfrm>
            <a:off x="457200" y="2514600"/>
            <a:ext cx="2743200" cy="256032"/>
          </a:xfrm>
          <a:prstGeom prst="rect">
            <a:avLst/>
          </a:prstGeom>
          <a:noFill/>
          <a:ln/>
        </p:spPr>
        <p:txBody>
          <a:bodyPr wrap="square" lIns="0" tIns="0" rIns="0" bIns="0" rtlCol="0" anchor="ctr"/>
          <a:lstStyle/>
          <a:p>
            <a:pPr indent="0" marL="0">
              <a:buNone/>
            </a:pPr>
            <a:r>
              <a:rPr lang="en-US" sz="1200" b="1" dirty="0">
                <a:solidFill>
                  <a:srgbClr val="0040B8"/>
                </a:solidFill>
                <a:latin typeface="Arial" pitchFamily="34" charset="0"/>
                <a:ea typeface="Arial" pitchFamily="34" charset="-122"/>
                <a:cs typeface="Arial" pitchFamily="34" charset="-120"/>
              </a:rPr>
              <a:t>Visit 2, the next day</a:t>
            </a:r>
            <a:endParaRPr lang="en-US" sz="1200" dirty="0"/>
          </a:p>
        </p:txBody>
      </p:sp>
      <p:sp>
        <p:nvSpPr>
          <p:cNvPr id="10" name="Student message"/>
          <p:cNvSpPr/>
          <p:nvPr/>
        </p:nvSpPr>
        <p:spPr>
          <a:xfrm>
            <a:off x="2377440" y="2788920"/>
            <a:ext cx="2926080" cy="384048"/>
          </a:xfrm>
          <a:prstGeom prst="roundRect">
            <a:avLst>
              <a:gd name="adj" fmla="val 23810"/>
            </a:avLst>
          </a:prstGeom>
          <a:solidFill>
            <a:srgbClr val="001878"/>
          </a:solidFill>
          <a:ln w="12700">
            <a:solidFill>
              <a:srgbClr val="001878"/>
            </a:solidFill>
            <a:prstDash val="solid"/>
          </a:ln>
        </p:spPr>
      </p:sp>
      <p:sp>
        <p:nvSpPr>
          <p:cNvPr id="11" name="Text 9"/>
          <p:cNvSpPr txBox="1"/>
          <p:nvPr/>
        </p:nvSpPr>
        <p:spPr>
          <a:xfrm>
            <a:off x="2514600" y="2788920"/>
            <a:ext cx="265176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How can I get involved with the lab?</a:t>
            </a:r>
            <a:endParaRPr lang="en-US" sz="1200" dirty="0"/>
          </a:p>
        </p:txBody>
      </p:sp>
      <p:sp>
        <p:nvSpPr>
          <p:cNvPr id="12" name="Assistant message"/>
          <p:cNvSpPr/>
          <p:nvPr/>
        </p:nvSpPr>
        <p:spPr>
          <a:xfrm>
            <a:off x="457200" y="3264408"/>
            <a:ext cx="3566160" cy="777240"/>
          </a:xfrm>
          <a:prstGeom prst="roundRect">
            <a:avLst>
              <a:gd name="adj" fmla="val 11765"/>
            </a:avLst>
          </a:prstGeom>
          <a:solidFill>
            <a:srgbClr val="EEF4FC"/>
          </a:solidFill>
          <a:ln w="12700">
            <a:solidFill>
              <a:srgbClr val="EEF4FC"/>
            </a:solidFill>
            <a:prstDash val="solid"/>
          </a:ln>
        </p:spPr>
      </p:sp>
      <p:sp>
        <p:nvSpPr>
          <p:cNvPr id="13" name="Text 11"/>
          <p:cNvSpPr txBox="1"/>
          <p:nvPr/>
        </p:nvSpPr>
        <p:spPr>
          <a:xfrm>
            <a:off x="594360" y="3264408"/>
            <a:ext cx="3291840" cy="777240"/>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  Student placements and internships</a:t>
            </a:r>
            <a:endParaRPr lang="en-US" sz="1200" dirty="0"/>
          </a:p>
          <a:p>
            <a:pPr indent="0" marL="0">
              <a:buNone/>
            </a:pPr>
            <a:r>
              <a:rPr lang="en-US" sz="1200" dirty="0">
                <a:solidFill>
                  <a:srgbClr val="1B2333"/>
                </a:solidFill>
                <a:latin typeface="Calibri" pitchFamily="34" charset="0"/>
                <a:ea typeface="Calibri" pitchFamily="34" charset="-122"/>
                <a:cs typeface="Calibri" pitchFamily="34" charset="-120"/>
              </a:rPr>
              <a:t>•  Research assistant roles</a:t>
            </a:r>
            <a:endParaRPr lang="en-US" sz="1200" dirty="0"/>
          </a:p>
          <a:p>
            <a:pPr indent="0" marL="0">
              <a:buNone/>
            </a:pPr>
            <a:r>
              <a:rPr lang="en-US" sz="1200" dirty="0">
                <a:solidFill>
                  <a:srgbClr val="1B2333"/>
                </a:solidFill>
                <a:latin typeface="Calibri" pitchFamily="34" charset="0"/>
                <a:ea typeface="Calibri" pitchFamily="34" charset="-122"/>
                <a:cs typeface="Calibri" pitchFamily="34" charset="-120"/>
              </a:rPr>
              <a:t>•  Industry collaboration</a:t>
            </a:r>
            <a:endParaRPr lang="en-US" sz="1200" dirty="0"/>
          </a:p>
        </p:txBody>
      </p:sp>
      <p:sp>
        <p:nvSpPr>
          <p:cNvPr id="14" name="Thumbs"/>
          <p:cNvSpPr/>
          <p:nvPr/>
        </p:nvSpPr>
        <p:spPr>
          <a:xfrm>
            <a:off x="4160520" y="3611880"/>
            <a:ext cx="1143000" cy="384048"/>
          </a:xfrm>
          <a:prstGeom prst="roundRect">
            <a:avLst>
              <a:gd name="adj" fmla="val 23810"/>
            </a:avLst>
          </a:prstGeom>
          <a:solidFill>
            <a:srgbClr val="FFFFFF"/>
          </a:solidFill>
          <a:ln w="12700">
            <a:solidFill>
              <a:srgbClr val="C9D6EA"/>
            </a:solidFill>
            <a:prstDash val="solid"/>
          </a:ln>
        </p:spPr>
      </p:sp>
      <p:pic>
        <p:nvPicPr>
          <p:cNvPr id="15" name="Thumbs icon" descr="preencoded.png">    </p:cNvPr>
          <p:cNvPicPr>
            <a:picLocks noChangeAspect="1"/>
          </p:cNvPicPr>
          <p:nvPr/>
        </p:nvPicPr>
        <p:blipFill>
          <a:blip r:embed="rId1"/>
          <a:stretch>
            <a:fillRect/>
          </a:stretch>
        </p:blipFill>
        <p:spPr>
          <a:xfrm>
            <a:off x="4251960" y="3685032"/>
            <a:ext cx="237744" cy="237744"/>
          </a:xfrm>
          <a:prstGeom prst="rect">
            <a:avLst/>
          </a:prstGeom>
        </p:spPr>
      </p:pic>
      <p:sp>
        <p:nvSpPr>
          <p:cNvPr id="16" name="Text 13"/>
          <p:cNvSpPr txBox="1"/>
          <p:nvPr/>
        </p:nvSpPr>
        <p:spPr>
          <a:xfrm>
            <a:off x="4544568" y="3611880"/>
            <a:ext cx="731520" cy="384048"/>
          </a:xfrm>
          <a:prstGeom prst="rect">
            <a:avLst/>
          </a:prstGeom>
          <a:noFill/>
          <a:ln/>
        </p:spPr>
        <p:txBody>
          <a:bodyPr wrap="square" lIns="0" tIns="0" rIns="0" bIns="0" rtlCol="0" anchor="ctr"/>
          <a:lstStyle/>
          <a:p>
            <a:pPr indent="0" marL="0">
              <a:buNone/>
            </a:pPr>
            <a:r>
              <a:rPr lang="en-US" sz="1100" b="1" dirty="0">
                <a:solidFill>
                  <a:srgbClr val="1E8E5A"/>
                </a:solidFill>
                <a:latin typeface="Calibri" pitchFamily="34" charset="0"/>
                <a:ea typeface="Calibri" pitchFamily="34" charset="-122"/>
                <a:cs typeface="Calibri" pitchFamily="34" charset="-120"/>
              </a:rPr>
              <a:t>Helpful</a:t>
            </a:r>
            <a:endParaRPr lang="en-US" sz="1100" dirty="0"/>
          </a:p>
        </p:txBody>
      </p:sp>
      <p:sp>
        <p:nvSpPr>
          <p:cNvPr id="17" name="Text 14"/>
          <p:cNvSpPr txBox="1"/>
          <p:nvPr/>
        </p:nvSpPr>
        <p:spPr>
          <a:xfrm>
            <a:off x="5669280" y="1234440"/>
            <a:ext cx="3017520" cy="256032"/>
          </a:xfrm>
          <a:prstGeom prst="rect">
            <a:avLst/>
          </a:prstGeom>
          <a:noFill/>
          <a:ln/>
        </p:spPr>
        <p:txBody>
          <a:bodyPr wrap="square" lIns="0" tIns="0" rIns="0" bIns="0" rtlCol="0" anchor="ctr"/>
          <a:lstStyle/>
          <a:p>
            <a:pPr indent="0" marL="0">
              <a:buNone/>
            </a:pPr>
            <a:r>
              <a:rPr lang="en-US" sz="1200" b="1" dirty="0">
                <a:solidFill>
                  <a:srgbClr val="5A6478"/>
                </a:solidFill>
                <a:latin typeface="Arial" pitchFamily="34" charset="0"/>
                <a:ea typeface="Arial" pitchFamily="34" charset="-122"/>
                <a:cs typeface="Arial" pitchFamily="34" charset="-120"/>
              </a:rPr>
              <a:t>Behind the scenes</a:t>
            </a:r>
            <a:endParaRPr lang="en-US" sz="1200" dirty="0"/>
          </a:p>
        </p:txBody>
      </p:sp>
      <p:sp>
        <p:nvSpPr>
          <p:cNvPr id="18" name="Behind circle"/>
          <p:cNvSpPr/>
          <p:nvPr/>
        </p:nvSpPr>
        <p:spPr>
          <a:xfrm>
            <a:off x="5669280" y="1554480"/>
            <a:ext cx="384048" cy="384048"/>
          </a:xfrm>
          <a:prstGeom prst="ellipse">
            <a:avLst/>
          </a:prstGeom>
          <a:solidFill>
            <a:srgbClr val="EEF4FC"/>
          </a:solidFill>
          <a:ln w="12700">
            <a:solidFill>
              <a:srgbClr val="EEF4FC"/>
            </a:solidFill>
            <a:prstDash val="solid"/>
          </a:ln>
        </p:spPr>
      </p:sp>
      <p:pic>
        <p:nvPicPr>
          <p:cNvPr id="19" name="Behind icon" descr="preencoded.png">    </p:cNvPr>
          <p:cNvPicPr>
            <a:picLocks noChangeAspect="1"/>
          </p:cNvPicPr>
          <p:nvPr/>
        </p:nvPicPr>
        <p:blipFill>
          <a:blip r:embed="rId2"/>
          <a:stretch>
            <a:fillRect/>
          </a:stretch>
        </p:blipFill>
        <p:spPr>
          <a:xfrm>
            <a:off x="5765292" y="1650492"/>
            <a:ext cx="192024" cy="192024"/>
          </a:xfrm>
          <a:prstGeom prst="rect">
            <a:avLst/>
          </a:prstGeom>
        </p:spPr>
      </p:pic>
      <p:sp>
        <p:nvSpPr>
          <p:cNvPr id="20" name="Text 16"/>
          <p:cNvSpPr txBox="1"/>
          <p:nvPr/>
        </p:nvSpPr>
        <p:spPr>
          <a:xfrm>
            <a:off x="6144768" y="151790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Saves "short, bullet points" as intent calibration</a:t>
            </a:r>
            <a:endParaRPr lang="en-US" sz="1100" dirty="0"/>
          </a:p>
        </p:txBody>
      </p:sp>
      <p:sp>
        <p:nvSpPr>
          <p:cNvPr id="21" name="Behind circle"/>
          <p:cNvSpPr/>
          <p:nvPr/>
        </p:nvSpPr>
        <p:spPr>
          <a:xfrm>
            <a:off x="5669280" y="2103120"/>
            <a:ext cx="384048" cy="384048"/>
          </a:xfrm>
          <a:prstGeom prst="ellipse">
            <a:avLst/>
          </a:prstGeom>
          <a:solidFill>
            <a:srgbClr val="EEF4FC"/>
          </a:solidFill>
          <a:ln w="12700">
            <a:solidFill>
              <a:srgbClr val="EEF4FC"/>
            </a:solidFill>
            <a:prstDash val="solid"/>
          </a:ln>
        </p:spPr>
      </p:sp>
      <p:pic>
        <p:nvPicPr>
          <p:cNvPr id="22" name="Behind icon" descr="preencoded.png">    </p:cNvPr>
          <p:cNvPicPr>
            <a:picLocks noChangeAspect="1"/>
          </p:cNvPicPr>
          <p:nvPr/>
        </p:nvPicPr>
        <p:blipFill>
          <a:blip r:embed="rId3"/>
          <a:stretch>
            <a:fillRect/>
          </a:stretch>
        </p:blipFill>
        <p:spPr>
          <a:xfrm>
            <a:off x="5765292" y="2199132"/>
            <a:ext cx="192024" cy="192024"/>
          </a:xfrm>
          <a:prstGeom prst="rect">
            <a:avLst/>
          </a:prstGeom>
        </p:spPr>
      </p:pic>
      <p:sp>
        <p:nvSpPr>
          <p:cNvPr id="23" name="Text 18"/>
          <p:cNvSpPr txBox="1"/>
          <p:nvPr/>
        </p:nvSpPr>
        <p:spPr>
          <a:xfrm>
            <a:off x="6144768" y="206654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Saves "IT student" as domain knowledge</a:t>
            </a:r>
            <a:endParaRPr lang="en-US" sz="1100" dirty="0"/>
          </a:p>
        </p:txBody>
      </p:sp>
      <p:sp>
        <p:nvSpPr>
          <p:cNvPr id="24" name="Behind circle"/>
          <p:cNvSpPr/>
          <p:nvPr/>
        </p:nvSpPr>
        <p:spPr>
          <a:xfrm>
            <a:off x="5669280" y="2743200"/>
            <a:ext cx="384048" cy="384048"/>
          </a:xfrm>
          <a:prstGeom prst="ellipse">
            <a:avLst/>
          </a:prstGeom>
          <a:solidFill>
            <a:srgbClr val="EEF4FC"/>
          </a:solidFill>
          <a:ln w="12700">
            <a:solidFill>
              <a:srgbClr val="EEF4FC"/>
            </a:solidFill>
            <a:prstDash val="solid"/>
          </a:ln>
        </p:spPr>
      </p:sp>
      <p:pic>
        <p:nvPicPr>
          <p:cNvPr id="25" name="Behind icon" descr="preencoded.png">    </p:cNvPr>
          <p:cNvPicPr>
            <a:picLocks noChangeAspect="1"/>
          </p:cNvPicPr>
          <p:nvPr/>
        </p:nvPicPr>
        <p:blipFill>
          <a:blip r:embed="rId4"/>
          <a:stretch>
            <a:fillRect/>
          </a:stretch>
        </p:blipFill>
        <p:spPr>
          <a:xfrm>
            <a:off x="5765292" y="2839212"/>
            <a:ext cx="192024" cy="192024"/>
          </a:xfrm>
          <a:prstGeom prst="rect">
            <a:avLst/>
          </a:prstGeom>
        </p:spPr>
      </p:pic>
      <p:sp>
        <p:nvSpPr>
          <p:cNvPr id="26" name="Text 20"/>
          <p:cNvSpPr txBox="1"/>
          <p:nvPr/>
        </p:nvSpPr>
        <p:spPr>
          <a:xfrm>
            <a:off x="6144768" y="270662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Next day: recalls both memories before answering</a:t>
            </a:r>
            <a:endParaRPr lang="en-US" sz="1100" dirty="0"/>
          </a:p>
        </p:txBody>
      </p:sp>
      <p:sp>
        <p:nvSpPr>
          <p:cNvPr id="27" name="Behind circle"/>
          <p:cNvSpPr/>
          <p:nvPr/>
        </p:nvSpPr>
        <p:spPr>
          <a:xfrm>
            <a:off x="5669280" y="3337560"/>
            <a:ext cx="384048" cy="384048"/>
          </a:xfrm>
          <a:prstGeom prst="ellipse">
            <a:avLst/>
          </a:prstGeom>
          <a:solidFill>
            <a:srgbClr val="EEF4FC"/>
          </a:solidFill>
          <a:ln w="12700">
            <a:solidFill>
              <a:srgbClr val="EEF4FC"/>
            </a:solidFill>
            <a:prstDash val="solid"/>
          </a:ln>
        </p:spPr>
      </p:sp>
      <p:pic>
        <p:nvPicPr>
          <p:cNvPr id="28" name="Behind icon" descr="preencoded.png">    </p:cNvPr>
          <p:cNvPicPr>
            <a:picLocks noChangeAspect="1"/>
          </p:cNvPicPr>
          <p:nvPr/>
        </p:nvPicPr>
        <p:blipFill>
          <a:blip r:embed="rId5"/>
          <a:stretch>
            <a:fillRect/>
          </a:stretch>
        </p:blipFill>
        <p:spPr>
          <a:xfrm>
            <a:off x="5765292" y="3433572"/>
            <a:ext cx="192024" cy="192024"/>
          </a:xfrm>
          <a:prstGeom prst="rect">
            <a:avLst/>
          </a:prstGeom>
        </p:spPr>
      </p:pic>
      <p:sp>
        <p:nvSpPr>
          <p:cNvPr id="29" name="Text 22"/>
          <p:cNvSpPr txBox="1"/>
          <p:nvPr/>
        </p:nvSpPr>
        <p:spPr>
          <a:xfrm>
            <a:off x="6144768" y="3300984"/>
            <a:ext cx="2560320" cy="45720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Records which memory shaped the reply, and the thumbs up as helpful</a:t>
            </a:r>
            <a:endParaRPr lang="en-US" sz="1100" dirty="0"/>
          </a:p>
        </p:txBody>
      </p:sp>
      <p:sp>
        <p:nvSpPr>
          <p:cNvPr id="30" name="Walkthrough band"/>
          <p:cNvSpPr/>
          <p:nvPr/>
        </p:nvSpPr>
        <p:spPr>
          <a:xfrm>
            <a:off x="457200" y="4206240"/>
            <a:ext cx="8229600" cy="438912"/>
          </a:xfrm>
          <a:prstGeom prst="roundRect">
            <a:avLst>
              <a:gd name="adj" fmla="val 20833"/>
            </a:avLst>
          </a:prstGeom>
          <a:solidFill>
            <a:srgbClr val="001878"/>
          </a:solidFill>
          <a:ln w="12700">
            <a:solidFill>
              <a:srgbClr val="001878"/>
            </a:solidFill>
            <a:prstDash val="solid"/>
          </a:ln>
        </p:spPr>
      </p:sp>
      <p:sp>
        <p:nvSpPr>
          <p:cNvPr id="31" name="Text 24"/>
          <p:cNvSpPr txBox="1"/>
          <p:nvPr/>
        </p:nvSpPr>
        <p:spPr>
          <a:xfrm>
            <a:off x="640080" y="4206240"/>
            <a:ext cx="7863840" cy="43891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Say it once. The assistant remembers, uses it, and counts whether it helped.</a:t>
            </a:r>
            <a:endParaRPr lang="en-US" sz="1400" dirty="0"/>
          </a:p>
        </p:txBody>
      </p:sp>
      <p:sp>
        <p:nvSpPr>
          <p:cNvPr id="32" name="Text 25"/>
          <p:cNvSpPr txBox="1"/>
          <p:nvPr/>
        </p:nvSpPr>
        <p:spPr>
          <a:xfrm>
            <a:off x="457200" y="4727448"/>
            <a:ext cx="5486400" cy="228600"/>
          </a:xfrm>
          <a:prstGeom prst="rect">
            <a:avLst/>
          </a:prstGeom>
          <a:noFill/>
          <a:ln/>
        </p:spPr>
        <p:txBody>
          <a:bodyPr wrap="square" lIns="0" tIns="0" rIns="0" bIns="0" rtlCol="0" anchor="ctr"/>
          <a:lstStyle/>
          <a:p>
            <a:pPr indent="0" marL="0">
              <a:buNone/>
            </a:pPr>
            <a:r>
              <a:rPr lang="en-US" sz="1000" i="1" dirty="0">
                <a:solidFill>
                  <a:srgbClr val="5A6478"/>
                </a:solidFill>
                <a:latin typeface="Calibri" pitchFamily="34" charset="0"/>
                <a:ea typeface="Calibri" pitchFamily="34" charset="-122"/>
                <a:cs typeface="Calibri" pitchFamily="34" charset="-120"/>
              </a:rPr>
              <a:t>Illustration of the flow, based on how the prototype works.</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WHAT HAS BEEN BUILT</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Screens from the working prototype</a:t>
            </a:r>
            <a:endParaRPr lang="en-US" sz="2800" dirty="0"/>
          </a:p>
        </p:txBody>
      </p:sp>
      <p:sp>
        <p:nvSpPr>
          <p:cNvPr id="4" name="home-light.png frame"/>
          <p:cNvSpPr/>
          <p:nvPr/>
        </p:nvSpPr>
        <p:spPr>
          <a:xfrm>
            <a:off x="420624" y="1289304"/>
            <a:ext cx="4005072" cy="2407730"/>
          </a:xfrm>
          <a:prstGeom prst="roundRect">
            <a:avLst>
              <a:gd name="adj" fmla="val 2279"/>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5" name="home-light.png" descr="/tmp/claude-0/-home-claude/398bf9dd-6b67-538a-8ba5-158c7090f9f1/scratchpad/shots/home-light.png">    </p:cNvPr>
          <p:cNvPicPr>
            <a:picLocks noChangeAspect="1"/>
          </p:cNvPicPr>
          <p:nvPr/>
        </p:nvPicPr>
        <p:blipFill>
          <a:blip r:embed="rId1"/>
          <a:stretch>
            <a:fillRect/>
          </a:stretch>
        </p:blipFill>
        <p:spPr>
          <a:xfrm>
            <a:off x="457200" y="1325880"/>
            <a:ext cx="3931920" cy="2334578"/>
          </a:xfrm>
          <a:prstGeom prst="rect">
            <a:avLst/>
          </a:prstGeom>
        </p:spPr>
      </p:pic>
      <p:sp>
        <p:nvSpPr>
          <p:cNvPr id="6" name="Text 3"/>
          <p:cNvSpPr txBox="1"/>
          <p:nvPr/>
        </p:nvSpPr>
        <p:spPr>
          <a:xfrm>
            <a:off x="457200" y="3703320"/>
            <a:ext cx="393192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Chat with starter questions, light and dark mode, works on phones</a:t>
            </a:r>
            <a:endParaRPr lang="en-US" sz="1100" dirty="0"/>
          </a:p>
        </p:txBody>
      </p:sp>
      <p:sp>
        <p:nvSpPr>
          <p:cNvPr id="7" name="memory-panel.png frame"/>
          <p:cNvSpPr/>
          <p:nvPr/>
        </p:nvSpPr>
        <p:spPr>
          <a:xfrm>
            <a:off x="4535424" y="1289304"/>
            <a:ext cx="1856232" cy="2324190"/>
          </a:xfrm>
          <a:prstGeom prst="roundRect">
            <a:avLst>
              <a:gd name="adj" fmla="val 2956"/>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8" name="memory-panel.png" descr="/tmp/claude-0/-home-claude/398bf9dd-6b67-538a-8ba5-158c7090f9f1/scratchpad/shots/memory-panel.png">    </p:cNvPr>
          <p:cNvPicPr>
            <a:picLocks noChangeAspect="1"/>
          </p:cNvPicPr>
          <p:nvPr/>
        </p:nvPicPr>
        <p:blipFill>
          <a:blip r:embed="rId2"/>
          <a:stretch>
            <a:fillRect/>
          </a:stretch>
        </p:blipFill>
        <p:spPr>
          <a:xfrm>
            <a:off x="4572000" y="1325880"/>
            <a:ext cx="1783080" cy="2251038"/>
          </a:xfrm>
          <a:prstGeom prst="rect">
            <a:avLst/>
          </a:prstGeom>
        </p:spPr>
      </p:pic>
      <p:sp>
        <p:nvSpPr>
          <p:cNvPr id="9" name="Text 5"/>
          <p:cNvSpPr txBox="1"/>
          <p:nvPr/>
        </p:nvSpPr>
        <p:spPr>
          <a:xfrm>
            <a:off x="4572000" y="3703320"/>
            <a:ext cx="178308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Memory the user can see, edit, pause or delete</a:t>
            </a:r>
            <a:endParaRPr lang="en-US" sz="1100" dirty="0"/>
          </a:p>
        </p:txBody>
      </p:sp>
      <p:sp>
        <p:nvSpPr>
          <p:cNvPr id="10" name="consent.png frame"/>
          <p:cNvSpPr/>
          <p:nvPr/>
        </p:nvSpPr>
        <p:spPr>
          <a:xfrm>
            <a:off x="6501384" y="1289304"/>
            <a:ext cx="2221992" cy="2372621"/>
          </a:xfrm>
          <a:prstGeom prst="roundRect">
            <a:avLst>
              <a:gd name="adj" fmla="val 2469"/>
            </a:avLst>
          </a:prstGeom>
          <a:solidFill>
            <a:srgbClr val="FFFFFF"/>
          </a:solidFill>
          <a:ln w="12700">
            <a:solidFill>
              <a:srgbClr val="C9D6EA"/>
            </a:solidFill>
            <a:prstDash val="solid"/>
          </a:ln>
          <a:effectLst>
            <a:outerShdw sx="100000" sy="100000" kx="0" ky="0" algn="bl" rotWithShape="0" blurRad="101600" dist="38100" dir="5400000">
              <a:srgbClr val="001878">
                <a:alpha val="18000"/>
              </a:srgbClr>
            </a:outerShdw>
          </a:effectLst>
        </p:spPr>
      </p:sp>
      <p:pic>
        <p:nvPicPr>
          <p:cNvPr id="11" name="consent.png" descr="/tmp/claude-0/-home-claude/398bf9dd-6b67-538a-8ba5-158c7090f9f1/scratchpad/shots/consent.png">    </p:cNvPr>
          <p:cNvPicPr>
            <a:picLocks noChangeAspect="1"/>
          </p:cNvPicPr>
          <p:nvPr/>
        </p:nvPicPr>
        <p:blipFill>
          <a:blip r:embed="rId3"/>
          <a:stretch>
            <a:fillRect/>
          </a:stretch>
        </p:blipFill>
        <p:spPr>
          <a:xfrm>
            <a:off x="6537960" y="1325880"/>
            <a:ext cx="2148840" cy="2299469"/>
          </a:xfrm>
          <a:prstGeom prst="rect">
            <a:avLst/>
          </a:prstGeom>
        </p:spPr>
      </p:pic>
      <p:sp>
        <p:nvSpPr>
          <p:cNvPr id="12" name="Text 7"/>
          <p:cNvSpPr txBox="1"/>
          <p:nvPr/>
        </p:nvSpPr>
        <p:spPr>
          <a:xfrm>
            <a:off x="6537960" y="3703320"/>
            <a:ext cx="2148840" cy="54864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Research consent, with a clear prototype notice</a:t>
            </a:r>
            <a:endParaRPr lang="en-US" sz="1100" dirty="0"/>
          </a:p>
        </p:txBody>
      </p:sp>
      <p:sp>
        <p:nvSpPr>
          <p:cNvPr id="13" name="Chip 1 circle"/>
          <p:cNvSpPr/>
          <p:nvPr/>
        </p:nvSpPr>
        <p:spPr>
          <a:xfrm>
            <a:off x="457200" y="4251960"/>
            <a:ext cx="365760" cy="365760"/>
          </a:xfrm>
          <a:prstGeom prst="ellipse">
            <a:avLst/>
          </a:prstGeom>
          <a:solidFill>
            <a:srgbClr val="EEF4FC"/>
          </a:solidFill>
          <a:ln w="12700">
            <a:solidFill>
              <a:srgbClr val="EEF4FC"/>
            </a:solidFill>
            <a:prstDash val="solid"/>
          </a:ln>
        </p:spPr>
      </p:sp>
      <p:pic>
        <p:nvPicPr>
          <p:cNvPr id="14" name="Chip 1 icon" descr="preencoded.png">    </p:cNvPr>
          <p:cNvPicPr>
            <a:picLocks noChangeAspect="1"/>
          </p:cNvPicPr>
          <p:nvPr/>
        </p:nvPicPr>
        <p:blipFill>
          <a:blip r:embed="rId4"/>
          <a:stretch>
            <a:fillRect/>
          </a:stretch>
        </p:blipFill>
        <p:spPr>
          <a:xfrm>
            <a:off x="548640" y="4343400"/>
            <a:ext cx="182880" cy="182880"/>
          </a:xfrm>
          <a:prstGeom prst="rect">
            <a:avLst/>
          </a:prstGeom>
        </p:spPr>
      </p:pic>
      <p:sp>
        <p:nvSpPr>
          <p:cNvPr id="15" name="Text 9"/>
          <p:cNvSpPr txBox="1"/>
          <p:nvPr/>
        </p:nvSpPr>
        <p:spPr>
          <a:xfrm>
            <a:off x="91440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Opt-in memory</a:t>
            </a:r>
            <a:endParaRPr lang="en-US" sz="1200" dirty="0"/>
          </a:p>
        </p:txBody>
      </p:sp>
      <p:sp>
        <p:nvSpPr>
          <p:cNvPr id="16" name="Chip 2 circle"/>
          <p:cNvSpPr/>
          <p:nvPr/>
        </p:nvSpPr>
        <p:spPr>
          <a:xfrm>
            <a:off x="2560320" y="4251960"/>
            <a:ext cx="365760" cy="365760"/>
          </a:xfrm>
          <a:prstGeom prst="ellipse">
            <a:avLst/>
          </a:prstGeom>
          <a:solidFill>
            <a:srgbClr val="EEF4FC"/>
          </a:solidFill>
          <a:ln w="12700">
            <a:solidFill>
              <a:srgbClr val="EEF4FC"/>
            </a:solidFill>
            <a:prstDash val="solid"/>
          </a:ln>
        </p:spPr>
      </p:sp>
      <p:pic>
        <p:nvPicPr>
          <p:cNvPr id="17" name="Chip 2 icon" descr="preencoded.png">    </p:cNvPr>
          <p:cNvPicPr>
            <a:picLocks noChangeAspect="1"/>
          </p:cNvPicPr>
          <p:nvPr/>
        </p:nvPicPr>
        <p:blipFill>
          <a:blip r:embed="rId5"/>
          <a:stretch>
            <a:fillRect/>
          </a:stretch>
        </p:blipFill>
        <p:spPr>
          <a:xfrm>
            <a:off x="2651760" y="4343400"/>
            <a:ext cx="182880" cy="182880"/>
          </a:xfrm>
          <a:prstGeom prst="rect">
            <a:avLst/>
          </a:prstGeom>
        </p:spPr>
      </p:pic>
      <p:sp>
        <p:nvSpPr>
          <p:cNvPr id="18" name="Text 11"/>
          <p:cNvSpPr txBox="1"/>
          <p:nvPr/>
        </p:nvSpPr>
        <p:spPr>
          <a:xfrm>
            <a:off x="301752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Full control</a:t>
            </a:r>
            <a:endParaRPr lang="en-US" sz="1200" dirty="0"/>
          </a:p>
        </p:txBody>
      </p:sp>
      <p:sp>
        <p:nvSpPr>
          <p:cNvPr id="19" name="Chip 3 circle"/>
          <p:cNvSpPr/>
          <p:nvPr/>
        </p:nvSpPr>
        <p:spPr>
          <a:xfrm>
            <a:off x="4663440" y="4251960"/>
            <a:ext cx="365760" cy="365760"/>
          </a:xfrm>
          <a:prstGeom prst="ellipse">
            <a:avLst/>
          </a:prstGeom>
          <a:solidFill>
            <a:srgbClr val="EEF4FC"/>
          </a:solidFill>
          <a:ln w="12700">
            <a:solidFill>
              <a:srgbClr val="EEF4FC"/>
            </a:solidFill>
            <a:prstDash val="solid"/>
          </a:ln>
        </p:spPr>
      </p:sp>
      <p:pic>
        <p:nvPicPr>
          <p:cNvPr id="20" name="Chip 3 icon" descr="preencoded.png">    </p:cNvPr>
          <p:cNvPicPr>
            <a:picLocks noChangeAspect="1"/>
          </p:cNvPicPr>
          <p:nvPr/>
        </p:nvPicPr>
        <p:blipFill>
          <a:blip r:embed="rId6"/>
          <a:stretch>
            <a:fillRect/>
          </a:stretch>
        </p:blipFill>
        <p:spPr>
          <a:xfrm>
            <a:off x="4754880" y="4343400"/>
            <a:ext cx="182880" cy="182880"/>
          </a:xfrm>
          <a:prstGeom prst="rect">
            <a:avLst/>
          </a:prstGeom>
        </p:spPr>
      </p:pic>
      <p:sp>
        <p:nvSpPr>
          <p:cNvPr id="21" name="Text 13"/>
          <p:cNvSpPr txBox="1"/>
          <p:nvPr/>
        </p:nvSpPr>
        <p:spPr>
          <a:xfrm>
            <a:off x="512064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Informed consent</a:t>
            </a:r>
            <a:endParaRPr lang="en-US" sz="1200" dirty="0"/>
          </a:p>
        </p:txBody>
      </p:sp>
      <p:sp>
        <p:nvSpPr>
          <p:cNvPr id="22" name="Chip 4 circle"/>
          <p:cNvSpPr/>
          <p:nvPr/>
        </p:nvSpPr>
        <p:spPr>
          <a:xfrm>
            <a:off x="6766560" y="4251960"/>
            <a:ext cx="365760" cy="365760"/>
          </a:xfrm>
          <a:prstGeom prst="ellipse">
            <a:avLst/>
          </a:prstGeom>
          <a:solidFill>
            <a:srgbClr val="EEF4FC"/>
          </a:solidFill>
          <a:ln w="12700">
            <a:solidFill>
              <a:srgbClr val="EEF4FC"/>
            </a:solidFill>
            <a:prstDash val="solid"/>
          </a:ln>
        </p:spPr>
      </p:sp>
      <p:pic>
        <p:nvPicPr>
          <p:cNvPr id="23" name="Chip 4 icon" descr="preencoded.png">    </p:cNvPr>
          <p:cNvPicPr>
            <a:picLocks noChangeAspect="1"/>
          </p:cNvPicPr>
          <p:nvPr/>
        </p:nvPicPr>
        <p:blipFill>
          <a:blip r:embed="rId7"/>
          <a:stretch>
            <a:fillRect/>
          </a:stretch>
        </p:blipFill>
        <p:spPr>
          <a:xfrm>
            <a:off x="6858000" y="4343400"/>
            <a:ext cx="182880" cy="182880"/>
          </a:xfrm>
          <a:prstGeom prst="rect">
            <a:avLst/>
          </a:prstGeom>
        </p:spPr>
      </p:pic>
      <p:sp>
        <p:nvSpPr>
          <p:cNvPr id="24" name="Text 15"/>
          <p:cNvSpPr txBox="1"/>
          <p:nvPr/>
        </p:nvSpPr>
        <p:spPr>
          <a:xfrm>
            <a:off x="7223760" y="4251960"/>
            <a:ext cx="1600200" cy="365760"/>
          </a:xfrm>
          <a:prstGeom prst="rect">
            <a:avLst/>
          </a:prstGeom>
          <a:noFill/>
          <a:ln/>
        </p:spPr>
        <p:txBody>
          <a:bodyPr wrap="square" lIns="0" tIns="0" rIns="0" bIns="0" rtlCol="0" anchor="ctr"/>
          <a:lstStyle/>
          <a:p>
            <a:pPr indent="0" marL="0">
              <a:buNone/>
            </a:pPr>
            <a:r>
              <a:rPr lang="en-US" sz="1200" b="1" dirty="0">
                <a:solidFill>
                  <a:srgbClr val="001878"/>
                </a:solidFill>
                <a:latin typeface="Arial" pitchFamily="34" charset="0"/>
                <a:ea typeface="Arial" pitchFamily="34" charset="-122"/>
                <a:cs typeface="Arial" pitchFamily="34" charset="-120"/>
              </a:rPr>
              <a:t>Download or delete your data</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HOW IT WAS TESTED</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Testing and evaluation</a:t>
            </a:r>
            <a:endParaRPr lang="en-US" sz="2800" dirty="0"/>
          </a:p>
        </p:txBody>
      </p:sp>
      <p:graphicFrame>
        <p:nvGraphicFramePr>
          <p:cNvPr id="4" name="Chart 0" descr=""/>
          <p:cNvGraphicFramePr/>
          <p:nvPr/>
        </p:nvGraphicFramePr>
        <p:xfrm>
          <a:off x="457200" y="128016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5" name="Eval 1 circle"/>
          <p:cNvSpPr/>
          <p:nvPr/>
        </p:nvSpPr>
        <p:spPr>
          <a:xfrm>
            <a:off x="5303520" y="1325880"/>
            <a:ext cx="502920" cy="502920"/>
          </a:xfrm>
          <a:prstGeom prst="ellipse">
            <a:avLst/>
          </a:prstGeom>
          <a:solidFill>
            <a:srgbClr val="EEF4FC"/>
          </a:solidFill>
          <a:ln w="12700">
            <a:solidFill>
              <a:srgbClr val="EEF4FC"/>
            </a:solidFill>
            <a:prstDash val="solid"/>
          </a:ln>
        </p:spPr>
      </p:sp>
      <p:pic>
        <p:nvPicPr>
          <p:cNvPr id="6" name="Eval 1 icon" descr="preencoded.png">    </p:cNvPr>
          <p:cNvPicPr>
            <a:picLocks noChangeAspect="1"/>
          </p:cNvPicPr>
          <p:nvPr/>
        </p:nvPicPr>
        <p:blipFill>
          <a:blip r:embed="rId2"/>
          <a:stretch>
            <a:fillRect/>
          </a:stretch>
        </p:blipFill>
        <p:spPr>
          <a:xfrm>
            <a:off x="5429250" y="1451610"/>
            <a:ext cx="251460" cy="251460"/>
          </a:xfrm>
          <a:prstGeom prst="rect">
            <a:avLst/>
          </a:prstGeom>
        </p:spPr>
      </p:pic>
      <p:sp>
        <p:nvSpPr>
          <p:cNvPr id="7" name="Text 3"/>
          <p:cNvSpPr txBox="1"/>
          <p:nvPr/>
        </p:nvSpPr>
        <p:spPr>
          <a:xfrm>
            <a:off x="5943600" y="130759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Three user types</a:t>
            </a:r>
            <a:endParaRPr lang="en-US" sz="1400" dirty="0"/>
          </a:p>
        </p:txBody>
      </p:sp>
      <p:sp>
        <p:nvSpPr>
          <p:cNvPr id="8" name="Text 4"/>
          <p:cNvSpPr txBox="1"/>
          <p:nvPr/>
        </p:nvSpPr>
        <p:spPr>
          <a:xfrm>
            <a:off x="5943600" y="161848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Anonymous visitors, students with memory, and consenting research participants</a:t>
            </a:r>
            <a:endParaRPr lang="en-US" sz="1200" dirty="0"/>
          </a:p>
        </p:txBody>
      </p:sp>
      <p:sp>
        <p:nvSpPr>
          <p:cNvPr id="9" name="Eval 2 circle"/>
          <p:cNvSpPr/>
          <p:nvPr/>
        </p:nvSpPr>
        <p:spPr>
          <a:xfrm>
            <a:off x="5303520" y="2423160"/>
            <a:ext cx="502920" cy="502920"/>
          </a:xfrm>
          <a:prstGeom prst="ellipse">
            <a:avLst/>
          </a:prstGeom>
          <a:solidFill>
            <a:srgbClr val="EEF4FC"/>
          </a:solidFill>
          <a:ln w="12700">
            <a:solidFill>
              <a:srgbClr val="EEF4FC"/>
            </a:solidFill>
            <a:prstDash val="solid"/>
          </a:ln>
        </p:spPr>
      </p:sp>
      <p:pic>
        <p:nvPicPr>
          <p:cNvPr id="10" name="Eval 2 icon" descr="preencoded.png">    </p:cNvPr>
          <p:cNvPicPr>
            <a:picLocks noChangeAspect="1"/>
          </p:cNvPicPr>
          <p:nvPr/>
        </p:nvPicPr>
        <p:blipFill>
          <a:blip r:embed="rId3"/>
          <a:stretch>
            <a:fillRect/>
          </a:stretch>
        </p:blipFill>
        <p:spPr>
          <a:xfrm>
            <a:off x="5429250" y="2548890"/>
            <a:ext cx="251460" cy="251460"/>
          </a:xfrm>
          <a:prstGeom prst="rect">
            <a:avLst/>
          </a:prstGeom>
        </p:spPr>
      </p:pic>
      <p:sp>
        <p:nvSpPr>
          <p:cNvPr id="11" name="Text 6"/>
          <p:cNvSpPr txBox="1"/>
          <p:nvPr/>
        </p:nvSpPr>
        <p:spPr>
          <a:xfrm>
            <a:off x="5943600" y="240487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Automated tests</a:t>
            </a:r>
            <a:endParaRPr lang="en-US" sz="1400" dirty="0"/>
          </a:p>
        </p:txBody>
      </p:sp>
      <p:sp>
        <p:nvSpPr>
          <p:cNvPr id="12" name="Text 7"/>
          <p:cNvSpPr txBox="1"/>
          <p:nvPr/>
        </p:nvSpPr>
        <p:spPr>
          <a:xfrm>
            <a:off x="5943600" y="271576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Unit and API tests cover retrieval, memory, guardrails, privacy and the dashboard</a:t>
            </a:r>
            <a:endParaRPr lang="en-US" sz="1200" dirty="0"/>
          </a:p>
        </p:txBody>
      </p:sp>
      <p:sp>
        <p:nvSpPr>
          <p:cNvPr id="13" name="Eval 3 circle"/>
          <p:cNvSpPr/>
          <p:nvPr/>
        </p:nvSpPr>
        <p:spPr>
          <a:xfrm>
            <a:off x="5303520" y="3520440"/>
            <a:ext cx="502920" cy="502920"/>
          </a:xfrm>
          <a:prstGeom prst="ellipse">
            <a:avLst/>
          </a:prstGeom>
          <a:solidFill>
            <a:srgbClr val="EEF4FC"/>
          </a:solidFill>
          <a:ln w="12700">
            <a:solidFill>
              <a:srgbClr val="EEF4FC"/>
            </a:solidFill>
            <a:prstDash val="solid"/>
          </a:ln>
        </p:spPr>
      </p:sp>
      <p:pic>
        <p:nvPicPr>
          <p:cNvPr id="14" name="Eval 3 icon" descr="preencoded.png">    </p:cNvPr>
          <p:cNvPicPr>
            <a:picLocks noChangeAspect="1"/>
          </p:cNvPicPr>
          <p:nvPr/>
        </p:nvPicPr>
        <p:blipFill>
          <a:blip r:embed="rId4"/>
          <a:stretch>
            <a:fillRect/>
          </a:stretch>
        </p:blipFill>
        <p:spPr>
          <a:xfrm>
            <a:off x="5429250" y="3646170"/>
            <a:ext cx="251460" cy="251460"/>
          </a:xfrm>
          <a:prstGeom prst="rect">
            <a:avLst/>
          </a:prstGeom>
        </p:spPr>
      </p:pic>
      <p:sp>
        <p:nvSpPr>
          <p:cNvPr id="15" name="Text 9"/>
          <p:cNvSpPr txBox="1"/>
          <p:nvPr/>
        </p:nvSpPr>
        <p:spPr>
          <a:xfrm>
            <a:off x="5943600" y="3502152"/>
            <a:ext cx="2743200" cy="292608"/>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Synthetic users</a:t>
            </a:r>
            <a:endParaRPr lang="en-US" sz="1400" dirty="0"/>
          </a:p>
        </p:txBody>
      </p:sp>
      <p:sp>
        <p:nvSpPr>
          <p:cNvPr id="16" name="Text 10"/>
          <p:cNvSpPr txBox="1"/>
          <p:nvPr/>
        </p:nvSpPr>
        <p:spPr>
          <a:xfrm>
            <a:off x="5943600" y="3813048"/>
            <a:ext cx="2743200" cy="685800"/>
          </a:xfrm>
          <a:prstGeom prst="rect">
            <a:avLst/>
          </a:prstGeom>
          <a:noFill/>
          <a:ln/>
        </p:spPr>
        <p:txBody>
          <a:bodyPr wrap="square" lIns="0" tIns="0" rIns="0" bIns="0" rtlCol="0" anchor="t"/>
          <a:lstStyle/>
          <a:p>
            <a:pPr indent="0" marL="0">
              <a:buNone/>
            </a:pPr>
            <a:r>
              <a:rPr lang="en-US" sz="1200" dirty="0">
                <a:solidFill>
                  <a:srgbClr val="5A6478"/>
                </a:solidFill>
                <a:latin typeface="Calibri" pitchFamily="34" charset="0"/>
                <a:ea typeface="Calibri" pitchFamily="34" charset="-122"/>
                <a:cs typeface="Calibri" pitchFamily="34" charset="-120"/>
              </a:rPr>
              <a:t>A simulation runs the full learning loop over several days, so no real data is needed</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766560" cy="256032"/>
          </a:xfrm>
          <a:prstGeom prst="rect">
            <a:avLst/>
          </a:prstGeom>
          <a:noFill/>
          <a:ln/>
        </p:spPr>
        <p:txBody>
          <a:bodyPr wrap="square" lIns="0" tIns="0" rIns="0" bIns="0" rtlCol="0" anchor="ctr"/>
          <a:lstStyle/>
          <a:p>
            <a:pPr algn="l" indent="0" marL="0">
              <a:buNone/>
            </a:pPr>
            <a:r>
              <a:rPr lang="en-US" sz="1100" b="1" spc="200" kern="0" dirty="0">
                <a:solidFill>
                  <a:schemeClr val="accent2"/>
                </a:solidFill>
              </a:rPr>
              <a:t>NEXT STEPS</a:t>
            </a:r>
            <a:endParaRPr lang="en-US" sz="1100" dirty="0"/>
          </a:p>
        </p:txBody>
      </p:sp>
      <p:sp>
        <p:nvSpPr>
          <p:cNvPr id="3" name="Text 0"/>
          <p:cNvSpPr/>
          <p:nvPr>
            <p:ph idx="101" type="title" hasCustomPrompt="1"/>
          </p:nvPr>
        </p:nvSpPr>
        <p:spPr>
          <a:xfrm>
            <a:off x="457200" y="502920"/>
            <a:ext cx="6949440" cy="594360"/>
          </a:xfrm>
          <a:prstGeom prst="rect">
            <a:avLst/>
          </a:prstGeom>
          <a:noFill/>
          <a:ln/>
        </p:spPr>
        <p:txBody>
          <a:bodyPr wrap="square" lIns="0" tIns="0" rIns="0" bIns="0" rtlCol="0" anchor="ctr"/>
          <a:lstStyle/>
          <a:p>
            <a:pPr algn="l" indent="0" marL="0">
              <a:buNone/>
            </a:pPr>
            <a:r>
              <a:rPr lang="en-US" sz="2800" b="1" dirty="0">
                <a:solidFill>
                  <a:schemeClr val="tx2"/>
                </a:solidFill>
              </a:rPr>
              <a:t>Where this goes next</a:t>
            </a:r>
            <a:endParaRPr lang="en-US" sz="2800" dirty="0"/>
          </a:p>
        </p:txBody>
      </p:sp>
      <p:sp>
        <p:nvSpPr>
          <p:cNvPr id="4" name="Shape 2"/>
          <p:cNvSpPr/>
          <p:nvPr/>
        </p:nvSpPr>
        <p:spPr>
          <a:xfrm>
            <a:off x="731520" y="1737360"/>
            <a:ext cx="7680960" cy="914"/>
          </a:xfrm>
          <a:prstGeom prst="line">
            <a:avLst/>
          </a:prstGeom>
          <a:noFill/>
          <a:ln w="38100">
            <a:solidFill>
              <a:srgbClr val="C9D6EA"/>
            </a:solidFill>
            <a:prstDash val="solid"/>
          </a:ln>
        </p:spPr>
      </p:sp>
      <p:sp>
        <p:nvSpPr>
          <p:cNvPr id="5" name="Stage dot 1"/>
          <p:cNvSpPr/>
          <p:nvPr/>
        </p:nvSpPr>
        <p:spPr>
          <a:xfrm>
            <a:off x="594360" y="1508760"/>
            <a:ext cx="457200" cy="457200"/>
          </a:xfrm>
          <a:prstGeom prst="ellipse">
            <a:avLst/>
          </a:prstGeom>
          <a:solidFill>
            <a:srgbClr val="001878"/>
          </a:solidFill>
          <a:ln w="19050">
            <a:solidFill>
              <a:srgbClr val="001878"/>
            </a:solidFill>
            <a:prstDash val="solid"/>
          </a:ln>
        </p:spPr>
      </p:sp>
      <p:sp>
        <p:nvSpPr>
          <p:cNvPr id="6" name="Text 4"/>
          <p:cNvSpPr txBox="1"/>
          <p:nvPr/>
        </p:nvSpPr>
        <p:spPr>
          <a:xfrm>
            <a:off x="118872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Now</a:t>
            </a:r>
            <a:endParaRPr lang="en-US" sz="1600" dirty="0"/>
          </a:p>
        </p:txBody>
      </p:sp>
      <p:sp>
        <p:nvSpPr>
          <p:cNvPr id="7" name="Stage 1"/>
          <p:cNvSpPr/>
          <p:nvPr/>
        </p:nvSpPr>
        <p:spPr>
          <a:xfrm>
            <a:off x="457200" y="2194560"/>
            <a:ext cx="1920240" cy="2011680"/>
          </a:xfrm>
          <a:prstGeom prst="roundRect">
            <a:avLst>
              <a:gd name="adj" fmla="val 4762"/>
            </a:avLst>
          </a:prstGeom>
          <a:solidFill>
            <a:srgbClr val="001878"/>
          </a:solidFill>
          <a:ln w="12700">
            <a:solidFill>
              <a:srgbClr val="001878"/>
            </a:solidFill>
            <a:prstDash val="solid"/>
          </a:ln>
        </p:spPr>
      </p:sp>
      <p:sp>
        <p:nvSpPr>
          <p:cNvPr id="8" name="Text 6"/>
          <p:cNvSpPr txBox="1"/>
          <p:nvPr/>
        </p:nvSpPr>
        <p:spPr>
          <a:xfrm>
            <a:off x="64008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Working prototype</a:t>
            </a:r>
            <a:endParaRPr lang="en-US" sz="1400" dirty="0"/>
          </a:p>
        </p:txBody>
      </p:sp>
      <p:sp>
        <p:nvSpPr>
          <p:cNvPr id="9" name="Text 7"/>
          <p:cNvSpPr txBox="1"/>
          <p:nvPr/>
        </p:nvSpPr>
        <p:spPr>
          <a:xfrm>
            <a:off x="64008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Lab knowledge base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Two-layer memory</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Dashboard and tests</a:t>
            </a:r>
            <a:endParaRPr lang="en-US" sz="1200" dirty="0"/>
          </a:p>
        </p:txBody>
      </p:sp>
      <p:sp>
        <p:nvSpPr>
          <p:cNvPr id="10" name="Stage dot 2"/>
          <p:cNvSpPr/>
          <p:nvPr/>
        </p:nvSpPr>
        <p:spPr>
          <a:xfrm>
            <a:off x="2697480" y="1508760"/>
            <a:ext cx="457200" cy="457200"/>
          </a:xfrm>
          <a:prstGeom prst="ellipse">
            <a:avLst/>
          </a:prstGeom>
          <a:solidFill>
            <a:srgbClr val="0040B8"/>
          </a:solidFill>
          <a:ln w="19050">
            <a:solidFill>
              <a:srgbClr val="0040B8"/>
            </a:solidFill>
            <a:prstDash val="solid"/>
          </a:ln>
        </p:spPr>
      </p:sp>
      <p:sp>
        <p:nvSpPr>
          <p:cNvPr id="11" name="Text 9"/>
          <p:cNvSpPr txBox="1"/>
          <p:nvPr/>
        </p:nvSpPr>
        <p:spPr>
          <a:xfrm>
            <a:off x="329184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Next</a:t>
            </a:r>
            <a:endParaRPr lang="en-US" sz="1600" dirty="0"/>
          </a:p>
        </p:txBody>
      </p:sp>
      <p:sp>
        <p:nvSpPr>
          <p:cNvPr id="12" name="Stage 2"/>
          <p:cNvSpPr/>
          <p:nvPr/>
        </p:nvSpPr>
        <p:spPr>
          <a:xfrm>
            <a:off x="2560320" y="2194560"/>
            <a:ext cx="1920240" cy="2011680"/>
          </a:xfrm>
          <a:prstGeom prst="roundRect">
            <a:avLst>
              <a:gd name="adj" fmla="val 4762"/>
            </a:avLst>
          </a:prstGeom>
          <a:solidFill>
            <a:srgbClr val="0040B8"/>
          </a:solidFill>
          <a:ln w="12700">
            <a:solidFill>
              <a:srgbClr val="0040B8"/>
            </a:solidFill>
            <a:prstDash val="solid"/>
          </a:ln>
        </p:spPr>
      </p:sp>
      <p:sp>
        <p:nvSpPr>
          <p:cNvPr id="13" name="Text 11"/>
          <p:cNvSpPr txBox="1"/>
          <p:nvPr/>
        </p:nvSpPr>
        <p:spPr>
          <a:xfrm>
            <a:off x="274320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Better answers</a:t>
            </a:r>
            <a:endParaRPr lang="en-US" sz="1400" dirty="0"/>
          </a:p>
        </p:txBody>
      </p:sp>
      <p:sp>
        <p:nvSpPr>
          <p:cNvPr id="14" name="Text 12"/>
          <p:cNvSpPr txBox="1"/>
          <p:nvPr/>
        </p:nvSpPr>
        <p:spPr>
          <a:xfrm>
            <a:off x="274320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Larger local model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Paper abstracts and FAQ</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Welcome screen</a:t>
            </a:r>
            <a:endParaRPr lang="en-US" sz="1200" dirty="0"/>
          </a:p>
        </p:txBody>
      </p:sp>
      <p:sp>
        <p:nvSpPr>
          <p:cNvPr id="15" name="Stage dot 3"/>
          <p:cNvSpPr/>
          <p:nvPr/>
        </p:nvSpPr>
        <p:spPr>
          <a:xfrm>
            <a:off x="4800600" y="1508760"/>
            <a:ext cx="457200" cy="457200"/>
          </a:xfrm>
          <a:prstGeom prst="ellipse">
            <a:avLst/>
          </a:prstGeom>
          <a:solidFill>
            <a:srgbClr val="0078D8"/>
          </a:solidFill>
          <a:ln w="19050">
            <a:solidFill>
              <a:srgbClr val="0078D8"/>
            </a:solidFill>
            <a:prstDash val="solid"/>
          </a:ln>
        </p:spPr>
      </p:sp>
      <p:sp>
        <p:nvSpPr>
          <p:cNvPr id="16" name="Text 14"/>
          <p:cNvSpPr txBox="1"/>
          <p:nvPr/>
        </p:nvSpPr>
        <p:spPr>
          <a:xfrm>
            <a:off x="539496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Then</a:t>
            </a:r>
            <a:endParaRPr lang="en-US" sz="1600" dirty="0"/>
          </a:p>
        </p:txBody>
      </p:sp>
      <p:sp>
        <p:nvSpPr>
          <p:cNvPr id="17" name="Stage 3"/>
          <p:cNvSpPr/>
          <p:nvPr/>
        </p:nvSpPr>
        <p:spPr>
          <a:xfrm>
            <a:off x="4663440" y="2194560"/>
            <a:ext cx="1920240" cy="2011680"/>
          </a:xfrm>
          <a:prstGeom prst="roundRect">
            <a:avLst>
              <a:gd name="adj" fmla="val 4762"/>
            </a:avLst>
          </a:prstGeom>
          <a:solidFill>
            <a:srgbClr val="0078D8"/>
          </a:solidFill>
          <a:ln w="12700">
            <a:solidFill>
              <a:srgbClr val="0078D8"/>
            </a:solidFill>
            <a:prstDash val="solid"/>
          </a:ln>
        </p:spPr>
      </p:sp>
      <p:sp>
        <p:nvSpPr>
          <p:cNvPr id="18" name="Text 16"/>
          <p:cNvSpPr txBox="1"/>
          <p:nvPr/>
        </p:nvSpPr>
        <p:spPr>
          <a:xfrm>
            <a:off x="4846320" y="233172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Real study</a:t>
            </a:r>
            <a:endParaRPr lang="en-US" sz="1400" dirty="0"/>
          </a:p>
        </p:txBody>
      </p:sp>
      <p:sp>
        <p:nvSpPr>
          <p:cNvPr id="19" name="Text 17"/>
          <p:cNvSpPr txBox="1"/>
          <p:nvPr/>
        </p:nvSpPr>
        <p:spPr>
          <a:xfrm>
            <a:off x="484632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Ethics approval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Real participants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Compare with and without memory</a:t>
            </a:r>
            <a:endParaRPr lang="en-US" sz="1200" dirty="0"/>
          </a:p>
        </p:txBody>
      </p:sp>
      <p:sp>
        <p:nvSpPr>
          <p:cNvPr id="20" name="Stage dot 4"/>
          <p:cNvSpPr/>
          <p:nvPr/>
        </p:nvSpPr>
        <p:spPr>
          <a:xfrm>
            <a:off x="6903720" y="1508760"/>
            <a:ext cx="457200" cy="457200"/>
          </a:xfrm>
          <a:prstGeom prst="ellipse">
            <a:avLst/>
          </a:prstGeom>
          <a:solidFill>
            <a:srgbClr val="EEF4FC"/>
          </a:solidFill>
          <a:ln w="19050">
            <a:solidFill>
              <a:srgbClr val="0040B8"/>
            </a:solidFill>
            <a:prstDash val="solid"/>
          </a:ln>
        </p:spPr>
      </p:sp>
      <p:sp>
        <p:nvSpPr>
          <p:cNvPr id="21" name="Text 19"/>
          <p:cNvSpPr txBox="1"/>
          <p:nvPr/>
        </p:nvSpPr>
        <p:spPr>
          <a:xfrm>
            <a:off x="7498080" y="1508760"/>
            <a:ext cx="1188720" cy="457200"/>
          </a:xfrm>
          <a:prstGeom prst="rect">
            <a:avLst/>
          </a:prstGeom>
          <a:noFill/>
          <a:ln/>
        </p:spPr>
        <p:txBody>
          <a:bodyPr wrap="square" lIns="0" tIns="0" rIns="0" bIns="0" rtlCol="0" anchor="ctr"/>
          <a:lstStyle/>
          <a:p>
            <a:pPr indent="0" marL="0">
              <a:buNone/>
            </a:pPr>
            <a:r>
              <a:rPr lang="en-US" sz="1600" b="1" dirty="0">
                <a:solidFill>
                  <a:srgbClr val="0040B8"/>
                </a:solidFill>
                <a:latin typeface="Arial" pitchFamily="34" charset="0"/>
                <a:ea typeface="Arial" pitchFamily="34" charset="-122"/>
                <a:cs typeface="Arial" pitchFamily="34" charset="-120"/>
              </a:rPr>
              <a:t>Later</a:t>
            </a:r>
            <a:endParaRPr lang="en-US" sz="1600" dirty="0"/>
          </a:p>
        </p:txBody>
      </p:sp>
      <p:sp>
        <p:nvSpPr>
          <p:cNvPr id="22" name="Stage 4"/>
          <p:cNvSpPr/>
          <p:nvPr/>
        </p:nvSpPr>
        <p:spPr>
          <a:xfrm>
            <a:off x="6766560" y="2194560"/>
            <a:ext cx="1920240" cy="2011680"/>
          </a:xfrm>
          <a:prstGeom prst="roundRect">
            <a:avLst>
              <a:gd name="adj" fmla="val 4762"/>
            </a:avLst>
          </a:prstGeom>
          <a:solidFill>
            <a:srgbClr val="EEF4FC"/>
          </a:solidFill>
          <a:ln w="12700">
            <a:solidFill>
              <a:srgbClr val="EEF4FC"/>
            </a:solidFill>
            <a:prstDash val="solid"/>
          </a:ln>
        </p:spPr>
      </p:sp>
      <p:sp>
        <p:nvSpPr>
          <p:cNvPr id="23" name="Text 21"/>
          <p:cNvSpPr txBox="1"/>
          <p:nvPr/>
        </p:nvSpPr>
        <p:spPr>
          <a:xfrm>
            <a:off x="6949440" y="2331720"/>
            <a:ext cx="1600200" cy="365760"/>
          </a:xfrm>
          <a:prstGeom prst="rect">
            <a:avLst/>
          </a:prstGeom>
          <a:noFill/>
          <a:ln/>
        </p:spPr>
        <p:txBody>
          <a:bodyPr wrap="square" lIns="0" tIns="0" rIns="0" bIns="0" rtlCol="0" anchor="ctr"/>
          <a:lstStyle/>
          <a:p>
            <a:pPr indent="0" marL="0">
              <a:buNone/>
            </a:pPr>
            <a:r>
              <a:rPr lang="en-US" sz="1400" b="1" dirty="0">
                <a:solidFill>
                  <a:srgbClr val="001878"/>
                </a:solidFill>
                <a:latin typeface="Arial" pitchFamily="34" charset="0"/>
                <a:ea typeface="Arial" pitchFamily="34" charset="-122"/>
                <a:cs typeface="Arial" pitchFamily="34" charset="-120"/>
              </a:rPr>
              <a:t>On the lab website</a:t>
            </a:r>
            <a:endParaRPr lang="en-US" sz="1400" dirty="0"/>
          </a:p>
        </p:txBody>
      </p:sp>
      <p:sp>
        <p:nvSpPr>
          <p:cNvPr id="24" name="Text 22"/>
          <p:cNvSpPr txBox="1"/>
          <p:nvPr/>
        </p:nvSpPr>
        <p:spPr>
          <a:xfrm>
            <a:off x="6949440" y="2788920"/>
            <a:ext cx="1645920" cy="1691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333"/>
                </a:solidFill>
                <a:latin typeface="Calibri" pitchFamily="34" charset="0"/>
                <a:ea typeface="Calibri" pitchFamily="34" charset="-122"/>
                <a:cs typeface="Calibri" pitchFamily="34" charset="-120"/>
              </a:rPr>
              <a:t>Guided PhD and partner flows</a:t>
            </a:r>
            <a:endParaRPr lang="en-US" sz="1200" dirty="0"/>
          </a:p>
          <a:p>
            <a:pPr marL="342900" indent="-342900">
              <a:spcAft>
                <a:spcPts val="600"/>
              </a:spcAft>
              <a:buSzPct val="100000"/>
              <a:buChar char="•"/>
            </a:pPr>
            <a:r>
              <a:rPr lang="en-US" sz="1200" dirty="0">
                <a:solidFill>
                  <a:srgbClr val="1B2333"/>
                </a:solidFill>
                <a:latin typeface="Calibri" pitchFamily="34" charset="0"/>
                <a:ea typeface="Calibri" pitchFamily="34" charset="-122"/>
                <a:cs typeface="Calibri" pitchFamily="34" charset="-120"/>
              </a:rPr>
              <a:t>Deploy for visitors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FA3C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AIDEX logo" descr="/home/claude/aidx/assets/logo-white.png">    </p:cNvPr>
          <p:cNvPicPr>
            <a:picLocks noChangeAspect="1"/>
          </p:cNvPicPr>
          <p:nvPr/>
        </p:nvPicPr>
        <p:blipFill>
          <a:blip r:embed="rId1"/>
          <a:stretch>
            <a:fillRect/>
          </a:stretch>
        </p:blipFill>
        <p:spPr>
          <a:xfrm>
            <a:off x="548640" y="640080"/>
            <a:ext cx="2194560" cy="543715"/>
          </a:xfrm>
          <a:prstGeom prst="rect">
            <a:avLst/>
          </a:prstGeom>
        </p:spPr>
      </p:pic>
      <p:sp>
        <p:nvSpPr>
          <p:cNvPr id="3" name="Text 0"/>
          <p:cNvSpPr/>
          <p:nvPr>
            <p:ph idx="100" type="title" hasCustomPrompt="1"/>
          </p:nvPr>
        </p:nvSpPr>
        <p:spPr>
          <a:xfrm>
            <a:off x="548640" y="1737360"/>
            <a:ext cx="8046720" cy="914400"/>
          </a:xfrm>
          <a:prstGeom prst="rect">
            <a:avLst/>
          </a:prstGeom>
          <a:noFill/>
          <a:ln/>
        </p:spPr>
        <p:txBody>
          <a:bodyPr wrap="square" lIns="0" tIns="0" rIns="0" bIns="0" rtlCol="0" anchor="t"/>
          <a:lstStyle/>
          <a:p>
            <a:pPr algn="l" indent="0" marL="0">
              <a:buNone/>
            </a:pPr>
            <a:r>
              <a:rPr lang="en-US" sz="3800" b="1" dirty="0">
                <a:solidFill>
                  <a:schemeClr val="bg1"/>
                </a:solidFill>
              </a:rPr>
              <a:t>Thank you</a:t>
            </a:r>
            <a:endParaRPr lang="en-US" sz="3800" dirty="0"/>
          </a:p>
        </p:txBody>
      </p:sp>
      <p:sp>
        <p:nvSpPr>
          <p:cNvPr id="4" name="Text 0"/>
          <p:cNvSpPr/>
          <p:nvPr>
            <p:ph idx="101" type="body" hasCustomPrompt="1"/>
          </p:nvPr>
        </p:nvSpPr>
        <p:spPr>
          <a:xfrm>
            <a:off x="548640" y="2697480"/>
            <a:ext cx="7680960" cy="822960"/>
          </a:xfrm>
          <a:prstGeom prst="rect">
            <a:avLst/>
          </a:prstGeom>
          <a:noFill/>
          <a:ln/>
        </p:spPr>
        <p:txBody>
          <a:bodyPr wrap="square" lIns="0" tIns="0" rIns="0" bIns="0" rtlCol="0" anchor="t"/>
          <a:lstStyle/>
          <a:p>
            <a:pPr algn="l" indent="0" marL="0">
              <a:buNone/>
            </a:pPr>
            <a:r>
              <a:rPr lang="en-US" sz="1800" dirty="0">
                <a:solidFill>
                  <a:srgbClr val="BFD4F2"/>
                </a:solidFill>
              </a:rPr>
              <a:t>An assistant that answers from verified lab data, learns how each person likes to be helped, and measures whether that matters more than facts</a:t>
            </a:r>
            <a:endParaRPr lang="en-US" sz="1800" dirty="0"/>
          </a:p>
        </p:txBody>
      </p:sp>
      <p:sp>
        <p:nvSpPr>
          <p:cNvPr id="5" name="Text 2"/>
          <p:cNvSpPr txBox="1"/>
          <p:nvPr/>
        </p:nvSpPr>
        <p:spPr>
          <a:xfrm>
            <a:off x="548640" y="4389120"/>
            <a:ext cx="8046720" cy="274320"/>
          </a:xfrm>
          <a:prstGeom prst="rect">
            <a:avLst/>
          </a:prstGeom>
          <a:noFill/>
          <a:ln/>
        </p:spPr>
        <p:txBody>
          <a:bodyPr wrap="square" lIns="0" tIns="0" rIns="0" bIns="0" rtlCol="0" anchor="ctr"/>
          <a:lstStyle/>
          <a:p>
            <a:pPr indent="0" marL="0">
              <a:buNone/>
            </a:pPr>
            <a:r>
              <a:rPr lang="en-US" sz="1200" dirty="0">
                <a:solidFill>
                  <a:srgbClr val="8FA3C0"/>
                </a:solidFill>
                <a:latin typeface="Calibri" pitchFamily="34" charset="0"/>
                <a:ea typeface="Calibri" pitchFamily="34" charset="-122"/>
                <a:cs typeface="Calibri" pitchFamily="34" charset="-120"/>
              </a:rPr>
              <a:t>Questions and feedback welcome</a:t>
            </a:r>
            <a:endParaRPr lang="en-US" sz="1200" dirty="0"/>
          </a:p>
        </p:txBody>
      </p:sp>
    </p:spTree>
  </p:cSld>
  <p:clrMapOvr>
    <a:masterClrMapping/>
  </p:clrMapOvr>
</p:sld>
</file>

<file path=ppt/theme/theme1.xml><?xml version="1.0" encoding="utf-8"?>
<a:theme xmlns:a="http://schemas.openxmlformats.org/drawingml/2006/main" name="AIDEX">
  <a:themeElements>
    <a:clrScheme name="AIDEX">
      <a:dk1>
        <a:srgbClr val="1B2333"/>
      </a:dk1>
      <a:lt1>
        <a:srgbClr val="FFFFFF"/>
      </a:lt1>
      <a:dk2>
        <a:srgbClr val="001878"/>
      </a:dk2>
      <a:lt2>
        <a:srgbClr val="EEF4FC"/>
      </a:lt2>
      <a:accent1>
        <a:srgbClr val="0040B8"/>
      </a:accent1>
      <a:accent2>
        <a:srgbClr val="0078D8"/>
      </a:accent2>
      <a:accent3>
        <a:srgbClr val="00D4F0"/>
      </a:accent3>
      <a:accent4>
        <a:srgbClr val="001878"/>
      </a:accent4>
      <a:accent5>
        <a:srgbClr val="4A5A7A"/>
      </a:accent5>
      <a:accent6>
        <a:srgbClr val="8FA3C0"/>
      </a:accent6>
      <a:hlink>
        <a:srgbClr val="0078D8"/>
      </a:hlink>
      <a:folHlink>
        <a:srgbClr val="0040B8"/>
      </a:folHlink>
    </a:clrScheme>
    <a:fontScheme name="AIDE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AIDEX Assistant: Human Layer memory in practice</dc:title>
  <dc:subject>PptxGenJS Presentation</dc:subject>
  <dc:creator>PptxGenJS</dc:creator>
  <cp:lastModifiedBy>PptxGenJS</cp:lastModifiedBy>
  <cp:revision>1</cp:revision>
  <dcterms:created xsi:type="dcterms:W3CDTF">2026-10-17T07:42:12Z</dcterms:created>
  <dcterms:modified xsi:type="dcterms:W3CDTF">2026-10-17T07:42:12Z</dcterms:modified>
</cp:coreProperties>
</file>