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1b29158-9138-78e5-9d7b-dad613e6b4da}">
          <p14:sldIdLst>
            <p14:sldId id="256"/>
          </p14:sldIdLst>
        </p14:section>
        <p14:section name="The idea" id="{55ed6c77-6c8f-2cfa-4453-ae664b6474c9}">
          <p14:sldIdLst>
            <p14:sldId id="257"/>
          </p14:sldIdLst>
        </p14:section>
        <p14:section name="The app" id="{f2e5e29e-7d25-691f-db6f-4c6fa86fbd7c}">
          <p14:sldIdLst>
            <p14:sldId id="258"/>
            <p14:sldId id="259"/>
          </p14:sldIdLst>
        </p14:section>
        <p14:section name="Memory" id="{ddb931c2-0f15-ac50-9f9c-d88a02a1b825}">
          <p14:sldIdLst>
            <p14:sldId id="260"/>
          </p14:sldIdLst>
        </p14:section>
        <p14:section name="Safety" id="{b5e91db0-f035-5163-852b-af07e2a0f4b3}">
          <p14:sldIdLst>
            <p14:sldId id="261"/>
          </p14:sldIdLst>
        </p14:section>
        <p14:section name="Results" id="{4230d40c-335e-7e05-1b2f-1a394158cd6a}">
          <p14:sldIdLst>
            <p14:sldId id="262"/>
            <p14:sldId id="263"/>
          </p14:sldIdLst>
        </p14:section>
        <p14:section name="Close" id="{740a8581-6d31-5bd4-7101-3c8052d6b38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Professor. In this video I'll walk you through the project I built for the AIDEX Lab: the AIDEX Assistant. It's a chatbot for the lab's website, but the interesting part is that it learns how each person likes to be helped, and it measures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comes from the lab's own chapter, The Human Layer of Agentic AI Memory. It found that when AI systems learn over time, the memories they reuse most aren't facts. They're things about the person: how they phrase things and how they like their answers. That happened about 3.4 times more often than facts. So I wanted to build something that puts this into practice and can actually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it actually do? First, it answers questions about the lab, like the research themes, publications, people and how to get involved, using the lab's real information. Second, if you switch memory on, it remembers things about you, like 'keep answers to three bullet points'. Third, it learns from feedback: if you correct it, the memory that caused the bad answer gets marked down. And fourth, it's built to be safe and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when someone asks a question. First it does a quick safety check. Then, if memory is on, it learns anything new from the message and pulls up the person's relevant memories. Next it searches the lab's information to find the right facts. Then a language model called Gemma, running locally through Ollama, writes the answer using those facts. Finally, it records which memories were actually used, so we can measure them. The wording is fresh each time, but the facts always come from the lab's own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follows the same split as the paper. Intent calibration is about how you like to be helped, for example 'keep answers to three bullet points'. Domain knowledge is facts about you, like 'I'm a Bachelor of IT student'. Memory is off by default, and the user can see, edit, pause or delete anything it has learned. It also cleans up after itself: if a memory keeps getting corrected, or it's never actually used, the system switches it off and records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and privacy were a big focus. The bot blocks attempts to trick it into revealing its instructions. If someone writes something that suggests they're in distress, it responds with support contacts like Lifeline instead of a normal answer. For research, there's a proper consent screen: only people who agree have their chats logged, and they can withdraw at any time. The AI model runs locally, so conversations aren't sent to an outside company. And until we have ethics approval, everything is marked as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all this, there's an admin dashboard. The main number is the reuse ratio: how often preference memories get used compared with fact memories, shown right next to the paper's 3.4 to 1. It also shows which memories helped, which got corrected and which were switched off over time, using pseudonyms only. To test the system, I wrote 39 evaluation questions that check facts, memory, guardrails and consent automatically, plus a simulation of synthetic users. I want to be clear that these numbers come from simulated users, so they show the system works, but they're not research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honest about where it stands: the local model is quite small, so some replies could be sharper, and all the results so far come from synthetic users. Running a real study would need ethics approval first. For next steps, I'd try a larger model, add a welcome screen with starter questions, and build guided flows for prospective PhD students and industry collaborators.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short, the AIDEX Assistant answers from the lab's real information, learns how each person likes to be helped, and measures whether those preferences really get reused more than facts, which is what our paper predicts. Thank you for watching, and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187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80360"/>
            <a:ext cx="8046720" cy="822960"/>
          </a:xfrm>
          <a:prstGeom prst="rect">
            <a:avLst/>
          </a:prstGeom>
          <a:noFill/>
          <a:ln/>
        </p:spPr>
        <p:txBody>
          <a:bodyPr wrap="square" rtlCol="0"/>
          <a:lstStyle>
            <a:lvl1pPr algn="l" indent="0" marL="0">
              <a:buNone/>
              <a:defRPr lang="en-US" sz="1800" dirty="0">
                <a:solidFill>
                  <a:srgbClr val="BFD4F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pic>
        <p:nvPicPr>
          <p:cNvPr id="3" name="Image 0" descr="/home/claude/aidx/assets/logo-transparent.png">    </p:cNvPr>
          <p:cNvPicPr>
            <a:picLocks noChangeAspect="1"/>
          </p:cNvPicPr>
          <p:nvPr/>
        </p:nvPicPr>
        <p:blipFill>
          <a:blip r:embed="rId1"/>
          <a:stretch>
            <a:fillRect/>
          </a:stretch>
        </p:blipFill>
        <p:spPr>
          <a:xfrm>
            <a:off x="7818120" y="457200"/>
            <a:ext cx="868680" cy="215221"/>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85800"/>
            <a:ext cx="2377440" cy="589025"/>
          </a:xfrm>
          <a:prstGeom prst="rect">
            <a:avLst/>
          </a:prstGeom>
        </p:spPr>
      </p:pic>
      <p:sp>
        <p:nvSpPr>
          <p:cNvPr id="3" name="Text 0"/>
          <p:cNvSpPr/>
          <p:nvPr>
            <p:ph idx="100" type="title" hasCustomPrompt="1"/>
          </p:nvPr>
        </p:nvSpPr>
        <p:spPr>
          <a:xfrm>
            <a:off x="548640" y="1828800"/>
            <a:ext cx="8046720" cy="1005840"/>
          </a:xfrm>
          <a:prstGeom prst="rect">
            <a:avLst/>
          </a:prstGeom>
          <a:noFill/>
          <a:ln/>
        </p:spPr>
        <p:txBody>
          <a:bodyPr wrap="square" lIns="0" tIns="0" rIns="0" bIns="0" rtlCol="0" anchor="t"/>
          <a:lstStyle/>
          <a:p>
            <a:pPr algn="l" indent="0" marL="0">
              <a:buNone/>
            </a:pPr>
            <a:r>
              <a:rPr lang="en-US" sz="4000" b="1" dirty="0">
                <a:solidFill>
                  <a:schemeClr val="bg1"/>
                </a:solidFill>
              </a:rPr>
              <a:t>AIDEX Assistant</a:t>
            </a:r>
            <a:endParaRPr lang="en-US" sz="4000" dirty="0"/>
          </a:p>
        </p:txBody>
      </p:sp>
      <p:sp>
        <p:nvSpPr>
          <p:cNvPr id="4" name="Text 0"/>
          <p:cNvSpPr/>
          <p:nvPr>
            <p:ph idx="101" type="body" hasCustomPrompt="1"/>
          </p:nvPr>
        </p:nvSpPr>
        <p:spPr>
          <a:xfrm>
            <a:off x="548640" y="2880360"/>
            <a:ext cx="8046720" cy="822960"/>
          </a:xfrm>
          <a:prstGeom prst="rect">
            <a:avLst/>
          </a:prstGeom>
          <a:noFill/>
          <a:ln/>
        </p:spPr>
        <p:txBody>
          <a:bodyPr wrap="square" lIns="0" tIns="0" rIns="0" bIns="0" rtlCol="0" anchor="t"/>
          <a:lstStyle/>
          <a:p>
            <a:pPr algn="l" indent="0" marL="0">
              <a:buNone/>
            </a:pPr>
            <a:r>
              <a:rPr lang="en-US" sz="1800" dirty="0">
                <a:solidFill>
                  <a:srgbClr val="BFD4F2"/>
                </a:solidFill>
              </a:rPr>
              <a:t>A chatbot for the AIDEX Lab that learns how each person likes to be helped</a:t>
            </a:r>
            <a:endParaRPr lang="en-US" sz="1800" dirty="0"/>
          </a:p>
        </p:txBody>
      </p:sp>
      <p:sp>
        <p:nvSpPr>
          <p:cNvPr id="5" name="Text 2"/>
          <p:cNvSpPr txBox="1"/>
          <p:nvPr/>
        </p:nvSpPr>
        <p:spPr>
          <a:xfrm>
            <a:off x="548640" y="434340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Bachelor of IT  ·  Australian Catholic University  ·  Internship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Inspired by the lab's own research</a:t>
            </a:r>
            <a:endParaRPr lang="en-US" sz="3000" dirty="0"/>
          </a:p>
        </p:txBody>
      </p:sp>
      <p:sp>
        <p:nvSpPr>
          <p:cNvPr id="3" name="Stat card"/>
          <p:cNvSpPr/>
          <p:nvPr/>
        </p:nvSpPr>
        <p:spPr>
          <a:xfrm>
            <a:off x="457200" y="1325880"/>
            <a:ext cx="3749040" cy="3200400"/>
          </a:xfrm>
          <a:prstGeom prst="roundRect">
            <a:avLst>
              <a:gd name="adj" fmla="val 3429"/>
            </a:avLst>
          </a:prstGeom>
          <a:solidFill>
            <a:srgbClr val="001878"/>
          </a:solidFill>
          <a:ln w="12700">
            <a:solidFill>
              <a:srgbClr val="001878"/>
            </a:solidFill>
            <a:prstDash val="solid"/>
          </a:ln>
        </p:spPr>
      </p:sp>
      <p:sp>
        <p:nvSpPr>
          <p:cNvPr id="4" name="Text 2"/>
          <p:cNvSpPr txBox="1"/>
          <p:nvPr/>
        </p:nvSpPr>
        <p:spPr>
          <a:xfrm>
            <a:off x="731520" y="1691640"/>
            <a:ext cx="3200400" cy="1005840"/>
          </a:xfrm>
          <a:prstGeom prst="rect">
            <a:avLst/>
          </a:prstGeom>
          <a:noFill/>
          <a:ln/>
        </p:spPr>
        <p:txBody>
          <a:bodyPr wrap="square" lIns="0" tIns="0" rIns="0" bIns="0" rtlCol="0" anchor="ctr"/>
          <a:lstStyle/>
          <a:p>
            <a:pPr indent="0" marL="0">
              <a:buNone/>
            </a:pPr>
            <a:r>
              <a:rPr lang="en-US" sz="6600" b="1" dirty="0">
                <a:solidFill>
                  <a:srgbClr val="00D4F0"/>
                </a:solidFill>
                <a:latin typeface="Arial" pitchFamily="34" charset="0"/>
                <a:ea typeface="Arial" pitchFamily="34" charset="-122"/>
                <a:cs typeface="Arial" pitchFamily="34" charset="-120"/>
              </a:rPr>
              <a:t>3.4 : 1</a:t>
            </a:r>
            <a:endParaRPr lang="en-US" sz="6600" dirty="0"/>
          </a:p>
        </p:txBody>
      </p:sp>
      <p:sp>
        <p:nvSpPr>
          <p:cNvPr id="5" name="Text 3"/>
          <p:cNvSpPr txBox="1"/>
          <p:nvPr/>
        </p:nvSpPr>
        <p:spPr>
          <a:xfrm>
            <a:off x="731520" y="2788920"/>
            <a:ext cx="320040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Preferences about the person were reused 3.4× more often than facts</a:t>
            </a:r>
            <a:endParaRPr lang="en-US" sz="1600" dirty="0"/>
          </a:p>
        </p:txBody>
      </p:sp>
      <p:sp>
        <p:nvSpPr>
          <p:cNvPr id="6" name="Text 4"/>
          <p:cNvSpPr txBox="1"/>
          <p:nvPr/>
        </p:nvSpPr>
        <p:spPr>
          <a:xfrm>
            <a:off x="731520" y="3749040"/>
            <a:ext cx="3200400" cy="548640"/>
          </a:xfrm>
          <a:prstGeom prst="rect">
            <a:avLst/>
          </a:prstGeom>
          <a:noFill/>
          <a:ln/>
        </p:spPr>
        <p:txBody>
          <a:bodyPr wrap="square" lIns="0" tIns="0" rIns="0" bIns="0" rtlCol="0" anchor="ctr"/>
          <a:lstStyle/>
          <a:p>
            <a:pPr indent="0" marL="0">
              <a:buNone/>
            </a:pPr>
            <a:r>
              <a:rPr lang="en-US" sz="1100" i="1" dirty="0">
                <a:solidFill>
                  <a:srgbClr val="BFD4F2"/>
                </a:solidFill>
                <a:latin typeface="Calibri" pitchFamily="34" charset="0"/>
                <a:ea typeface="Calibri" pitchFamily="34" charset="-122"/>
                <a:cs typeface="Calibri" pitchFamily="34" charset="-120"/>
              </a:rPr>
              <a:t>Parameswaran, Hussain &amp; Hossain (2026), The Human Layer of Agentic AI Memory</a:t>
            </a:r>
            <a:endParaRPr lang="en-US" sz="1100" dirty="0"/>
          </a:p>
        </p:txBody>
      </p:sp>
      <p:sp>
        <p:nvSpPr>
          <p:cNvPr id="7" name="Text 5"/>
          <p:cNvSpPr txBox="1"/>
          <p:nvPr/>
        </p:nvSpPr>
        <p:spPr>
          <a:xfrm>
            <a:off x="4572000" y="1371600"/>
            <a:ext cx="4114800" cy="365760"/>
          </a:xfrm>
          <a:prstGeom prst="rect">
            <a:avLst/>
          </a:prstGeom>
          <a:noFill/>
          <a:ln/>
        </p:spPr>
        <p:txBody>
          <a:bodyPr wrap="square" lIns="0" tIns="0" rIns="0" bIns="0" rtlCol="0" anchor="ctr"/>
          <a:lstStyle/>
          <a:p>
            <a:pPr indent="0" marL="0">
              <a:buNone/>
            </a:pPr>
            <a:r>
              <a:rPr lang="en-US" sz="2000" b="1" dirty="0">
                <a:solidFill>
                  <a:srgbClr val="001878"/>
                </a:solidFill>
                <a:latin typeface="Arial" pitchFamily="34" charset="0"/>
                <a:ea typeface="Arial" pitchFamily="34" charset="-122"/>
                <a:cs typeface="Arial" pitchFamily="34" charset="-120"/>
              </a:rPr>
              <a:t>What the paper found</a:t>
            </a:r>
            <a:endParaRPr lang="en-US" sz="2000" dirty="0"/>
          </a:p>
        </p:txBody>
      </p:sp>
      <p:sp>
        <p:nvSpPr>
          <p:cNvPr id="8" name="Text 6"/>
          <p:cNvSpPr txBox="1"/>
          <p:nvPr/>
        </p:nvSpPr>
        <p:spPr>
          <a:xfrm>
            <a:off x="4572000" y="1874520"/>
            <a:ext cx="411480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333"/>
                </a:solidFill>
                <a:latin typeface="Calibri" pitchFamily="34" charset="0"/>
                <a:ea typeface="Calibri" pitchFamily="34" charset="-122"/>
                <a:cs typeface="Calibri" pitchFamily="34" charset="-120"/>
              </a:rPr>
              <a:t>When AI systems learn over time, what they reuse most is not facts</a:t>
            </a:r>
            <a:endParaRPr lang="en-US" sz="1600" dirty="0"/>
          </a:p>
          <a:p>
            <a:pPr marL="342900" indent="-342900">
              <a:spcAft>
                <a:spcPts val="1200"/>
              </a:spcAft>
              <a:buSzPct val="100000"/>
              <a:buChar char="•"/>
            </a:pPr>
            <a:r>
              <a:rPr lang="en-US" sz="1600" dirty="0">
                <a:solidFill>
                  <a:srgbClr val="1B2333"/>
                </a:solidFill>
                <a:latin typeface="Calibri" pitchFamily="34" charset="0"/>
                <a:ea typeface="Calibri" pitchFamily="34" charset="-122"/>
                <a:cs typeface="Calibri" pitchFamily="34" charset="-120"/>
              </a:rPr>
              <a:t>It is how a person phrases things, what they mean and how they like answers</a:t>
            </a:r>
            <a:endParaRPr lang="en-US" sz="1600" dirty="0"/>
          </a:p>
          <a:p>
            <a:pPr marL="342900" indent="-342900">
              <a:spcAft>
                <a:spcPts val="1200"/>
              </a:spcAft>
              <a:buSzPct val="100000"/>
              <a:buChar char="•"/>
            </a:pPr>
            <a:r>
              <a:rPr lang="en-US" sz="1600" dirty="0">
                <a:solidFill>
                  <a:srgbClr val="1B2333"/>
                </a:solidFill>
                <a:latin typeface="Calibri" pitchFamily="34" charset="0"/>
                <a:ea typeface="Calibri" pitchFamily="34" charset="-122"/>
                <a:cs typeface="Calibri" pitchFamily="34" charset="-120"/>
              </a:rPr>
              <a:t>This project puts that idea into a working chatbot and measures it</a:t>
            </a:r>
            <a:endParaRPr lang="en-US" sz="16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What the app does</a:t>
            </a:r>
            <a:endParaRPr lang="en-US" sz="3000" dirty="0"/>
          </a:p>
        </p:txBody>
      </p:sp>
      <p:sp>
        <p:nvSpPr>
          <p:cNvPr id="3" name="Feature card 1"/>
          <p:cNvSpPr/>
          <p:nvPr/>
        </p:nvSpPr>
        <p:spPr>
          <a:xfrm>
            <a:off x="457200" y="1325880"/>
            <a:ext cx="4023360" cy="1463040"/>
          </a:xfrm>
          <a:prstGeom prst="roundRect">
            <a:avLst>
              <a:gd name="adj" fmla="val 7500"/>
            </a:avLst>
          </a:prstGeom>
          <a:solidFill>
            <a:srgbClr val="EEF4FC"/>
          </a:solidFill>
          <a:ln w="12700">
            <a:solidFill>
              <a:srgbClr val="EEF4FC"/>
            </a:solidFill>
            <a:prstDash val="solid"/>
          </a:ln>
        </p:spPr>
      </p:sp>
      <p:sp>
        <p:nvSpPr>
          <p:cNvPr id="4" name="Feature 1 circle"/>
          <p:cNvSpPr/>
          <p:nvPr/>
        </p:nvSpPr>
        <p:spPr>
          <a:xfrm>
            <a:off x="685800" y="1600200"/>
            <a:ext cx="685800" cy="685800"/>
          </a:xfrm>
          <a:prstGeom prst="ellipse">
            <a:avLst/>
          </a:prstGeom>
          <a:solidFill>
            <a:srgbClr val="0040B8"/>
          </a:solidFill>
          <a:ln w="12700">
            <a:solidFill>
              <a:srgbClr val="0040B8"/>
            </a:solidFill>
            <a:prstDash val="solid"/>
          </a:ln>
        </p:spPr>
      </p:sp>
      <p:pic>
        <p:nvPicPr>
          <p:cNvPr id="5" name="Feature 1 icon" descr="preencoded.png">    </p:cNvPr>
          <p:cNvPicPr>
            <a:picLocks noChangeAspect="1"/>
          </p:cNvPicPr>
          <p:nvPr/>
        </p:nvPicPr>
        <p:blipFill>
          <a:blip r:embed="rId1"/>
          <a:stretch>
            <a:fillRect/>
          </a:stretch>
        </p:blipFill>
        <p:spPr>
          <a:xfrm>
            <a:off x="850392" y="1764792"/>
            <a:ext cx="356616" cy="356616"/>
          </a:xfrm>
          <a:prstGeom prst="rect">
            <a:avLst/>
          </a:prstGeom>
        </p:spPr>
      </p:pic>
      <p:sp>
        <p:nvSpPr>
          <p:cNvPr id="6" name="Text 3"/>
          <p:cNvSpPr txBox="1"/>
          <p:nvPr/>
        </p:nvSpPr>
        <p:spPr>
          <a:xfrm>
            <a:off x="1554480" y="1527048"/>
            <a:ext cx="274320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Answers from lab data</a:t>
            </a:r>
            <a:endParaRPr lang="en-US" sz="1700" dirty="0"/>
          </a:p>
        </p:txBody>
      </p:sp>
      <p:sp>
        <p:nvSpPr>
          <p:cNvPr id="7" name="Text 4"/>
          <p:cNvSpPr txBox="1"/>
          <p:nvPr/>
        </p:nvSpPr>
        <p:spPr>
          <a:xfrm>
            <a:off x="1554480" y="1920240"/>
            <a:ext cx="2743200" cy="731520"/>
          </a:xfrm>
          <a:prstGeom prst="rect">
            <a:avLst/>
          </a:prstGeom>
          <a:noFill/>
          <a:ln/>
        </p:spPr>
        <p:txBody>
          <a:bodyPr wrap="square" lIns="0" tIns="0" rIns="0" bIns="0" rtlCol="0" anchor="t"/>
          <a:lstStyle/>
          <a:p>
            <a:pPr indent="0" marL="0">
              <a:buNone/>
            </a:pPr>
            <a:r>
              <a:rPr lang="en-US" sz="1400" dirty="0">
                <a:solidFill>
                  <a:srgbClr val="5A6478"/>
                </a:solidFill>
                <a:latin typeface="Calibri" pitchFamily="34" charset="0"/>
                <a:ea typeface="Calibri" pitchFamily="34" charset="-122"/>
                <a:cs typeface="Calibri" pitchFamily="34" charset="-120"/>
              </a:rPr>
              <a:t>Research themes, publications, people, news and how to get involved</a:t>
            </a:r>
            <a:endParaRPr lang="en-US" sz="1400" dirty="0"/>
          </a:p>
        </p:txBody>
      </p:sp>
      <p:sp>
        <p:nvSpPr>
          <p:cNvPr id="8" name="Feature card 2"/>
          <p:cNvSpPr/>
          <p:nvPr/>
        </p:nvSpPr>
        <p:spPr>
          <a:xfrm>
            <a:off x="4663440" y="1325880"/>
            <a:ext cx="4023360" cy="1463040"/>
          </a:xfrm>
          <a:prstGeom prst="roundRect">
            <a:avLst>
              <a:gd name="adj" fmla="val 7500"/>
            </a:avLst>
          </a:prstGeom>
          <a:solidFill>
            <a:srgbClr val="EEF4FC"/>
          </a:solidFill>
          <a:ln w="12700">
            <a:solidFill>
              <a:srgbClr val="EEF4FC"/>
            </a:solidFill>
            <a:prstDash val="solid"/>
          </a:ln>
        </p:spPr>
      </p:sp>
      <p:sp>
        <p:nvSpPr>
          <p:cNvPr id="9" name="Feature 2 circle"/>
          <p:cNvSpPr/>
          <p:nvPr/>
        </p:nvSpPr>
        <p:spPr>
          <a:xfrm>
            <a:off x="4892040" y="1600200"/>
            <a:ext cx="685800" cy="685800"/>
          </a:xfrm>
          <a:prstGeom prst="ellipse">
            <a:avLst/>
          </a:prstGeom>
          <a:solidFill>
            <a:srgbClr val="0040B8"/>
          </a:solidFill>
          <a:ln w="12700">
            <a:solidFill>
              <a:srgbClr val="0040B8"/>
            </a:solidFill>
            <a:prstDash val="solid"/>
          </a:ln>
        </p:spPr>
      </p:sp>
      <p:pic>
        <p:nvPicPr>
          <p:cNvPr id="10" name="Feature 2 icon" descr="preencoded.png">    </p:cNvPr>
          <p:cNvPicPr>
            <a:picLocks noChangeAspect="1"/>
          </p:cNvPicPr>
          <p:nvPr/>
        </p:nvPicPr>
        <p:blipFill>
          <a:blip r:embed="rId2"/>
          <a:stretch>
            <a:fillRect/>
          </a:stretch>
        </p:blipFill>
        <p:spPr>
          <a:xfrm>
            <a:off x="5056632" y="1764792"/>
            <a:ext cx="356616" cy="356616"/>
          </a:xfrm>
          <a:prstGeom prst="rect">
            <a:avLst/>
          </a:prstGeom>
        </p:spPr>
      </p:pic>
      <p:sp>
        <p:nvSpPr>
          <p:cNvPr id="11" name="Text 7"/>
          <p:cNvSpPr txBox="1"/>
          <p:nvPr/>
        </p:nvSpPr>
        <p:spPr>
          <a:xfrm>
            <a:off x="5760720" y="1527048"/>
            <a:ext cx="274320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Remembers each person</a:t>
            </a:r>
            <a:endParaRPr lang="en-US" sz="1700" dirty="0"/>
          </a:p>
        </p:txBody>
      </p:sp>
      <p:sp>
        <p:nvSpPr>
          <p:cNvPr id="12" name="Text 8"/>
          <p:cNvSpPr txBox="1"/>
          <p:nvPr/>
        </p:nvSpPr>
        <p:spPr>
          <a:xfrm>
            <a:off x="5760720" y="1920240"/>
            <a:ext cx="2743200" cy="731520"/>
          </a:xfrm>
          <a:prstGeom prst="rect">
            <a:avLst/>
          </a:prstGeom>
          <a:noFill/>
          <a:ln/>
        </p:spPr>
        <p:txBody>
          <a:bodyPr wrap="square" lIns="0" tIns="0" rIns="0" bIns="0" rtlCol="0" anchor="t"/>
          <a:lstStyle/>
          <a:p>
            <a:pPr indent="0" marL="0">
              <a:buNone/>
            </a:pPr>
            <a:r>
              <a:rPr lang="en-US" sz="1400" dirty="0">
                <a:solidFill>
                  <a:srgbClr val="5A6478"/>
                </a:solidFill>
                <a:latin typeface="Calibri" pitchFamily="34" charset="0"/>
                <a:ea typeface="Calibri" pitchFamily="34" charset="-122"/>
                <a:cs typeface="Calibri" pitchFamily="34" charset="-120"/>
              </a:rPr>
              <a:t>Opt-in memory of preferences and facts, like "keep it to 3 bullet points"</a:t>
            </a:r>
            <a:endParaRPr lang="en-US" sz="1400" dirty="0"/>
          </a:p>
        </p:txBody>
      </p:sp>
      <p:sp>
        <p:nvSpPr>
          <p:cNvPr id="13" name="Feature card 3"/>
          <p:cNvSpPr/>
          <p:nvPr/>
        </p:nvSpPr>
        <p:spPr>
          <a:xfrm>
            <a:off x="457200" y="3017520"/>
            <a:ext cx="4023360" cy="1463040"/>
          </a:xfrm>
          <a:prstGeom prst="roundRect">
            <a:avLst>
              <a:gd name="adj" fmla="val 7500"/>
            </a:avLst>
          </a:prstGeom>
          <a:solidFill>
            <a:srgbClr val="EEF4FC"/>
          </a:solidFill>
          <a:ln w="12700">
            <a:solidFill>
              <a:srgbClr val="EEF4FC"/>
            </a:solidFill>
            <a:prstDash val="solid"/>
          </a:ln>
        </p:spPr>
      </p:sp>
      <p:sp>
        <p:nvSpPr>
          <p:cNvPr id="14" name="Feature 3 circle"/>
          <p:cNvSpPr/>
          <p:nvPr/>
        </p:nvSpPr>
        <p:spPr>
          <a:xfrm>
            <a:off x="685800" y="3291840"/>
            <a:ext cx="685800" cy="685800"/>
          </a:xfrm>
          <a:prstGeom prst="ellipse">
            <a:avLst/>
          </a:prstGeom>
          <a:solidFill>
            <a:srgbClr val="0040B8"/>
          </a:solidFill>
          <a:ln w="12700">
            <a:solidFill>
              <a:srgbClr val="0040B8"/>
            </a:solidFill>
            <a:prstDash val="solid"/>
          </a:ln>
        </p:spPr>
      </p:sp>
      <p:pic>
        <p:nvPicPr>
          <p:cNvPr id="15" name="Feature 3 icon" descr="preencoded.png">    </p:cNvPr>
          <p:cNvPicPr>
            <a:picLocks noChangeAspect="1"/>
          </p:cNvPicPr>
          <p:nvPr/>
        </p:nvPicPr>
        <p:blipFill>
          <a:blip r:embed="rId3"/>
          <a:stretch>
            <a:fillRect/>
          </a:stretch>
        </p:blipFill>
        <p:spPr>
          <a:xfrm>
            <a:off x="850392" y="3456432"/>
            <a:ext cx="356616" cy="356616"/>
          </a:xfrm>
          <a:prstGeom prst="rect">
            <a:avLst/>
          </a:prstGeom>
        </p:spPr>
      </p:pic>
      <p:sp>
        <p:nvSpPr>
          <p:cNvPr id="16" name="Text 11"/>
          <p:cNvSpPr txBox="1"/>
          <p:nvPr/>
        </p:nvSpPr>
        <p:spPr>
          <a:xfrm>
            <a:off x="1554480" y="3218688"/>
            <a:ext cx="274320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Learns from feedback</a:t>
            </a:r>
            <a:endParaRPr lang="en-US" sz="1700" dirty="0"/>
          </a:p>
        </p:txBody>
      </p:sp>
      <p:sp>
        <p:nvSpPr>
          <p:cNvPr id="17" name="Text 12"/>
          <p:cNvSpPr txBox="1"/>
          <p:nvPr/>
        </p:nvSpPr>
        <p:spPr>
          <a:xfrm>
            <a:off x="1554480" y="3611880"/>
            <a:ext cx="2743200" cy="731520"/>
          </a:xfrm>
          <a:prstGeom prst="rect">
            <a:avLst/>
          </a:prstGeom>
          <a:noFill/>
          <a:ln/>
        </p:spPr>
        <p:txBody>
          <a:bodyPr wrap="square" lIns="0" tIns="0" rIns="0" bIns="0" rtlCol="0" anchor="t"/>
          <a:lstStyle/>
          <a:p>
            <a:pPr indent="0" marL="0">
              <a:buNone/>
            </a:pPr>
            <a:r>
              <a:rPr lang="en-US" sz="1400" dirty="0">
                <a:solidFill>
                  <a:srgbClr val="5A6478"/>
                </a:solidFill>
                <a:latin typeface="Calibri" pitchFamily="34" charset="0"/>
                <a:ea typeface="Calibri" pitchFamily="34" charset="-122"/>
                <a:cs typeface="Calibri" pitchFamily="34" charset="-120"/>
              </a:rPr>
              <a:t>Corrections and thumbs up or down decide which memories stay switched on</a:t>
            </a:r>
            <a:endParaRPr lang="en-US" sz="1400" dirty="0"/>
          </a:p>
        </p:txBody>
      </p:sp>
      <p:sp>
        <p:nvSpPr>
          <p:cNvPr id="18" name="Feature card 4"/>
          <p:cNvSpPr/>
          <p:nvPr/>
        </p:nvSpPr>
        <p:spPr>
          <a:xfrm>
            <a:off x="4663440" y="3017520"/>
            <a:ext cx="4023360" cy="1463040"/>
          </a:xfrm>
          <a:prstGeom prst="roundRect">
            <a:avLst>
              <a:gd name="adj" fmla="val 7500"/>
            </a:avLst>
          </a:prstGeom>
          <a:solidFill>
            <a:srgbClr val="EEF4FC"/>
          </a:solidFill>
          <a:ln w="12700">
            <a:solidFill>
              <a:srgbClr val="EEF4FC"/>
            </a:solidFill>
            <a:prstDash val="solid"/>
          </a:ln>
        </p:spPr>
      </p:sp>
      <p:sp>
        <p:nvSpPr>
          <p:cNvPr id="19" name="Feature 4 circle"/>
          <p:cNvSpPr/>
          <p:nvPr/>
        </p:nvSpPr>
        <p:spPr>
          <a:xfrm>
            <a:off x="4892040" y="3291840"/>
            <a:ext cx="685800" cy="685800"/>
          </a:xfrm>
          <a:prstGeom prst="ellipse">
            <a:avLst/>
          </a:prstGeom>
          <a:solidFill>
            <a:srgbClr val="0040B8"/>
          </a:solidFill>
          <a:ln w="12700">
            <a:solidFill>
              <a:srgbClr val="0040B8"/>
            </a:solidFill>
            <a:prstDash val="solid"/>
          </a:ln>
        </p:spPr>
      </p:sp>
      <p:pic>
        <p:nvPicPr>
          <p:cNvPr id="20" name="Feature 4 icon" descr="preencoded.png">    </p:cNvPr>
          <p:cNvPicPr>
            <a:picLocks noChangeAspect="1"/>
          </p:cNvPicPr>
          <p:nvPr/>
        </p:nvPicPr>
        <p:blipFill>
          <a:blip r:embed="rId4"/>
          <a:stretch>
            <a:fillRect/>
          </a:stretch>
        </p:blipFill>
        <p:spPr>
          <a:xfrm>
            <a:off x="5056632" y="3456432"/>
            <a:ext cx="356616" cy="356616"/>
          </a:xfrm>
          <a:prstGeom prst="rect">
            <a:avLst/>
          </a:prstGeom>
        </p:spPr>
      </p:pic>
      <p:sp>
        <p:nvSpPr>
          <p:cNvPr id="21" name="Text 15"/>
          <p:cNvSpPr txBox="1"/>
          <p:nvPr/>
        </p:nvSpPr>
        <p:spPr>
          <a:xfrm>
            <a:off x="5760720" y="3218688"/>
            <a:ext cx="274320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Safe and private</a:t>
            </a:r>
            <a:endParaRPr lang="en-US" sz="1700" dirty="0"/>
          </a:p>
        </p:txBody>
      </p:sp>
      <p:sp>
        <p:nvSpPr>
          <p:cNvPr id="22" name="Text 16"/>
          <p:cNvSpPr txBox="1"/>
          <p:nvPr/>
        </p:nvSpPr>
        <p:spPr>
          <a:xfrm>
            <a:off x="5760720" y="3611880"/>
            <a:ext cx="2743200" cy="731520"/>
          </a:xfrm>
          <a:prstGeom prst="rect">
            <a:avLst/>
          </a:prstGeom>
          <a:noFill/>
          <a:ln/>
        </p:spPr>
        <p:txBody>
          <a:bodyPr wrap="square" lIns="0" tIns="0" rIns="0" bIns="0" rtlCol="0" anchor="t"/>
          <a:lstStyle/>
          <a:p>
            <a:pPr indent="0" marL="0">
              <a:buNone/>
            </a:pPr>
            <a:r>
              <a:rPr lang="en-US" sz="1400" dirty="0">
                <a:solidFill>
                  <a:srgbClr val="5A6478"/>
                </a:solidFill>
                <a:latin typeface="Calibri" pitchFamily="34" charset="0"/>
                <a:ea typeface="Calibri" pitchFamily="34" charset="-122"/>
                <a:cs typeface="Calibri" pitchFamily="34" charset="-120"/>
              </a:rPr>
              <a:t>Guardrails, consent for research and a model that runs on the local computer</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How it answers a question</a:t>
            </a:r>
            <a:endParaRPr lang="en-US" sz="3000" dirty="0"/>
          </a:p>
        </p:txBody>
      </p:sp>
      <p:sp>
        <p:nvSpPr>
          <p:cNvPr id="3" name="Step 1"/>
          <p:cNvSpPr/>
          <p:nvPr/>
        </p:nvSpPr>
        <p:spPr>
          <a:xfrm>
            <a:off x="457200" y="1417320"/>
            <a:ext cx="1261872" cy="2011680"/>
          </a:xfrm>
          <a:prstGeom prst="roundRect">
            <a:avLst>
              <a:gd name="adj" fmla="val 8696"/>
            </a:avLst>
          </a:prstGeom>
          <a:solidFill>
            <a:srgbClr val="EEF4FC"/>
          </a:solidFill>
          <a:ln w="12700">
            <a:solidFill>
              <a:srgbClr val="EEF4FC"/>
            </a:solidFill>
            <a:prstDash val="solid"/>
          </a:ln>
        </p:spPr>
      </p:sp>
      <p:sp>
        <p:nvSpPr>
          <p:cNvPr id="4" name="Step 1 circle"/>
          <p:cNvSpPr/>
          <p:nvPr/>
        </p:nvSpPr>
        <p:spPr>
          <a:xfrm>
            <a:off x="768096" y="1600200"/>
            <a:ext cx="640080" cy="640080"/>
          </a:xfrm>
          <a:prstGeom prst="ellipse">
            <a:avLst/>
          </a:prstGeom>
          <a:solidFill>
            <a:srgbClr val="0040B8"/>
          </a:solidFill>
          <a:ln w="12700">
            <a:solidFill>
              <a:srgbClr val="0040B8"/>
            </a:solidFill>
            <a:prstDash val="solid"/>
          </a:ln>
        </p:spPr>
      </p:sp>
      <p:pic>
        <p:nvPicPr>
          <p:cNvPr id="5" name="Step 1 icon" descr="preencoded.png">    </p:cNvPr>
          <p:cNvPicPr>
            <a:picLocks noChangeAspect="1"/>
          </p:cNvPicPr>
          <p:nvPr/>
        </p:nvPicPr>
        <p:blipFill>
          <a:blip r:embed="rId1"/>
          <a:stretch>
            <a:fillRect/>
          </a:stretch>
        </p:blipFill>
        <p:spPr>
          <a:xfrm>
            <a:off x="921715" y="1753819"/>
            <a:ext cx="332842" cy="332842"/>
          </a:xfrm>
          <a:prstGeom prst="rect">
            <a:avLst/>
          </a:prstGeom>
        </p:spPr>
      </p:pic>
      <p:sp>
        <p:nvSpPr>
          <p:cNvPr id="6" name="Text 3"/>
          <p:cNvSpPr txBox="1"/>
          <p:nvPr/>
        </p:nvSpPr>
        <p:spPr>
          <a:xfrm>
            <a:off x="530352"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1. Question</a:t>
            </a:r>
            <a:endParaRPr lang="en-US" sz="1400" dirty="0"/>
          </a:p>
        </p:txBody>
      </p:sp>
      <p:sp>
        <p:nvSpPr>
          <p:cNvPr id="7" name="Text 4"/>
          <p:cNvSpPr txBox="1"/>
          <p:nvPr/>
        </p:nvSpPr>
        <p:spPr>
          <a:xfrm>
            <a:off x="548640"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User types a message</a:t>
            </a:r>
            <a:endParaRPr lang="en-US" sz="1200" dirty="0"/>
          </a:p>
        </p:txBody>
      </p:sp>
      <p:sp>
        <p:nvSpPr>
          <p:cNvPr id="8" name="Step 2"/>
          <p:cNvSpPr/>
          <p:nvPr/>
        </p:nvSpPr>
        <p:spPr>
          <a:xfrm>
            <a:off x="1832458" y="1417320"/>
            <a:ext cx="1261872" cy="2011680"/>
          </a:xfrm>
          <a:prstGeom prst="roundRect">
            <a:avLst>
              <a:gd name="adj" fmla="val 8696"/>
            </a:avLst>
          </a:prstGeom>
          <a:solidFill>
            <a:srgbClr val="EEF4FC"/>
          </a:solidFill>
          <a:ln w="12700">
            <a:solidFill>
              <a:srgbClr val="EEF4FC"/>
            </a:solidFill>
            <a:prstDash val="solid"/>
          </a:ln>
        </p:spPr>
      </p:sp>
      <p:sp>
        <p:nvSpPr>
          <p:cNvPr id="9" name="Step 2 circle"/>
          <p:cNvSpPr/>
          <p:nvPr/>
        </p:nvSpPr>
        <p:spPr>
          <a:xfrm>
            <a:off x="2143354" y="1600200"/>
            <a:ext cx="640080" cy="640080"/>
          </a:xfrm>
          <a:prstGeom prst="ellipse">
            <a:avLst/>
          </a:prstGeom>
          <a:solidFill>
            <a:srgbClr val="0040B8"/>
          </a:solidFill>
          <a:ln w="12700">
            <a:solidFill>
              <a:srgbClr val="0040B8"/>
            </a:solidFill>
            <a:prstDash val="solid"/>
          </a:ln>
        </p:spPr>
      </p:sp>
      <p:pic>
        <p:nvPicPr>
          <p:cNvPr id="10" name="Step 2 icon" descr="preencoded.png">    </p:cNvPr>
          <p:cNvPicPr>
            <a:picLocks noChangeAspect="1"/>
          </p:cNvPicPr>
          <p:nvPr/>
        </p:nvPicPr>
        <p:blipFill>
          <a:blip r:embed="rId2"/>
          <a:stretch>
            <a:fillRect/>
          </a:stretch>
        </p:blipFill>
        <p:spPr>
          <a:xfrm>
            <a:off x="2296973" y="1753819"/>
            <a:ext cx="332842" cy="332842"/>
          </a:xfrm>
          <a:prstGeom prst="rect">
            <a:avLst/>
          </a:prstGeom>
        </p:spPr>
      </p:pic>
      <p:sp>
        <p:nvSpPr>
          <p:cNvPr id="11" name="Text 7"/>
          <p:cNvSpPr txBox="1"/>
          <p:nvPr/>
        </p:nvSpPr>
        <p:spPr>
          <a:xfrm>
            <a:off x="1905610"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2. Safety check</a:t>
            </a:r>
            <a:endParaRPr lang="en-US" sz="1400" dirty="0"/>
          </a:p>
        </p:txBody>
      </p:sp>
      <p:sp>
        <p:nvSpPr>
          <p:cNvPr id="12" name="Text 8"/>
          <p:cNvSpPr txBox="1"/>
          <p:nvPr/>
        </p:nvSpPr>
        <p:spPr>
          <a:xfrm>
            <a:off x="1923898"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Blocks tricks, spots distress</a:t>
            </a:r>
            <a:endParaRPr lang="en-US" sz="1200" dirty="0"/>
          </a:p>
        </p:txBody>
      </p:sp>
      <p:sp>
        <p:nvSpPr>
          <p:cNvPr id="13" name="Step 3"/>
          <p:cNvSpPr/>
          <p:nvPr/>
        </p:nvSpPr>
        <p:spPr>
          <a:xfrm>
            <a:off x="3207715" y="1417320"/>
            <a:ext cx="1261872" cy="2011680"/>
          </a:xfrm>
          <a:prstGeom prst="roundRect">
            <a:avLst>
              <a:gd name="adj" fmla="val 8696"/>
            </a:avLst>
          </a:prstGeom>
          <a:solidFill>
            <a:srgbClr val="EEF4FC"/>
          </a:solidFill>
          <a:ln w="12700">
            <a:solidFill>
              <a:srgbClr val="EEF4FC"/>
            </a:solidFill>
            <a:prstDash val="solid"/>
          </a:ln>
        </p:spPr>
      </p:sp>
      <p:sp>
        <p:nvSpPr>
          <p:cNvPr id="14" name="Step 3 circle"/>
          <p:cNvSpPr/>
          <p:nvPr/>
        </p:nvSpPr>
        <p:spPr>
          <a:xfrm>
            <a:off x="3518611" y="1600200"/>
            <a:ext cx="640080" cy="640080"/>
          </a:xfrm>
          <a:prstGeom prst="ellipse">
            <a:avLst/>
          </a:prstGeom>
          <a:solidFill>
            <a:srgbClr val="0040B8"/>
          </a:solidFill>
          <a:ln w="12700">
            <a:solidFill>
              <a:srgbClr val="0040B8"/>
            </a:solidFill>
            <a:prstDash val="solid"/>
          </a:ln>
        </p:spPr>
      </p:sp>
      <p:pic>
        <p:nvPicPr>
          <p:cNvPr id="15" name="Step 3 icon" descr="preencoded.png">    </p:cNvPr>
          <p:cNvPicPr>
            <a:picLocks noChangeAspect="1"/>
          </p:cNvPicPr>
          <p:nvPr/>
        </p:nvPicPr>
        <p:blipFill>
          <a:blip r:embed="rId3"/>
          <a:stretch>
            <a:fillRect/>
          </a:stretch>
        </p:blipFill>
        <p:spPr>
          <a:xfrm>
            <a:off x="3672230" y="1753819"/>
            <a:ext cx="332842" cy="332842"/>
          </a:xfrm>
          <a:prstGeom prst="rect">
            <a:avLst/>
          </a:prstGeom>
        </p:spPr>
      </p:pic>
      <p:sp>
        <p:nvSpPr>
          <p:cNvPr id="16" name="Text 11"/>
          <p:cNvSpPr txBox="1"/>
          <p:nvPr/>
        </p:nvSpPr>
        <p:spPr>
          <a:xfrm>
            <a:off x="3280867"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3. Learn &amp; recall</a:t>
            </a:r>
            <a:endParaRPr lang="en-US" sz="1400" dirty="0"/>
          </a:p>
        </p:txBody>
      </p:sp>
      <p:sp>
        <p:nvSpPr>
          <p:cNvPr id="17" name="Text 12"/>
          <p:cNvSpPr txBox="1"/>
          <p:nvPr/>
        </p:nvSpPr>
        <p:spPr>
          <a:xfrm>
            <a:off x="3299155"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Saves and finds memories</a:t>
            </a:r>
            <a:endParaRPr lang="en-US" sz="1200" dirty="0"/>
          </a:p>
        </p:txBody>
      </p:sp>
      <p:sp>
        <p:nvSpPr>
          <p:cNvPr id="18" name="Step 4"/>
          <p:cNvSpPr/>
          <p:nvPr/>
        </p:nvSpPr>
        <p:spPr>
          <a:xfrm>
            <a:off x="4582973" y="1417320"/>
            <a:ext cx="1261872" cy="2011680"/>
          </a:xfrm>
          <a:prstGeom prst="roundRect">
            <a:avLst>
              <a:gd name="adj" fmla="val 8696"/>
            </a:avLst>
          </a:prstGeom>
          <a:solidFill>
            <a:srgbClr val="EEF4FC"/>
          </a:solidFill>
          <a:ln w="12700">
            <a:solidFill>
              <a:srgbClr val="EEF4FC"/>
            </a:solidFill>
            <a:prstDash val="solid"/>
          </a:ln>
        </p:spPr>
      </p:sp>
      <p:sp>
        <p:nvSpPr>
          <p:cNvPr id="19" name="Step 4 circle"/>
          <p:cNvSpPr/>
          <p:nvPr/>
        </p:nvSpPr>
        <p:spPr>
          <a:xfrm>
            <a:off x="4893869" y="1600200"/>
            <a:ext cx="640080" cy="640080"/>
          </a:xfrm>
          <a:prstGeom prst="ellipse">
            <a:avLst/>
          </a:prstGeom>
          <a:solidFill>
            <a:srgbClr val="0040B8"/>
          </a:solidFill>
          <a:ln w="12700">
            <a:solidFill>
              <a:srgbClr val="0040B8"/>
            </a:solidFill>
            <a:prstDash val="solid"/>
          </a:ln>
        </p:spPr>
      </p:sp>
      <p:pic>
        <p:nvPicPr>
          <p:cNvPr id="20" name="Step 4 icon" descr="preencoded.png">    </p:cNvPr>
          <p:cNvPicPr>
            <a:picLocks noChangeAspect="1"/>
          </p:cNvPicPr>
          <p:nvPr/>
        </p:nvPicPr>
        <p:blipFill>
          <a:blip r:embed="rId4"/>
          <a:stretch>
            <a:fillRect/>
          </a:stretch>
        </p:blipFill>
        <p:spPr>
          <a:xfrm>
            <a:off x="5047488" y="1753819"/>
            <a:ext cx="332842" cy="332842"/>
          </a:xfrm>
          <a:prstGeom prst="rect">
            <a:avLst/>
          </a:prstGeom>
        </p:spPr>
      </p:pic>
      <p:sp>
        <p:nvSpPr>
          <p:cNvPr id="21" name="Text 15"/>
          <p:cNvSpPr txBox="1"/>
          <p:nvPr/>
        </p:nvSpPr>
        <p:spPr>
          <a:xfrm>
            <a:off x="4656125"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4. Search lab data</a:t>
            </a:r>
            <a:endParaRPr lang="en-US" sz="1400" dirty="0"/>
          </a:p>
        </p:txBody>
      </p:sp>
      <p:sp>
        <p:nvSpPr>
          <p:cNvPr id="22" name="Text 16"/>
          <p:cNvSpPr txBox="1"/>
          <p:nvPr/>
        </p:nvSpPr>
        <p:spPr>
          <a:xfrm>
            <a:off x="4674413"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Finds the right facts</a:t>
            </a:r>
            <a:endParaRPr lang="en-US" sz="1200" dirty="0"/>
          </a:p>
        </p:txBody>
      </p:sp>
      <p:sp>
        <p:nvSpPr>
          <p:cNvPr id="23" name="Step 5"/>
          <p:cNvSpPr/>
          <p:nvPr/>
        </p:nvSpPr>
        <p:spPr>
          <a:xfrm>
            <a:off x="5958230" y="1417320"/>
            <a:ext cx="1261872" cy="2011680"/>
          </a:xfrm>
          <a:prstGeom prst="roundRect">
            <a:avLst>
              <a:gd name="adj" fmla="val 8696"/>
            </a:avLst>
          </a:prstGeom>
          <a:solidFill>
            <a:srgbClr val="EEF4FC"/>
          </a:solidFill>
          <a:ln w="12700">
            <a:solidFill>
              <a:srgbClr val="EEF4FC"/>
            </a:solidFill>
            <a:prstDash val="solid"/>
          </a:ln>
        </p:spPr>
      </p:sp>
      <p:sp>
        <p:nvSpPr>
          <p:cNvPr id="24" name="Step 5 circle"/>
          <p:cNvSpPr/>
          <p:nvPr/>
        </p:nvSpPr>
        <p:spPr>
          <a:xfrm>
            <a:off x="6269126" y="1600200"/>
            <a:ext cx="640080" cy="640080"/>
          </a:xfrm>
          <a:prstGeom prst="ellipse">
            <a:avLst/>
          </a:prstGeom>
          <a:solidFill>
            <a:srgbClr val="0078D8"/>
          </a:solidFill>
          <a:ln w="12700">
            <a:solidFill>
              <a:srgbClr val="0078D8"/>
            </a:solidFill>
            <a:prstDash val="solid"/>
          </a:ln>
        </p:spPr>
      </p:sp>
      <p:pic>
        <p:nvPicPr>
          <p:cNvPr id="25" name="Step 5 icon" descr="preencoded.png">    </p:cNvPr>
          <p:cNvPicPr>
            <a:picLocks noChangeAspect="1"/>
          </p:cNvPicPr>
          <p:nvPr/>
        </p:nvPicPr>
        <p:blipFill>
          <a:blip r:embed="rId5"/>
          <a:stretch>
            <a:fillRect/>
          </a:stretch>
        </p:blipFill>
        <p:spPr>
          <a:xfrm>
            <a:off x="6422746" y="1753819"/>
            <a:ext cx="332842" cy="332842"/>
          </a:xfrm>
          <a:prstGeom prst="rect">
            <a:avLst/>
          </a:prstGeom>
        </p:spPr>
      </p:pic>
      <p:sp>
        <p:nvSpPr>
          <p:cNvPr id="26" name="Text 19"/>
          <p:cNvSpPr txBox="1"/>
          <p:nvPr/>
        </p:nvSpPr>
        <p:spPr>
          <a:xfrm>
            <a:off x="6031382"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5. Local AI writes</a:t>
            </a:r>
            <a:endParaRPr lang="en-US" sz="1400" dirty="0"/>
          </a:p>
        </p:txBody>
      </p:sp>
      <p:sp>
        <p:nvSpPr>
          <p:cNvPr id="27" name="Text 20"/>
          <p:cNvSpPr txBox="1"/>
          <p:nvPr/>
        </p:nvSpPr>
        <p:spPr>
          <a:xfrm>
            <a:off x="6049670"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Gemma via Ollama</a:t>
            </a:r>
            <a:endParaRPr lang="en-US" sz="1200" dirty="0"/>
          </a:p>
        </p:txBody>
      </p:sp>
      <p:sp>
        <p:nvSpPr>
          <p:cNvPr id="28" name="Step 6"/>
          <p:cNvSpPr/>
          <p:nvPr/>
        </p:nvSpPr>
        <p:spPr>
          <a:xfrm>
            <a:off x="7333488" y="1417320"/>
            <a:ext cx="1261872" cy="2011680"/>
          </a:xfrm>
          <a:prstGeom prst="roundRect">
            <a:avLst>
              <a:gd name="adj" fmla="val 8696"/>
            </a:avLst>
          </a:prstGeom>
          <a:solidFill>
            <a:srgbClr val="EEF4FC"/>
          </a:solidFill>
          <a:ln w="12700">
            <a:solidFill>
              <a:srgbClr val="EEF4FC"/>
            </a:solidFill>
            <a:prstDash val="solid"/>
          </a:ln>
        </p:spPr>
      </p:sp>
      <p:sp>
        <p:nvSpPr>
          <p:cNvPr id="29" name="Step 6 circle"/>
          <p:cNvSpPr/>
          <p:nvPr/>
        </p:nvSpPr>
        <p:spPr>
          <a:xfrm>
            <a:off x="7644384" y="1600200"/>
            <a:ext cx="640080" cy="640080"/>
          </a:xfrm>
          <a:prstGeom prst="ellipse">
            <a:avLst/>
          </a:prstGeom>
          <a:solidFill>
            <a:srgbClr val="0040B8"/>
          </a:solidFill>
          <a:ln w="12700">
            <a:solidFill>
              <a:srgbClr val="0040B8"/>
            </a:solidFill>
            <a:prstDash val="solid"/>
          </a:ln>
        </p:spPr>
      </p:sp>
      <p:pic>
        <p:nvPicPr>
          <p:cNvPr id="30" name="Step 6 icon" descr="preencoded.png">    </p:cNvPr>
          <p:cNvPicPr>
            <a:picLocks noChangeAspect="1"/>
          </p:cNvPicPr>
          <p:nvPr/>
        </p:nvPicPr>
        <p:blipFill>
          <a:blip r:embed="rId6"/>
          <a:stretch>
            <a:fillRect/>
          </a:stretch>
        </p:blipFill>
        <p:spPr>
          <a:xfrm>
            <a:off x="7798003" y="1753819"/>
            <a:ext cx="332842" cy="332842"/>
          </a:xfrm>
          <a:prstGeom prst="rect">
            <a:avLst/>
          </a:prstGeom>
        </p:spPr>
      </p:pic>
      <p:sp>
        <p:nvSpPr>
          <p:cNvPr id="31" name="Text 23"/>
          <p:cNvSpPr txBox="1"/>
          <p:nvPr/>
        </p:nvSpPr>
        <p:spPr>
          <a:xfrm>
            <a:off x="7406640" y="2377440"/>
            <a:ext cx="1115568" cy="457200"/>
          </a:xfrm>
          <a:prstGeom prst="rect">
            <a:avLst/>
          </a:prstGeom>
          <a:noFill/>
          <a:ln/>
        </p:spPr>
        <p:txBody>
          <a:bodyPr wrap="square" lIns="0" tIns="0" rIns="0" bIns="0" rtlCol="0" anchor="t"/>
          <a:lstStyle/>
          <a:p>
            <a:pPr algn="ctr" indent="0" marL="0">
              <a:buNone/>
            </a:pPr>
            <a:r>
              <a:rPr lang="en-US" sz="1400" b="1" dirty="0">
                <a:solidFill>
                  <a:srgbClr val="001878"/>
                </a:solidFill>
                <a:latin typeface="Arial" pitchFamily="34" charset="0"/>
                <a:ea typeface="Arial" pitchFamily="34" charset="-122"/>
                <a:cs typeface="Arial" pitchFamily="34" charset="-120"/>
              </a:rPr>
              <a:t>6. Record</a:t>
            </a:r>
            <a:endParaRPr lang="en-US" sz="1400" dirty="0"/>
          </a:p>
        </p:txBody>
      </p:sp>
      <p:sp>
        <p:nvSpPr>
          <p:cNvPr id="32" name="Text 24"/>
          <p:cNvSpPr txBox="1"/>
          <p:nvPr/>
        </p:nvSpPr>
        <p:spPr>
          <a:xfrm>
            <a:off x="7424928" y="2834640"/>
            <a:ext cx="1078992" cy="502920"/>
          </a:xfrm>
          <a:prstGeom prst="rect">
            <a:avLst/>
          </a:prstGeom>
          <a:noFill/>
          <a:ln/>
        </p:spPr>
        <p:txBody>
          <a:bodyPr wrap="square" lIns="0" tIns="0" rIns="0" bIns="0" rtlCol="0" anchor="t"/>
          <a:lstStyle/>
          <a:p>
            <a:pPr algn="ctr" indent="0" marL="0">
              <a:buNone/>
            </a:pPr>
            <a:r>
              <a:rPr lang="en-US" sz="1200" dirty="0">
                <a:solidFill>
                  <a:srgbClr val="5A6478"/>
                </a:solidFill>
                <a:latin typeface="Calibri" pitchFamily="34" charset="0"/>
                <a:ea typeface="Calibri" pitchFamily="34" charset="-122"/>
                <a:cs typeface="Calibri" pitchFamily="34" charset="-120"/>
              </a:rPr>
              <a:t>Tracks what helped</a:t>
            </a:r>
            <a:endParaRPr lang="en-US" sz="1200" dirty="0"/>
          </a:p>
        </p:txBody>
      </p:sp>
      <p:sp>
        <p:nvSpPr>
          <p:cNvPr id="33" name="Text 25"/>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Built with  </a:t>
            </a:r>
            <a:pPr indent="0" marL="0">
              <a:buNone/>
            </a:pPr>
            <a:r>
              <a:rPr lang="en-US" sz="1400" b="1" dirty="0">
                <a:solidFill>
                  <a:srgbClr val="001878"/>
                </a:solidFill>
                <a:latin typeface="Calibri" pitchFamily="34" charset="0"/>
                <a:ea typeface="Calibri" pitchFamily="34" charset="-122"/>
                <a:cs typeface="Calibri" pitchFamily="34" charset="-120"/>
              </a:rPr>
              <a:t>Python · FastAPI · ChromaDB search · SQLite database · Ollama (Gemma 2)</a:t>
            </a:r>
            <a:endParaRPr lang="en-US" sz="1400" dirty="0"/>
          </a:p>
        </p:txBody>
      </p:sp>
      <p:sp>
        <p:nvSpPr>
          <p:cNvPr id="34" name="Text 26"/>
          <p:cNvSpPr txBox="1"/>
          <p:nvPr/>
        </p:nvSpPr>
        <p:spPr>
          <a:xfrm>
            <a:off x="457200" y="4206240"/>
            <a:ext cx="7680960" cy="365760"/>
          </a:xfrm>
          <a:prstGeom prst="rect">
            <a:avLst/>
          </a:prstGeom>
          <a:noFill/>
          <a:ln/>
        </p:spPr>
        <p:txBody>
          <a:bodyPr wrap="square" lIns="0" tIns="0" rIns="0" bIns="0" rtlCol="0" anchor="ctr"/>
          <a:lstStyle/>
          <a:p>
            <a:pPr indent="0" marL="0">
              <a:buNone/>
            </a:pPr>
            <a:r>
              <a:rPr lang="en-US" sz="1400" i="1" dirty="0">
                <a:solidFill>
                  <a:srgbClr val="0040B8"/>
                </a:solidFill>
                <a:latin typeface="Calibri" pitchFamily="34" charset="0"/>
                <a:ea typeface="Calibri" pitchFamily="34" charset="-122"/>
                <a:cs typeface="Calibri" pitchFamily="34" charset="-120"/>
              </a:rPr>
              <a:t>The wording is generated fresh each time, but the facts come from the lab's own files.</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Two kinds of memory, as in the paper</a:t>
            </a:r>
            <a:endParaRPr lang="en-US" sz="3000" dirty="0"/>
          </a:p>
        </p:txBody>
      </p:sp>
      <p:sp>
        <p:nvSpPr>
          <p:cNvPr id="3" name="Memory card 1"/>
          <p:cNvSpPr/>
          <p:nvPr/>
        </p:nvSpPr>
        <p:spPr>
          <a:xfrm>
            <a:off x="457200" y="1325880"/>
            <a:ext cx="2560320" cy="3200400"/>
          </a:xfrm>
          <a:prstGeom prst="roundRect">
            <a:avLst>
              <a:gd name="adj" fmla="val 4286"/>
            </a:avLst>
          </a:prstGeom>
          <a:solidFill>
            <a:srgbClr val="EEF4FC"/>
          </a:solidFill>
          <a:ln w="12700">
            <a:solidFill>
              <a:srgbClr val="EEF4FC"/>
            </a:solidFill>
            <a:prstDash val="solid"/>
          </a:ln>
        </p:spPr>
      </p:sp>
      <p:sp>
        <p:nvSpPr>
          <p:cNvPr id="4" name="Memory 1 circle"/>
          <p:cNvSpPr/>
          <p:nvPr/>
        </p:nvSpPr>
        <p:spPr>
          <a:xfrm>
            <a:off x="685800" y="1554480"/>
            <a:ext cx="640080" cy="640080"/>
          </a:xfrm>
          <a:prstGeom prst="ellipse">
            <a:avLst/>
          </a:prstGeom>
          <a:solidFill>
            <a:srgbClr val="0040B8"/>
          </a:solidFill>
          <a:ln w="12700">
            <a:solidFill>
              <a:srgbClr val="0040B8"/>
            </a:solidFill>
            <a:prstDash val="solid"/>
          </a:ln>
        </p:spPr>
      </p:sp>
      <p:pic>
        <p:nvPicPr>
          <p:cNvPr id="5" name="Memory 1 icon" descr="preencoded.png">    </p:cNvPr>
          <p:cNvPicPr>
            <a:picLocks noChangeAspect="1"/>
          </p:cNvPicPr>
          <p:nvPr/>
        </p:nvPicPr>
        <p:blipFill>
          <a:blip r:embed="rId1"/>
          <a:stretch>
            <a:fillRect/>
          </a:stretch>
        </p:blipFill>
        <p:spPr>
          <a:xfrm>
            <a:off x="839419" y="1708099"/>
            <a:ext cx="332842" cy="332842"/>
          </a:xfrm>
          <a:prstGeom prst="rect">
            <a:avLst/>
          </a:prstGeom>
        </p:spPr>
      </p:pic>
      <p:sp>
        <p:nvSpPr>
          <p:cNvPr id="6" name="Text 3"/>
          <p:cNvSpPr txBox="1"/>
          <p:nvPr/>
        </p:nvSpPr>
        <p:spPr>
          <a:xfrm>
            <a:off x="685800" y="2331720"/>
            <a:ext cx="21031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Intent calibration</a:t>
            </a:r>
            <a:endParaRPr lang="en-US" sz="1700" dirty="0"/>
          </a:p>
        </p:txBody>
      </p:sp>
      <p:sp>
        <p:nvSpPr>
          <p:cNvPr id="7" name="Text 4"/>
          <p:cNvSpPr txBox="1"/>
          <p:nvPr/>
        </p:nvSpPr>
        <p:spPr>
          <a:xfrm>
            <a:off x="685800" y="2697480"/>
            <a:ext cx="2103120" cy="32004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How you like to be helped</a:t>
            </a:r>
            <a:endParaRPr lang="en-US" sz="1400" dirty="0"/>
          </a:p>
        </p:txBody>
      </p:sp>
      <p:sp>
        <p:nvSpPr>
          <p:cNvPr id="8" name="Text 5"/>
          <p:cNvSpPr txBox="1"/>
          <p:nvPr/>
        </p:nvSpPr>
        <p:spPr>
          <a:xfrm>
            <a:off x="685800" y="3154680"/>
            <a:ext cx="2103120" cy="1188720"/>
          </a:xfrm>
          <a:prstGeom prst="rect">
            <a:avLst/>
          </a:prstGeom>
          <a:noFill/>
          <a:ln/>
        </p:spPr>
        <p:txBody>
          <a:bodyPr wrap="square" lIns="0" tIns="0" rIns="0" bIns="0" rtlCol="0" anchor="t"/>
          <a:lstStyle/>
          <a:p>
            <a:pPr indent="0" marL="0">
              <a:buNone/>
            </a:pPr>
            <a:r>
              <a:rPr lang="en-US" sz="1400" i="1" dirty="0">
                <a:solidFill>
                  <a:srgbClr val="1B2333"/>
                </a:solidFill>
                <a:latin typeface="Calibri" pitchFamily="34" charset="0"/>
                <a:ea typeface="Calibri" pitchFamily="34" charset="-122"/>
                <a:cs typeface="Calibri" pitchFamily="34" charset="-120"/>
              </a:rPr>
              <a:t>"From now on, keep answers to 3 bullet points"</a:t>
            </a:r>
            <a:endParaRPr lang="en-US" sz="1400" dirty="0"/>
          </a:p>
        </p:txBody>
      </p:sp>
      <p:sp>
        <p:nvSpPr>
          <p:cNvPr id="9" name="Memory card 2"/>
          <p:cNvSpPr/>
          <p:nvPr/>
        </p:nvSpPr>
        <p:spPr>
          <a:xfrm>
            <a:off x="3200400" y="1325880"/>
            <a:ext cx="2560320" cy="3200400"/>
          </a:xfrm>
          <a:prstGeom prst="roundRect">
            <a:avLst>
              <a:gd name="adj" fmla="val 4286"/>
            </a:avLst>
          </a:prstGeom>
          <a:solidFill>
            <a:srgbClr val="EEF4FC"/>
          </a:solidFill>
          <a:ln w="12700">
            <a:solidFill>
              <a:srgbClr val="EEF4FC"/>
            </a:solidFill>
            <a:prstDash val="solid"/>
          </a:ln>
        </p:spPr>
      </p:sp>
      <p:sp>
        <p:nvSpPr>
          <p:cNvPr id="10" name="Memory 2 circle"/>
          <p:cNvSpPr/>
          <p:nvPr/>
        </p:nvSpPr>
        <p:spPr>
          <a:xfrm>
            <a:off x="3429000" y="1554480"/>
            <a:ext cx="640080" cy="640080"/>
          </a:xfrm>
          <a:prstGeom prst="ellipse">
            <a:avLst/>
          </a:prstGeom>
          <a:solidFill>
            <a:srgbClr val="0078D8"/>
          </a:solidFill>
          <a:ln w="12700">
            <a:solidFill>
              <a:srgbClr val="0078D8"/>
            </a:solidFill>
            <a:prstDash val="solid"/>
          </a:ln>
        </p:spPr>
      </p:sp>
      <p:pic>
        <p:nvPicPr>
          <p:cNvPr id="11" name="Memory 2 icon" descr="preencoded.png">    </p:cNvPr>
          <p:cNvPicPr>
            <a:picLocks noChangeAspect="1"/>
          </p:cNvPicPr>
          <p:nvPr/>
        </p:nvPicPr>
        <p:blipFill>
          <a:blip r:embed="rId2"/>
          <a:stretch>
            <a:fillRect/>
          </a:stretch>
        </p:blipFill>
        <p:spPr>
          <a:xfrm>
            <a:off x="3582619" y="1708099"/>
            <a:ext cx="332842" cy="332842"/>
          </a:xfrm>
          <a:prstGeom prst="rect">
            <a:avLst/>
          </a:prstGeom>
        </p:spPr>
      </p:pic>
      <p:sp>
        <p:nvSpPr>
          <p:cNvPr id="12" name="Text 8"/>
          <p:cNvSpPr txBox="1"/>
          <p:nvPr/>
        </p:nvSpPr>
        <p:spPr>
          <a:xfrm>
            <a:off x="3429000" y="2331720"/>
            <a:ext cx="21031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Domain knowledge</a:t>
            </a:r>
            <a:endParaRPr lang="en-US" sz="1700" dirty="0"/>
          </a:p>
        </p:txBody>
      </p:sp>
      <p:sp>
        <p:nvSpPr>
          <p:cNvPr id="13" name="Text 9"/>
          <p:cNvSpPr txBox="1"/>
          <p:nvPr/>
        </p:nvSpPr>
        <p:spPr>
          <a:xfrm>
            <a:off x="3429000" y="2697480"/>
            <a:ext cx="2103120" cy="32004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Facts about you</a:t>
            </a:r>
            <a:endParaRPr lang="en-US" sz="1400" dirty="0"/>
          </a:p>
        </p:txBody>
      </p:sp>
      <p:sp>
        <p:nvSpPr>
          <p:cNvPr id="14" name="Text 10"/>
          <p:cNvSpPr txBox="1"/>
          <p:nvPr/>
        </p:nvSpPr>
        <p:spPr>
          <a:xfrm>
            <a:off x="3429000" y="3154680"/>
            <a:ext cx="2103120" cy="1188720"/>
          </a:xfrm>
          <a:prstGeom prst="rect">
            <a:avLst/>
          </a:prstGeom>
          <a:noFill/>
          <a:ln/>
        </p:spPr>
        <p:txBody>
          <a:bodyPr wrap="square" lIns="0" tIns="0" rIns="0" bIns="0" rtlCol="0" anchor="t"/>
          <a:lstStyle/>
          <a:p>
            <a:pPr indent="0" marL="0">
              <a:buNone/>
            </a:pPr>
            <a:r>
              <a:rPr lang="en-US" sz="1400" i="1" dirty="0">
                <a:solidFill>
                  <a:srgbClr val="1B2333"/>
                </a:solidFill>
                <a:latin typeface="Calibri" pitchFamily="34" charset="0"/>
                <a:ea typeface="Calibri" pitchFamily="34" charset="-122"/>
                <a:cs typeface="Calibri" pitchFamily="34" charset="-120"/>
              </a:rPr>
              <a:t>"I'm a Bachelor of IT student interested in agentic AI"</a:t>
            </a:r>
            <a:endParaRPr lang="en-US" sz="1400" dirty="0"/>
          </a:p>
        </p:txBody>
      </p:sp>
      <p:sp>
        <p:nvSpPr>
          <p:cNvPr id="15" name="Text 11"/>
          <p:cNvSpPr txBox="1"/>
          <p:nvPr/>
        </p:nvSpPr>
        <p:spPr>
          <a:xfrm>
            <a:off x="5989320" y="1371600"/>
            <a:ext cx="274320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The user stays in control</a:t>
            </a:r>
            <a:endParaRPr lang="en-US" sz="1700" dirty="0"/>
          </a:p>
        </p:txBody>
      </p:sp>
      <p:sp>
        <p:nvSpPr>
          <p:cNvPr id="16" name="Text 12"/>
          <p:cNvSpPr txBox="1"/>
          <p:nvPr/>
        </p:nvSpPr>
        <p:spPr>
          <a:xfrm>
            <a:off x="5989320" y="1828800"/>
            <a:ext cx="274320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B2333"/>
                </a:solidFill>
                <a:latin typeface="Calibri" pitchFamily="34" charset="0"/>
                <a:ea typeface="Calibri" pitchFamily="34" charset="-122"/>
                <a:cs typeface="Calibri" pitchFamily="34" charset="-120"/>
              </a:rPr>
              <a:t>Memory is off until the user turns it on</a:t>
            </a:r>
            <a:endParaRPr lang="en-US" sz="1400" dirty="0"/>
          </a:p>
          <a:p>
            <a:pPr marL="342900" indent="-342900">
              <a:spcAft>
                <a:spcPts val="1000"/>
              </a:spcAft>
              <a:buSzPct val="100000"/>
              <a:buChar char="•"/>
            </a:pPr>
            <a:r>
              <a:rPr lang="en-US" sz="1400" dirty="0">
                <a:solidFill>
                  <a:srgbClr val="1B2333"/>
                </a:solidFill>
                <a:latin typeface="Calibri" pitchFamily="34" charset="0"/>
                <a:ea typeface="Calibri" pitchFamily="34" charset="-122"/>
                <a:cs typeface="Calibri" pitchFamily="34" charset="-120"/>
              </a:rPr>
              <a:t>They can see, edit, pause or delete every memory</a:t>
            </a:r>
            <a:endParaRPr lang="en-US" sz="1400" dirty="0"/>
          </a:p>
          <a:p>
            <a:pPr marL="342900" indent="-342900">
              <a:spcAft>
                <a:spcPts val="1000"/>
              </a:spcAft>
              <a:buSzPct val="100000"/>
              <a:buChar char="•"/>
            </a:pPr>
            <a:r>
              <a:rPr lang="en-US" sz="1400" dirty="0">
                <a:solidFill>
                  <a:srgbClr val="1B2333"/>
                </a:solidFill>
                <a:latin typeface="Calibri" pitchFamily="34" charset="0"/>
                <a:ea typeface="Calibri" pitchFamily="34" charset="-122"/>
                <a:cs typeface="Calibri" pitchFamily="34" charset="-120"/>
              </a:rPr>
              <a:t>Memories that keep getting corrected, or never get used, switch themselves off</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Safety and privacy are built in</a:t>
            </a:r>
            <a:endParaRPr lang="en-US" sz="3000" dirty="0"/>
          </a:p>
        </p:txBody>
      </p:sp>
      <p:sp>
        <p:nvSpPr>
          <p:cNvPr id="3" name="Safety 1 circle"/>
          <p:cNvSpPr/>
          <p:nvPr/>
        </p:nvSpPr>
        <p:spPr>
          <a:xfrm>
            <a:off x="457200" y="1325880"/>
            <a:ext cx="548640" cy="548640"/>
          </a:xfrm>
          <a:prstGeom prst="ellipse">
            <a:avLst/>
          </a:prstGeom>
          <a:solidFill>
            <a:srgbClr val="EEF4FC"/>
          </a:solidFill>
          <a:ln w="12700">
            <a:solidFill>
              <a:srgbClr val="EEF4FC"/>
            </a:solidFill>
            <a:prstDash val="solid"/>
          </a:ln>
        </p:spPr>
      </p:sp>
      <p:pic>
        <p:nvPicPr>
          <p:cNvPr id="4" name="Safety 1 icon" descr="preencoded.png">    </p:cNvPr>
          <p:cNvPicPr>
            <a:picLocks noChangeAspect="1"/>
          </p:cNvPicPr>
          <p:nvPr/>
        </p:nvPicPr>
        <p:blipFill>
          <a:blip r:embed="rId1"/>
          <a:stretch>
            <a:fillRect/>
          </a:stretch>
        </p:blipFill>
        <p:spPr>
          <a:xfrm>
            <a:off x="588874" y="1457554"/>
            <a:ext cx="285293" cy="285293"/>
          </a:xfrm>
          <a:prstGeom prst="rect">
            <a:avLst/>
          </a:prstGeom>
        </p:spPr>
      </p:pic>
      <p:sp>
        <p:nvSpPr>
          <p:cNvPr id="5" name="Text 2"/>
          <p:cNvSpPr txBox="1"/>
          <p:nvPr/>
        </p:nvSpPr>
        <p:spPr>
          <a:xfrm>
            <a:off x="1143000" y="134416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Blocks trick prompts</a:t>
            </a:r>
            <a:endParaRPr lang="en-US" sz="1500" dirty="0"/>
          </a:p>
        </p:txBody>
      </p:sp>
      <p:sp>
        <p:nvSpPr>
          <p:cNvPr id="6" name="Text 3"/>
          <p:cNvSpPr txBox="1"/>
          <p:nvPr/>
        </p:nvSpPr>
        <p:spPr>
          <a:xfrm>
            <a:off x="1143000" y="189280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Attempts to reveal its instructions get a polite refusal</a:t>
            </a:r>
            <a:endParaRPr lang="en-US" sz="1300" dirty="0"/>
          </a:p>
        </p:txBody>
      </p:sp>
      <p:sp>
        <p:nvSpPr>
          <p:cNvPr id="7" name="Safety 2 circle"/>
          <p:cNvSpPr/>
          <p:nvPr/>
        </p:nvSpPr>
        <p:spPr>
          <a:xfrm>
            <a:off x="3246120" y="1325880"/>
            <a:ext cx="548640" cy="548640"/>
          </a:xfrm>
          <a:prstGeom prst="ellipse">
            <a:avLst/>
          </a:prstGeom>
          <a:solidFill>
            <a:srgbClr val="EEF4FC"/>
          </a:solidFill>
          <a:ln w="12700">
            <a:solidFill>
              <a:srgbClr val="EEF4FC"/>
            </a:solidFill>
            <a:prstDash val="solid"/>
          </a:ln>
        </p:spPr>
      </p:sp>
      <p:pic>
        <p:nvPicPr>
          <p:cNvPr id="8" name="Safety 2 icon" descr="preencoded.png">    </p:cNvPr>
          <p:cNvPicPr>
            <a:picLocks noChangeAspect="1"/>
          </p:cNvPicPr>
          <p:nvPr/>
        </p:nvPicPr>
        <p:blipFill>
          <a:blip r:embed="rId2"/>
          <a:stretch>
            <a:fillRect/>
          </a:stretch>
        </p:blipFill>
        <p:spPr>
          <a:xfrm>
            <a:off x="3377794" y="1457554"/>
            <a:ext cx="285293" cy="285293"/>
          </a:xfrm>
          <a:prstGeom prst="rect">
            <a:avLst/>
          </a:prstGeom>
        </p:spPr>
      </p:pic>
      <p:sp>
        <p:nvSpPr>
          <p:cNvPr id="9" name="Text 5"/>
          <p:cNvSpPr txBox="1"/>
          <p:nvPr/>
        </p:nvSpPr>
        <p:spPr>
          <a:xfrm>
            <a:off x="3931920" y="134416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Responds with care</a:t>
            </a:r>
            <a:endParaRPr lang="en-US" sz="1500" dirty="0"/>
          </a:p>
        </p:txBody>
      </p:sp>
      <p:sp>
        <p:nvSpPr>
          <p:cNvPr id="10" name="Text 6"/>
          <p:cNvSpPr txBox="1"/>
          <p:nvPr/>
        </p:nvSpPr>
        <p:spPr>
          <a:xfrm>
            <a:off x="3931920" y="189280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Messages showing distress get Lifeline 13 11 14 instead</a:t>
            </a:r>
            <a:endParaRPr lang="en-US" sz="1300" dirty="0"/>
          </a:p>
        </p:txBody>
      </p:sp>
      <p:sp>
        <p:nvSpPr>
          <p:cNvPr id="11" name="Safety 3 circle"/>
          <p:cNvSpPr/>
          <p:nvPr/>
        </p:nvSpPr>
        <p:spPr>
          <a:xfrm>
            <a:off x="6035040" y="1325880"/>
            <a:ext cx="548640" cy="548640"/>
          </a:xfrm>
          <a:prstGeom prst="ellipse">
            <a:avLst/>
          </a:prstGeom>
          <a:solidFill>
            <a:srgbClr val="EEF4FC"/>
          </a:solidFill>
          <a:ln w="12700">
            <a:solidFill>
              <a:srgbClr val="EEF4FC"/>
            </a:solidFill>
            <a:prstDash val="solid"/>
          </a:ln>
        </p:spPr>
      </p:sp>
      <p:pic>
        <p:nvPicPr>
          <p:cNvPr id="12" name="Safety 3 icon" descr="preencoded.png">    </p:cNvPr>
          <p:cNvPicPr>
            <a:picLocks noChangeAspect="1"/>
          </p:cNvPicPr>
          <p:nvPr/>
        </p:nvPicPr>
        <p:blipFill>
          <a:blip r:embed="rId3"/>
          <a:stretch>
            <a:fillRect/>
          </a:stretch>
        </p:blipFill>
        <p:spPr>
          <a:xfrm>
            <a:off x="6166714" y="1457554"/>
            <a:ext cx="285293" cy="285293"/>
          </a:xfrm>
          <a:prstGeom prst="rect">
            <a:avLst/>
          </a:prstGeom>
        </p:spPr>
      </p:pic>
      <p:sp>
        <p:nvSpPr>
          <p:cNvPr id="13" name="Text 8"/>
          <p:cNvSpPr txBox="1"/>
          <p:nvPr/>
        </p:nvSpPr>
        <p:spPr>
          <a:xfrm>
            <a:off x="6720840" y="134416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Consent for research</a:t>
            </a:r>
            <a:endParaRPr lang="en-US" sz="1500" dirty="0"/>
          </a:p>
        </p:txBody>
      </p:sp>
      <p:sp>
        <p:nvSpPr>
          <p:cNvPr id="14" name="Text 9"/>
          <p:cNvSpPr txBox="1"/>
          <p:nvPr/>
        </p:nvSpPr>
        <p:spPr>
          <a:xfrm>
            <a:off x="6720840" y="189280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Only people who agree are logged, and they can withdraw</a:t>
            </a:r>
            <a:endParaRPr lang="en-US" sz="1300" dirty="0"/>
          </a:p>
        </p:txBody>
      </p:sp>
      <p:sp>
        <p:nvSpPr>
          <p:cNvPr id="15" name="Safety 4 circle"/>
          <p:cNvSpPr/>
          <p:nvPr/>
        </p:nvSpPr>
        <p:spPr>
          <a:xfrm>
            <a:off x="457200" y="2971800"/>
            <a:ext cx="548640" cy="548640"/>
          </a:xfrm>
          <a:prstGeom prst="ellipse">
            <a:avLst/>
          </a:prstGeom>
          <a:solidFill>
            <a:srgbClr val="EEF4FC"/>
          </a:solidFill>
          <a:ln w="12700">
            <a:solidFill>
              <a:srgbClr val="EEF4FC"/>
            </a:solidFill>
            <a:prstDash val="solid"/>
          </a:ln>
        </p:spPr>
      </p:sp>
      <p:pic>
        <p:nvPicPr>
          <p:cNvPr id="16" name="Safety 4 icon" descr="preencoded.png">    </p:cNvPr>
          <p:cNvPicPr>
            <a:picLocks noChangeAspect="1"/>
          </p:cNvPicPr>
          <p:nvPr/>
        </p:nvPicPr>
        <p:blipFill>
          <a:blip r:embed="rId4"/>
          <a:stretch>
            <a:fillRect/>
          </a:stretch>
        </p:blipFill>
        <p:spPr>
          <a:xfrm>
            <a:off x="588874" y="3103474"/>
            <a:ext cx="285293" cy="285293"/>
          </a:xfrm>
          <a:prstGeom prst="rect">
            <a:avLst/>
          </a:prstGeom>
        </p:spPr>
      </p:pic>
      <p:sp>
        <p:nvSpPr>
          <p:cNvPr id="17" name="Text 11"/>
          <p:cNvSpPr txBox="1"/>
          <p:nvPr/>
        </p:nvSpPr>
        <p:spPr>
          <a:xfrm>
            <a:off x="1143000" y="299008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Stays on the computer</a:t>
            </a:r>
            <a:endParaRPr lang="en-US" sz="1500" dirty="0"/>
          </a:p>
        </p:txBody>
      </p:sp>
      <p:sp>
        <p:nvSpPr>
          <p:cNvPr id="18" name="Text 12"/>
          <p:cNvSpPr txBox="1"/>
          <p:nvPr/>
        </p:nvSpPr>
        <p:spPr>
          <a:xfrm>
            <a:off x="1143000" y="353872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The AI model runs locally, so chats are not sent to a company</a:t>
            </a:r>
            <a:endParaRPr lang="en-US" sz="1300" dirty="0"/>
          </a:p>
        </p:txBody>
      </p:sp>
      <p:sp>
        <p:nvSpPr>
          <p:cNvPr id="19" name="Safety 5 circle"/>
          <p:cNvSpPr/>
          <p:nvPr/>
        </p:nvSpPr>
        <p:spPr>
          <a:xfrm>
            <a:off x="3246120" y="2971800"/>
            <a:ext cx="548640" cy="548640"/>
          </a:xfrm>
          <a:prstGeom prst="ellipse">
            <a:avLst/>
          </a:prstGeom>
          <a:solidFill>
            <a:srgbClr val="EEF4FC"/>
          </a:solidFill>
          <a:ln w="12700">
            <a:solidFill>
              <a:srgbClr val="EEF4FC"/>
            </a:solidFill>
            <a:prstDash val="solid"/>
          </a:ln>
        </p:spPr>
      </p:sp>
      <p:pic>
        <p:nvPicPr>
          <p:cNvPr id="20" name="Safety 5 icon" descr="preencoded.png">    </p:cNvPr>
          <p:cNvPicPr>
            <a:picLocks noChangeAspect="1"/>
          </p:cNvPicPr>
          <p:nvPr/>
        </p:nvPicPr>
        <p:blipFill>
          <a:blip r:embed="rId5"/>
          <a:stretch>
            <a:fillRect/>
          </a:stretch>
        </p:blipFill>
        <p:spPr>
          <a:xfrm>
            <a:off x="3377794" y="3103474"/>
            <a:ext cx="285293" cy="285293"/>
          </a:xfrm>
          <a:prstGeom prst="rect">
            <a:avLst/>
          </a:prstGeom>
        </p:spPr>
      </p:pic>
      <p:sp>
        <p:nvSpPr>
          <p:cNvPr id="21" name="Text 14"/>
          <p:cNvSpPr txBox="1"/>
          <p:nvPr/>
        </p:nvSpPr>
        <p:spPr>
          <a:xfrm>
            <a:off x="3931920" y="299008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Synthetic data only</a:t>
            </a:r>
            <a:endParaRPr lang="en-US" sz="1500" dirty="0"/>
          </a:p>
        </p:txBody>
      </p:sp>
      <p:sp>
        <p:nvSpPr>
          <p:cNvPr id="22" name="Text 15"/>
          <p:cNvSpPr txBox="1"/>
          <p:nvPr/>
        </p:nvSpPr>
        <p:spPr>
          <a:xfrm>
            <a:off x="3931920" y="353872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Marked as demo data until ethics approval is confirmed</a:t>
            </a:r>
            <a:endParaRPr lang="en-US" sz="1300" dirty="0"/>
          </a:p>
        </p:txBody>
      </p:sp>
      <p:sp>
        <p:nvSpPr>
          <p:cNvPr id="23" name="Safety 6 circle"/>
          <p:cNvSpPr/>
          <p:nvPr/>
        </p:nvSpPr>
        <p:spPr>
          <a:xfrm>
            <a:off x="6035040" y="2971800"/>
            <a:ext cx="548640" cy="548640"/>
          </a:xfrm>
          <a:prstGeom prst="ellipse">
            <a:avLst/>
          </a:prstGeom>
          <a:solidFill>
            <a:srgbClr val="EEF4FC"/>
          </a:solidFill>
          <a:ln w="12700">
            <a:solidFill>
              <a:srgbClr val="EEF4FC"/>
            </a:solidFill>
            <a:prstDash val="solid"/>
          </a:ln>
        </p:spPr>
      </p:sp>
      <p:pic>
        <p:nvPicPr>
          <p:cNvPr id="24" name="Safety 6 icon" descr="preencoded.png">    </p:cNvPr>
          <p:cNvPicPr>
            <a:picLocks noChangeAspect="1"/>
          </p:cNvPicPr>
          <p:nvPr/>
        </p:nvPicPr>
        <p:blipFill>
          <a:blip r:embed="rId6"/>
          <a:stretch>
            <a:fillRect/>
          </a:stretch>
        </p:blipFill>
        <p:spPr>
          <a:xfrm>
            <a:off x="6166714" y="3103474"/>
            <a:ext cx="285293" cy="285293"/>
          </a:xfrm>
          <a:prstGeom prst="rect">
            <a:avLst/>
          </a:prstGeom>
        </p:spPr>
      </p:pic>
      <p:sp>
        <p:nvSpPr>
          <p:cNvPr id="25" name="Text 17"/>
          <p:cNvSpPr txBox="1"/>
          <p:nvPr/>
        </p:nvSpPr>
        <p:spPr>
          <a:xfrm>
            <a:off x="6720840" y="2990088"/>
            <a:ext cx="1965960" cy="50292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Rate limits</a:t>
            </a:r>
            <a:endParaRPr lang="en-US" sz="1500" dirty="0"/>
          </a:p>
        </p:txBody>
      </p:sp>
      <p:sp>
        <p:nvSpPr>
          <p:cNvPr id="26" name="Text 18"/>
          <p:cNvSpPr txBox="1"/>
          <p:nvPr/>
        </p:nvSpPr>
        <p:spPr>
          <a:xfrm>
            <a:off x="6720840" y="3538728"/>
            <a:ext cx="19659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Stops anyone flooding the chatbot with messages</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Measuring it: dashboard and testing</a:t>
            </a:r>
            <a:endParaRPr lang="en-US" sz="3000" dirty="0"/>
          </a:p>
        </p:txBody>
      </p:sp>
      <p:sp>
        <p:nvSpPr>
          <p:cNvPr id="3" name="Stat 1"/>
          <p:cNvSpPr/>
          <p:nvPr/>
        </p:nvSpPr>
        <p:spPr>
          <a:xfrm>
            <a:off x="457200" y="1325880"/>
            <a:ext cx="2606040" cy="2377440"/>
          </a:xfrm>
          <a:prstGeom prst="roundRect">
            <a:avLst>
              <a:gd name="adj" fmla="val 4615"/>
            </a:avLst>
          </a:prstGeom>
          <a:solidFill>
            <a:srgbClr val="001878"/>
          </a:solidFill>
          <a:ln w="12700">
            <a:solidFill>
              <a:srgbClr val="001878"/>
            </a:solidFill>
            <a:prstDash val="solid"/>
          </a:ln>
        </p:spPr>
      </p:sp>
      <p:sp>
        <p:nvSpPr>
          <p:cNvPr id="4" name="Text 2"/>
          <p:cNvSpPr txBox="1"/>
          <p:nvPr/>
        </p:nvSpPr>
        <p:spPr>
          <a:xfrm>
            <a:off x="685800" y="1508760"/>
            <a:ext cx="2194560" cy="777240"/>
          </a:xfrm>
          <a:prstGeom prst="rect">
            <a:avLst/>
          </a:prstGeom>
          <a:noFill/>
          <a:ln/>
        </p:spPr>
        <p:txBody>
          <a:bodyPr wrap="square" lIns="0" tIns="0" rIns="0" bIns="0" rtlCol="0" anchor="ctr"/>
          <a:lstStyle/>
          <a:p>
            <a:pPr indent="0" marL="0">
              <a:buNone/>
            </a:pPr>
            <a:r>
              <a:rPr lang="en-US" sz="4400" b="1" dirty="0">
                <a:solidFill>
                  <a:srgbClr val="00D4F0"/>
                </a:solidFill>
                <a:latin typeface="Arial" pitchFamily="34" charset="0"/>
                <a:ea typeface="Arial" pitchFamily="34" charset="-122"/>
                <a:cs typeface="Arial" pitchFamily="34" charset="-120"/>
              </a:rPr>
              <a:t>3.4 : 1</a:t>
            </a:r>
            <a:endParaRPr lang="en-US" sz="4400" dirty="0"/>
          </a:p>
        </p:txBody>
      </p:sp>
      <p:sp>
        <p:nvSpPr>
          <p:cNvPr id="5" name="Text 3"/>
          <p:cNvSpPr txBox="1"/>
          <p:nvPr/>
        </p:nvSpPr>
        <p:spPr>
          <a:xfrm>
            <a:off x="685800" y="233172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Reuse ratio target</a:t>
            </a:r>
            <a:endParaRPr lang="en-US" sz="1600" dirty="0"/>
          </a:p>
        </p:txBody>
      </p:sp>
      <p:sp>
        <p:nvSpPr>
          <p:cNvPr id="6" name="Text 4"/>
          <p:cNvSpPr txBox="1"/>
          <p:nvPr/>
        </p:nvSpPr>
        <p:spPr>
          <a:xfrm>
            <a:off x="685800" y="2743200"/>
            <a:ext cx="2194560" cy="868680"/>
          </a:xfrm>
          <a:prstGeom prst="rect">
            <a:avLst/>
          </a:prstGeom>
          <a:noFill/>
          <a:ln/>
        </p:spPr>
        <p:txBody>
          <a:bodyPr wrap="square" lIns="0" tIns="0" rIns="0" bIns="0" rtlCol="0" anchor="t"/>
          <a:lstStyle/>
          <a:p>
            <a:pPr indent="0" marL="0">
              <a:buNone/>
            </a:pPr>
            <a:r>
              <a:rPr lang="en-US" sz="1300" dirty="0">
                <a:solidFill>
                  <a:srgbClr val="BFD4F2"/>
                </a:solidFill>
                <a:latin typeface="Calibri" pitchFamily="34" charset="0"/>
                <a:ea typeface="Calibri" pitchFamily="34" charset="-122"/>
                <a:cs typeface="Calibri" pitchFamily="34" charset="-120"/>
              </a:rPr>
              <a:t>The admin dashboard compares the app's own ratio with the paper's finding</a:t>
            </a:r>
            <a:endParaRPr lang="en-US" sz="1300" dirty="0"/>
          </a:p>
        </p:txBody>
      </p:sp>
      <p:sp>
        <p:nvSpPr>
          <p:cNvPr id="7" name="Stat 2"/>
          <p:cNvSpPr/>
          <p:nvPr/>
        </p:nvSpPr>
        <p:spPr>
          <a:xfrm>
            <a:off x="3246120" y="1325880"/>
            <a:ext cx="2606040" cy="2377440"/>
          </a:xfrm>
          <a:prstGeom prst="roundRect">
            <a:avLst>
              <a:gd name="adj" fmla="val 4615"/>
            </a:avLst>
          </a:prstGeom>
          <a:solidFill>
            <a:srgbClr val="EEF4FC"/>
          </a:solidFill>
          <a:ln w="12700">
            <a:solidFill>
              <a:srgbClr val="EEF4FC"/>
            </a:solidFill>
            <a:prstDash val="solid"/>
          </a:ln>
        </p:spPr>
      </p:sp>
      <p:sp>
        <p:nvSpPr>
          <p:cNvPr id="8" name="Text 6"/>
          <p:cNvSpPr txBox="1"/>
          <p:nvPr/>
        </p:nvSpPr>
        <p:spPr>
          <a:xfrm>
            <a:off x="3474720" y="1508760"/>
            <a:ext cx="2194560" cy="777240"/>
          </a:xfrm>
          <a:prstGeom prst="rect">
            <a:avLst/>
          </a:prstGeom>
          <a:noFill/>
          <a:ln/>
        </p:spPr>
        <p:txBody>
          <a:bodyPr wrap="square" lIns="0" tIns="0" rIns="0" bIns="0" rtlCol="0" anchor="ctr"/>
          <a:lstStyle/>
          <a:p>
            <a:pPr indent="0" marL="0">
              <a:buNone/>
            </a:pPr>
            <a:r>
              <a:rPr lang="en-US" sz="4400" b="1" dirty="0">
                <a:solidFill>
                  <a:srgbClr val="0040B8"/>
                </a:solidFill>
                <a:latin typeface="Arial" pitchFamily="34" charset="0"/>
                <a:ea typeface="Arial" pitchFamily="34" charset="-122"/>
                <a:cs typeface="Arial" pitchFamily="34" charset="-120"/>
              </a:rPr>
              <a:t>39</a:t>
            </a:r>
            <a:endParaRPr lang="en-US" sz="4400" dirty="0"/>
          </a:p>
        </p:txBody>
      </p:sp>
      <p:sp>
        <p:nvSpPr>
          <p:cNvPr id="9" name="Text 7"/>
          <p:cNvSpPr txBox="1"/>
          <p:nvPr/>
        </p:nvSpPr>
        <p:spPr>
          <a:xfrm>
            <a:off x="3474720" y="2331720"/>
            <a:ext cx="2194560" cy="365760"/>
          </a:xfrm>
          <a:prstGeom prst="rect">
            <a:avLst/>
          </a:prstGeom>
          <a:noFill/>
          <a:ln/>
        </p:spPr>
        <p:txBody>
          <a:bodyPr wrap="square" lIns="0" tIns="0" rIns="0" bIns="0" rtlCol="0" anchor="ctr"/>
          <a:lstStyle/>
          <a:p>
            <a:pPr indent="0" marL="0">
              <a:buNone/>
            </a:pPr>
            <a:r>
              <a:rPr lang="en-US" sz="1600" b="1" dirty="0">
                <a:solidFill>
                  <a:srgbClr val="001878"/>
                </a:solidFill>
                <a:latin typeface="Arial" pitchFamily="34" charset="0"/>
                <a:ea typeface="Arial" pitchFamily="34" charset="-122"/>
                <a:cs typeface="Arial" pitchFamily="34" charset="-120"/>
              </a:rPr>
              <a:t>Evaluation questions</a:t>
            </a:r>
            <a:endParaRPr lang="en-US" sz="1600" dirty="0"/>
          </a:p>
        </p:txBody>
      </p:sp>
      <p:sp>
        <p:nvSpPr>
          <p:cNvPr id="10" name="Text 8"/>
          <p:cNvSpPr txBox="1"/>
          <p:nvPr/>
        </p:nvSpPr>
        <p:spPr>
          <a:xfrm>
            <a:off x="3474720" y="2743200"/>
            <a:ext cx="21945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Facts, memory, guardrails and consent, scored automatically</a:t>
            </a:r>
            <a:endParaRPr lang="en-US" sz="1300" dirty="0"/>
          </a:p>
        </p:txBody>
      </p:sp>
      <p:sp>
        <p:nvSpPr>
          <p:cNvPr id="11" name="Stat 3"/>
          <p:cNvSpPr/>
          <p:nvPr/>
        </p:nvSpPr>
        <p:spPr>
          <a:xfrm>
            <a:off x="6035040" y="1325880"/>
            <a:ext cx="2606040" cy="2377440"/>
          </a:xfrm>
          <a:prstGeom prst="roundRect">
            <a:avLst>
              <a:gd name="adj" fmla="val 4615"/>
            </a:avLst>
          </a:prstGeom>
          <a:solidFill>
            <a:srgbClr val="EEF4FC"/>
          </a:solidFill>
          <a:ln w="12700">
            <a:solidFill>
              <a:srgbClr val="EEF4FC"/>
            </a:solidFill>
            <a:prstDash val="solid"/>
          </a:ln>
        </p:spPr>
      </p:sp>
      <p:sp>
        <p:nvSpPr>
          <p:cNvPr id="12" name="Text 10"/>
          <p:cNvSpPr txBox="1"/>
          <p:nvPr/>
        </p:nvSpPr>
        <p:spPr>
          <a:xfrm>
            <a:off x="6263640" y="1508760"/>
            <a:ext cx="2194560" cy="777240"/>
          </a:xfrm>
          <a:prstGeom prst="rect">
            <a:avLst/>
          </a:prstGeom>
          <a:noFill/>
          <a:ln/>
        </p:spPr>
        <p:txBody>
          <a:bodyPr wrap="square" lIns="0" tIns="0" rIns="0" bIns="0" rtlCol="0" anchor="ctr"/>
          <a:lstStyle/>
          <a:p>
            <a:pPr indent="0" marL="0">
              <a:buNone/>
            </a:pPr>
            <a:r>
              <a:rPr lang="en-US" sz="3000" b="1" dirty="0">
                <a:solidFill>
                  <a:srgbClr val="0040B8"/>
                </a:solidFill>
                <a:latin typeface="Arial" pitchFamily="34" charset="0"/>
                <a:ea typeface="Arial" pitchFamily="34" charset="-122"/>
                <a:cs typeface="Arial" pitchFamily="34" charset="-120"/>
              </a:rPr>
              <a:t>Simulated</a:t>
            </a:r>
            <a:endParaRPr lang="en-US" sz="3000" dirty="0"/>
          </a:p>
        </p:txBody>
      </p:sp>
      <p:sp>
        <p:nvSpPr>
          <p:cNvPr id="13" name="Text 11"/>
          <p:cNvSpPr txBox="1"/>
          <p:nvPr/>
        </p:nvSpPr>
        <p:spPr>
          <a:xfrm>
            <a:off x="6263640" y="2331720"/>
            <a:ext cx="2194560" cy="365760"/>
          </a:xfrm>
          <a:prstGeom prst="rect">
            <a:avLst/>
          </a:prstGeom>
          <a:noFill/>
          <a:ln/>
        </p:spPr>
        <p:txBody>
          <a:bodyPr wrap="square" lIns="0" tIns="0" rIns="0" bIns="0" rtlCol="0" anchor="ctr"/>
          <a:lstStyle/>
          <a:p>
            <a:pPr indent="0" marL="0">
              <a:buNone/>
            </a:pPr>
            <a:r>
              <a:rPr lang="en-US" sz="1600" b="1" dirty="0">
                <a:solidFill>
                  <a:srgbClr val="001878"/>
                </a:solidFill>
                <a:latin typeface="Arial" pitchFamily="34" charset="0"/>
                <a:ea typeface="Arial" pitchFamily="34" charset="-122"/>
                <a:cs typeface="Arial" pitchFamily="34" charset="-120"/>
              </a:rPr>
              <a:t>Synthetic users</a:t>
            </a:r>
            <a:endParaRPr lang="en-US" sz="1600" dirty="0"/>
          </a:p>
        </p:txBody>
      </p:sp>
      <p:sp>
        <p:nvSpPr>
          <p:cNvPr id="14" name="Text 12"/>
          <p:cNvSpPr txBox="1"/>
          <p:nvPr/>
        </p:nvSpPr>
        <p:spPr>
          <a:xfrm>
            <a:off x="6263640" y="2743200"/>
            <a:ext cx="2194560" cy="86868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Test the full learning loop without any real participant data</a:t>
            </a:r>
            <a:endParaRPr lang="en-US" sz="1300" dirty="0"/>
          </a:p>
        </p:txBody>
      </p:sp>
      <p:sp>
        <p:nvSpPr>
          <p:cNvPr id="15" name="Text 13"/>
          <p:cNvSpPr txBox="1"/>
          <p:nvPr/>
        </p:nvSpPr>
        <p:spPr>
          <a:xfrm>
            <a:off x="457200" y="3931920"/>
            <a:ext cx="8138160" cy="54864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The dashboard also shows which memories helped, which were corrected and which were switched off, using pseudonyms only, with CSV export.</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685800"/>
          </a:xfrm>
          <a:prstGeom prst="rect">
            <a:avLst/>
          </a:prstGeom>
          <a:noFill/>
          <a:ln/>
        </p:spPr>
        <p:txBody>
          <a:bodyPr wrap="square" lIns="0" tIns="0" rIns="0" bIns="0" rtlCol="0" anchor="ctr"/>
          <a:lstStyle/>
          <a:p>
            <a:pPr algn="l" indent="0" marL="0">
              <a:buNone/>
            </a:pPr>
            <a:r>
              <a:rPr lang="en-US" sz="3000" b="1" dirty="0">
                <a:solidFill>
                  <a:schemeClr val="tx2"/>
                </a:solidFill>
              </a:rPr>
              <a:t>Where it stands and what's next</a:t>
            </a:r>
            <a:endParaRPr lang="en-US" sz="3000" dirty="0"/>
          </a:p>
        </p:txBody>
      </p:sp>
      <p:sp>
        <p:nvSpPr>
          <p:cNvPr id="3" name="Column 1"/>
          <p:cNvSpPr/>
          <p:nvPr/>
        </p:nvSpPr>
        <p:spPr>
          <a:xfrm>
            <a:off x="457200" y="1325880"/>
            <a:ext cx="4023360" cy="3200400"/>
          </a:xfrm>
          <a:prstGeom prst="roundRect">
            <a:avLst>
              <a:gd name="adj" fmla="val 3429"/>
            </a:avLst>
          </a:prstGeom>
          <a:solidFill>
            <a:srgbClr val="EEF4FC"/>
          </a:solidFill>
          <a:ln w="12700">
            <a:solidFill>
              <a:srgbClr val="EEF4FC"/>
            </a:solidFill>
            <a:prstDash val="solid"/>
          </a:ln>
        </p:spPr>
      </p:sp>
      <p:sp>
        <p:nvSpPr>
          <p:cNvPr id="4" name="Column 1 circle"/>
          <p:cNvSpPr/>
          <p:nvPr/>
        </p:nvSpPr>
        <p:spPr>
          <a:xfrm>
            <a:off x="731520" y="1554480"/>
            <a:ext cx="548640" cy="548640"/>
          </a:xfrm>
          <a:prstGeom prst="ellipse">
            <a:avLst/>
          </a:prstGeom>
          <a:solidFill>
            <a:srgbClr val="0078D8"/>
          </a:solidFill>
          <a:ln w="12700">
            <a:solidFill>
              <a:srgbClr val="0078D8"/>
            </a:solidFill>
            <a:prstDash val="solid"/>
          </a:ln>
        </p:spPr>
      </p:sp>
      <p:pic>
        <p:nvPicPr>
          <p:cNvPr id="5" name="Column 1 icon" descr="preencoded.png">    </p:cNvPr>
          <p:cNvPicPr>
            <a:picLocks noChangeAspect="1"/>
          </p:cNvPicPr>
          <p:nvPr/>
        </p:nvPicPr>
        <p:blipFill>
          <a:blip r:embed="rId1"/>
          <a:stretch>
            <a:fillRect/>
          </a:stretch>
        </p:blipFill>
        <p:spPr>
          <a:xfrm>
            <a:off x="863194" y="1686154"/>
            <a:ext cx="285293" cy="285293"/>
          </a:xfrm>
          <a:prstGeom prst="rect">
            <a:avLst/>
          </a:prstGeom>
        </p:spPr>
      </p:pic>
      <p:sp>
        <p:nvSpPr>
          <p:cNvPr id="6" name="Text 3"/>
          <p:cNvSpPr txBox="1"/>
          <p:nvPr/>
        </p:nvSpPr>
        <p:spPr>
          <a:xfrm>
            <a:off x="1417320" y="1554480"/>
            <a:ext cx="2834640" cy="548640"/>
          </a:xfrm>
          <a:prstGeom prst="rect">
            <a:avLst/>
          </a:prstGeom>
          <a:noFill/>
          <a:ln/>
        </p:spPr>
        <p:txBody>
          <a:bodyPr wrap="square" lIns="0" tIns="0" rIns="0" bIns="0" rtlCol="0" anchor="ctr"/>
          <a:lstStyle/>
          <a:p>
            <a:pPr indent="0" marL="0">
              <a:buNone/>
            </a:pPr>
            <a:r>
              <a:rPr lang="en-US" sz="1800" b="1" dirty="0">
                <a:solidFill>
                  <a:srgbClr val="001878"/>
                </a:solidFill>
                <a:latin typeface="Arial" pitchFamily="34" charset="0"/>
                <a:ea typeface="Arial" pitchFamily="34" charset="-122"/>
                <a:cs typeface="Arial" pitchFamily="34" charset="-120"/>
              </a:rPr>
              <a:t>Current limitations</a:t>
            </a:r>
            <a:endParaRPr lang="en-US" sz="1800" dirty="0"/>
          </a:p>
        </p:txBody>
      </p:sp>
      <p:sp>
        <p:nvSpPr>
          <p:cNvPr id="7" name="Text 4"/>
          <p:cNvSpPr txBox="1"/>
          <p:nvPr/>
        </p:nvSpPr>
        <p:spPr>
          <a:xfrm>
            <a:off x="731520" y="2331720"/>
            <a:ext cx="3474720" cy="2011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The local model is small, so some replies could be sharper</a:t>
            </a:r>
            <a:endParaRPr lang="en-US" sz="1500" dirty="0"/>
          </a:p>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All results so far come from synthetic users</a:t>
            </a:r>
            <a:endParaRPr lang="en-US" sz="1500" dirty="0"/>
          </a:p>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Real studies need ethics approval first</a:t>
            </a:r>
            <a:endParaRPr lang="en-US" sz="1500" dirty="0"/>
          </a:p>
        </p:txBody>
      </p:sp>
      <p:sp>
        <p:nvSpPr>
          <p:cNvPr id="8" name="Column 2"/>
          <p:cNvSpPr/>
          <p:nvPr/>
        </p:nvSpPr>
        <p:spPr>
          <a:xfrm>
            <a:off x="4663440" y="1325880"/>
            <a:ext cx="4023360" cy="3200400"/>
          </a:xfrm>
          <a:prstGeom prst="roundRect">
            <a:avLst>
              <a:gd name="adj" fmla="val 3429"/>
            </a:avLst>
          </a:prstGeom>
          <a:solidFill>
            <a:srgbClr val="EEF4FC"/>
          </a:solidFill>
          <a:ln w="12700">
            <a:solidFill>
              <a:srgbClr val="EEF4FC"/>
            </a:solidFill>
            <a:prstDash val="solid"/>
          </a:ln>
        </p:spPr>
      </p:sp>
      <p:sp>
        <p:nvSpPr>
          <p:cNvPr id="9" name="Column 2 circle"/>
          <p:cNvSpPr/>
          <p:nvPr/>
        </p:nvSpPr>
        <p:spPr>
          <a:xfrm>
            <a:off x="4937760" y="1554480"/>
            <a:ext cx="548640" cy="548640"/>
          </a:xfrm>
          <a:prstGeom prst="ellipse">
            <a:avLst/>
          </a:prstGeom>
          <a:solidFill>
            <a:srgbClr val="0040B8"/>
          </a:solidFill>
          <a:ln w="12700">
            <a:solidFill>
              <a:srgbClr val="0040B8"/>
            </a:solidFill>
            <a:prstDash val="solid"/>
          </a:ln>
        </p:spPr>
      </p:sp>
      <p:pic>
        <p:nvPicPr>
          <p:cNvPr id="10" name="Column 2 icon" descr="preencoded.png">    </p:cNvPr>
          <p:cNvPicPr>
            <a:picLocks noChangeAspect="1"/>
          </p:cNvPicPr>
          <p:nvPr/>
        </p:nvPicPr>
        <p:blipFill>
          <a:blip r:embed="rId2"/>
          <a:stretch>
            <a:fillRect/>
          </a:stretch>
        </p:blipFill>
        <p:spPr>
          <a:xfrm>
            <a:off x="5069434" y="1686154"/>
            <a:ext cx="285293" cy="285293"/>
          </a:xfrm>
          <a:prstGeom prst="rect">
            <a:avLst/>
          </a:prstGeom>
        </p:spPr>
      </p:pic>
      <p:sp>
        <p:nvSpPr>
          <p:cNvPr id="11" name="Text 7"/>
          <p:cNvSpPr txBox="1"/>
          <p:nvPr/>
        </p:nvSpPr>
        <p:spPr>
          <a:xfrm>
            <a:off x="5623560" y="1554480"/>
            <a:ext cx="2834640" cy="548640"/>
          </a:xfrm>
          <a:prstGeom prst="rect">
            <a:avLst/>
          </a:prstGeom>
          <a:noFill/>
          <a:ln/>
        </p:spPr>
        <p:txBody>
          <a:bodyPr wrap="square" lIns="0" tIns="0" rIns="0" bIns="0" rtlCol="0" anchor="ctr"/>
          <a:lstStyle/>
          <a:p>
            <a:pPr indent="0" marL="0">
              <a:buNone/>
            </a:pPr>
            <a:r>
              <a:rPr lang="en-US" sz="1800" b="1" dirty="0">
                <a:solidFill>
                  <a:srgbClr val="001878"/>
                </a:solidFill>
                <a:latin typeface="Arial" pitchFamily="34" charset="0"/>
                <a:ea typeface="Arial" pitchFamily="34" charset="-122"/>
                <a:cs typeface="Arial" pitchFamily="34" charset="-120"/>
              </a:rPr>
              <a:t>Next steps</a:t>
            </a:r>
            <a:endParaRPr lang="en-US" sz="1800" dirty="0"/>
          </a:p>
        </p:txBody>
      </p:sp>
      <p:sp>
        <p:nvSpPr>
          <p:cNvPr id="12" name="Text 8"/>
          <p:cNvSpPr txBox="1"/>
          <p:nvPr/>
        </p:nvSpPr>
        <p:spPr>
          <a:xfrm>
            <a:off x="4937760" y="2331720"/>
            <a:ext cx="3474720" cy="2011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Try a larger local model for better answers</a:t>
            </a:r>
            <a:endParaRPr lang="en-US" sz="1500" dirty="0"/>
          </a:p>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Add a welcome screen with starter questions</a:t>
            </a:r>
            <a:endParaRPr lang="en-US" sz="1500" dirty="0"/>
          </a:p>
          <a:p>
            <a:pPr marL="342900" indent="-342900">
              <a:spcAft>
                <a:spcPts val="1000"/>
              </a:spcAft>
              <a:buSzPct val="100000"/>
              <a:buChar char="•"/>
            </a:pPr>
            <a:r>
              <a:rPr lang="en-US" sz="1500" dirty="0">
                <a:solidFill>
                  <a:srgbClr val="1B2333"/>
                </a:solidFill>
                <a:latin typeface="Calibri" pitchFamily="34" charset="0"/>
                <a:ea typeface="Calibri" pitchFamily="34" charset="-122"/>
                <a:cs typeface="Calibri" pitchFamily="34" charset="-120"/>
              </a:rPr>
              <a:t>Guided flows for prospective PhD students and collaborators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85800"/>
            <a:ext cx="2377440" cy="589025"/>
          </a:xfrm>
          <a:prstGeom prst="rect">
            <a:avLst/>
          </a:prstGeom>
        </p:spPr>
      </p:pic>
      <p:sp>
        <p:nvSpPr>
          <p:cNvPr id="3" name="Text 0"/>
          <p:cNvSpPr/>
          <p:nvPr>
            <p:ph idx="100" type="title" hasCustomPrompt="1"/>
          </p:nvPr>
        </p:nvSpPr>
        <p:spPr>
          <a:xfrm>
            <a:off x="548640" y="1828800"/>
            <a:ext cx="8046720" cy="100584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4" name="Text 0"/>
          <p:cNvSpPr/>
          <p:nvPr>
            <p:ph idx="101" type="body" hasCustomPrompt="1"/>
          </p:nvPr>
        </p:nvSpPr>
        <p:spPr>
          <a:xfrm>
            <a:off x="548640" y="2880360"/>
            <a:ext cx="8046720" cy="822960"/>
          </a:xfrm>
          <a:prstGeom prst="rect">
            <a:avLst/>
          </a:prstGeom>
          <a:noFill/>
          <a:ln/>
        </p:spPr>
        <p:txBody>
          <a:bodyPr wrap="square" lIns="0" tIns="0" rIns="0" bIns="0" rtlCol="0" anchor="t"/>
          <a:lstStyle/>
          <a:p>
            <a:pPr algn="l" indent="0" marL="0">
              <a:buNone/>
            </a:pPr>
            <a:r>
              <a:rPr lang="en-US" sz="1800" dirty="0">
                <a:solidFill>
                  <a:srgbClr val="BFD4F2"/>
                </a:solidFill>
              </a:rPr>
              <a:t>A lab assistant that answers from real lab data, learns each person's preferences and measures whether those preferences really matter more than facts</a:t>
            </a:r>
            <a:endParaRPr lang="en-US" sz="1800" dirty="0"/>
          </a:p>
        </p:txBody>
      </p:sp>
    </p:spTree>
  </p:cSld>
  <p:clrMapOvr>
    <a:masterClrMapping/>
  </p:clrMapOvr>
</p:sld>
</file>

<file path=ppt/theme/theme1.xml><?xml version="1.0" encoding="utf-8"?>
<a:theme xmlns:a="http://schemas.openxmlformats.org/drawingml/2006/main" name="AIDEX">
  <a:themeElements>
    <a:clrScheme name="AIDEX">
      <a:dk1>
        <a:srgbClr val="1B2333"/>
      </a:dk1>
      <a:lt1>
        <a:srgbClr val="FFFFFF"/>
      </a:lt1>
      <a:dk2>
        <a:srgbClr val="001878"/>
      </a:dk2>
      <a:lt2>
        <a:srgbClr val="EEF4FC"/>
      </a:lt2>
      <a:accent1>
        <a:srgbClr val="0040B8"/>
      </a:accent1>
      <a:accent2>
        <a:srgbClr val="0078D8"/>
      </a:accent2>
      <a:accent3>
        <a:srgbClr val="00D4F0"/>
      </a:accent3>
      <a:accent4>
        <a:srgbClr val="001878"/>
      </a:accent4>
      <a:accent5>
        <a:srgbClr val="4A5A7A"/>
      </a:accent5>
      <a:accent6>
        <a:srgbClr val="8FA3C0"/>
      </a:accent6>
      <a:hlink>
        <a:srgbClr val="0078D8"/>
      </a:hlink>
      <a:folHlink>
        <a:srgbClr val="0040B8"/>
      </a:folHlink>
    </a:clrScheme>
    <a:fontScheme name="AIDE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AIDEX Assistant</dc:title>
  <dc:subject>PptxGenJS Presentation</dc:subject>
  <dc:creator>PptxGenJS</dc:creator>
  <cp:lastModifiedBy>PptxGenJS</cp:lastModifiedBy>
  <cp:revision>1</cp:revision>
  <dcterms:created xsi:type="dcterms:W3CDTF">2026-10-09T08:00:14Z</dcterms:created>
  <dcterms:modified xsi:type="dcterms:W3CDTF">2026-10-09T08:00:14Z</dcterms:modified>
</cp:coreProperties>
</file>